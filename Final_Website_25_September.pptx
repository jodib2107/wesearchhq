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0" r:id="rId5"/>
  </p:sldMasterIdLst>
  <p:notesMasterIdLst>
    <p:notesMasterId r:id="rId14"/>
  </p:notesMasterIdLst>
  <p:sldIdLst>
    <p:sldId id="299" r:id="rId6"/>
    <p:sldId id="303" r:id="rId7"/>
    <p:sldId id="291" r:id="rId8"/>
    <p:sldId id="292" r:id="rId9"/>
    <p:sldId id="261" r:id="rId10"/>
    <p:sldId id="298" r:id="rId11"/>
    <p:sldId id="302" r:id="rId12"/>
    <p:sldId id="300"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C55"/>
    <a:srgbClr val="E1CBA8"/>
    <a:srgbClr val="FDF8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93" autoAdjust="0"/>
    <p:restoredTop sz="93613" autoAdjust="0"/>
  </p:normalViewPr>
  <p:slideViewPr>
    <p:cSldViewPr snapToGrid="0" snapToObjects="1">
      <p:cViewPr varScale="1">
        <p:scale>
          <a:sx n="56" d="100"/>
          <a:sy n="56" d="100"/>
        </p:scale>
        <p:origin x="864" y="4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7531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ZA" dirty="0"/>
          </a:p>
        </p:txBody>
      </p:sp>
    </p:spTree>
    <p:extLst>
      <p:ext uri="{BB962C8B-B14F-4D97-AF65-F5344CB8AC3E}">
        <p14:creationId xmlns:p14="http://schemas.microsoft.com/office/powerpoint/2010/main" val="26075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0A4F9-85BC-6D05-51B7-E3CC25A950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C5A8D-1E0A-00E0-1D3F-8555DF3945A1}"/>
              </a:ext>
            </a:extLst>
          </p:cNvPr>
          <p:cNvSpPr>
            <a:spLocks noGrp="1" noRot="1" noChangeAspect="1"/>
          </p:cNvSpPr>
          <p:nvPr>
            <p:ph type="sldImg"/>
          </p:nvPr>
        </p:nvSpPr>
        <p:spPr/>
        <p:txBody>
          <a:bodyPr/>
          <a:lstStyle/>
          <a:p>
            <a:endParaRPr lang="en-ZA" dirty="0"/>
          </a:p>
        </p:txBody>
      </p:sp>
      <p:sp>
        <p:nvSpPr>
          <p:cNvPr id="3" name="Notes Placeholder 2">
            <a:extLst>
              <a:ext uri="{FF2B5EF4-FFF2-40B4-BE49-F238E27FC236}">
                <a16:creationId xmlns:a16="http://schemas.microsoft.com/office/drawing/2014/main" id="{2340BA44-7467-6958-CC06-C34334A109C8}"/>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E2ECCAFB-AD8F-838B-69B2-A04ECA63C81D}"/>
              </a:ext>
            </a:extLst>
          </p:cNvPr>
          <p:cNvSpPr>
            <a:spLocks noGrp="1"/>
          </p:cNvSpPr>
          <p:nvPr>
            <p:ph type="sldNum" sz="quarter" idx="5"/>
          </p:nvPr>
        </p:nvSpPr>
        <p:spPr/>
        <p:txBody>
          <a:bodyPr/>
          <a:lstStyle/>
          <a:p>
            <a:fld id="{88AE00EC-3C3B-4C12-AF55-B628A649E352}" type="slidenum">
              <a:rPr lang="en-ZA" smtClean="0"/>
              <a:t>4</a:t>
            </a:fld>
            <a:endParaRPr lang="en-ZA" dirty="0"/>
          </a:p>
        </p:txBody>
      </p:sp>
    </p:spTree>
    <p:extLst>
      <p:ext uri="{BB962C8B-B14F-4D97-AF65-F5344CB8AC3E}">
        <p14:creationId xmlns:p14="http://schemas.microsoft.com/office/powerpoint/2010/main" val="1167153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ZA" dirty="0"/>
          </a:p>
        </p:txBody>
      </p:sp>
    </p:spTree>
    <p:extLst>
      <p:ext uri="{BB962C8B-B14F-4D97-AF65-F5344CB8AC3E}">
        <p14:creationId xmlns:p14="http://schemas.microsoft.com/office/powerpoint/2010/main" val="2998138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598583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760560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74852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599046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865104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310009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0306034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466276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030194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955399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20326939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9/25/2026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411009744"/>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sv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11.sv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8.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8.xml"/><Relationship Id="rId4" Type="http://schemas.openxmlformats.org/officeDocument/2006/relationships/image" Target="../media/image25.svg"/></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E4DE88C-3678-F4CC-88A5-50DD91B08EE9}"/>
              </a:ext>
            </a:extLst>
          </p:cNvPr>
          <p:cNvGrpSpPr/>
          <p:nvPr/>
        </p:nvGrpSpPr>
        <p:grpSpPr>
          <a:xfrm>
            <a:off x="20" y="-39349"/>
            <a:ext cx="12191980" cy="7234763"/>
            <a:chOff x="20" y="-39349"/>
            <a:chExt cx="12191980" cy="7234763"/>
          </a:xfrm>
        </p:grpSpPr>
        <p:pic>
          <p:nvPicPr>
            <p:cNvPr id="3" name="Picture 2">
              <a:extLst>
                <a:ext uri="{FF2B5EF4-FFF2-40B4-BE49-F238E27FC236}">
                  <a16:creationId xmlns:a16="http://schemas.microsoft.com/office/drawing/2014/main" id="{2EB3531D-9CB4-2E57-6826-892B100F50CD}"/>
                </a:ext>
              </a:extLst>
            </p:cNvPr>
            <p:cNvPicPr>
              <a:picLocks noChangeAspect="1"/>
            </p:cNvPicPr>
            <p:nvPr/>
          </p:nvPicPr>
          <p:blipFill>
            <a:blip r:embed="rId2"/>
            <a:srcRect t="527" b="15219"/>
            <a:stretch>
              <a:fillRect/>
            </a:stretch>
          </p:blipFill>
          <p:spPr>
            <a:xfrm>
              <a:off x="20" y="-39349"/>
              <a:ext cx="12191980" cy="7234763"/>
            </a:xfrm>
            <a:prstGeom prst="rect">
              <a:avLst/>
            </a:prstGeom>
          </p:spPr>
        </p:pic>
        <p:sp>
          <p:nvSpPr>
            <p:cNvPr id="12" name="Shape 12">
              <a:extLst>
                <a:ext uri="{FF2B5EF4-FFF2-40B4-BE49-F238E27FC236}">
                  <a16:creationId xmlns:a16="http://schemas.microsoft.com/office/drawing/2014/main" id="{42E1963D-CEE2-1674-0F9B-23FD5B7C3B22}"/>
                </a:ext>
              </a:extLst>
            </p:cNvPr>
            <p:cNvSpPr/>
            <p:nvPr/>
          </p:nvSpPr>
          <p:spPr>
            <a:xfrm>
              <a:off x="563863" y="977388"/>
              <a:ext cx="438912" cy="0"/>
            </a:xfrm>
            <a:prstGeom prst="line">
              <a:avLst/>
            </a:prstGeom>
            <a:noFill/>
            <a:ln w="25400">
              <a:solidFill>
                <a:srgbClr val="E1CBA8"/>
              </a:solidFill>
              <a:prstDash val="solid"/>
            </a:ln>
          </p:spPr>
          <p:txBody>
            <a:bodyPr/>
            <a:lstStyle/>
            <a:p>
              <a:endParaRPr lang="en-ZA" dirty="0"/>
            </a:p>
          </p:txBody>
        </p:sp>
        <p:sp>
          <p:nvSpPr>
            <p:cNvPr id="13" name="Text 13">
              <a:extLst>
                <a:ext uri="{FF2B5EF4-FFF2-40B4-BE49-F238E27FC236}">
                  <a16:creationId xmlns:a16="http://schemas.microsoft.com/office/drawing/2014/main" id="{A5B3E095-B6DD-6C1D-79E9-5A4BC810AC9F}"/>
                </a:ext>
              </a:extLst>
            </p:cNvPr>
            <p:cNvSpPr/>
            <p:nvPr/>
          </p:nvSpPr>
          <p:spPr>
            <a:xfrm>
              <a:off x="411458" y="1253791"/>
              <a:ext cx="6564944" cy="292378"/>
            </a:xfrm>
            <a:prstGeom prst="rect">
              <a:avLst/>
            </a:prstGeom>
            <a:noFill/>
            <a:ln/>
          </p:spPr>
          <p:txBody>
            <a:bodyPr wrap="square" lIns="0" tIns="0" rIns="0" bIns="0" rtlCol="0" anchor="ctr"/>
            <a:lstStyle/>
            <a:p>
              <a:pPr marL="0" indent="0">
                <a:buNone/>
              </a:pPr>
              <a:r>
                <a:rPr lang="en-US" sz="1600" b="1" kern="0" spc="300" dirty="0">
                  <a:solidFill>
                    <a:srgbClr val="1E2C55"/>
                  </a:solidFill>
                  <a:latin typeface="Montserrat SemiBold" pitchFamily="2" charset="0"/>
                </a:rPr>
                <a:t>INDEPENDENT, BESPOKE PRODUCT RESEARCH</a:t>
              </a:r>
              <a:endParaRPr lang="en-US" sz="1600" dirty="0">
                <a:solidFill>
                  <a:srgbClr val="1E2C55"/>
                </a:solidFill>
                <a:latin typeface="Montserrat SemiBold" pitchFamily="2" charset="0"/>
              </a:endParaRPr>
            </a:p>
          </p:txBody>
        </p:sp>
        <p:sp>
          <p:nvSpPr>
            <p:cNvPr id="16" name="TextBox 15">
              <a:extLst>
                <a:ext uri="{FF2B5EF4-FFF2-40B4-BE49-F238E27FC236}">
                  <a16:creationId xmlns:a16="http://schemas.microsoft.com/office/drawing/2014/main" id="{11E9B680-A3A7-7126-B42D-E6C8F997349A}"/>
                </a:ext>
              </a:extLst>
            </p:cNvPr>
            <p:cNvSpPr txBox="1"/>
            <p:nvPr/>
          </p:nvSpPr>
          <p:spPr>
            <a:xfrm>
              <a:off x="423456" y="2821707"/>
              <a:ext cx="6552946" cy="1015663"/>
            </a:xfrm>
            <a:prstGeom prst="rect">
              <a:avLst/>
            </a:prstGeom>
            <a:noFill/>
          </p:spPr>
          <p:txBody>
            <a:bodyPr wrap="square">
              <a:spAutoFit/>
            </a:bodyPr>
            <a:lstStyle/>
            <a:p>
              <a:pPr algn="just"/>
              <a:r>
                <a:rPr lang="en-ZA" sz="2000" b="1" i="0" dirty="0">
                  <a:solidFill>
                    <a:srgbClr val="1E2C55"/>
                  </a:solidFill>
                  <a:effectLst/>
                  <a:latin typeface="Montserrat SemiBold" pitchFamily="2" charset="0"/>
                </a:rPr>
                <a:t>Independent, bespoke product research to help you make informed buying decisions with clarity and confidence.</a:t>
              </a:r>
              <a:endParaRPr lang="en-ZA" sz="2000" b="1" dirty="0">
                <a:solidFill>
                  <a:srgbClr val="1E2C55"/>
                </a:solidFill>
                <a:latin typeface="Montserrat SemiBold" pitchFamily="2" charset="0"/>
              </a:endParaRPr>
            </a:p>
          </p:txBody>
        </p:sp>
        <p:sp>
          <p:nvSpPr>
            <p:cNvPr id="21" name="Rounded Rectangle 1">
              <a:extLst>
                <a:ext uri="{FF2B5EF4-FFF2-40B4-BE49-F238E27FC236}">
                  <a16:creationId xmlns:a16="http://schemas.microsoft.com/office/drawing/2014/main" id="{229FE6FD-AF74-0DD5-07CE-FB042D5DB3A3}"/>
                </a:ext>
              </a:extLst>
            </p:cNvPr>
            <p:cNvSpPr/>
            <p:nvPr/>
          </p:nvSpPr>
          <p:spPr>
            <a:xfrm>
              <a:off x="423456" y="5417249"/>
              <a:ext cx="11544977" cy="1143000"/>
            </a:xfrm>
            <a:prstGeom prst="roundRect">
              <a:avLst/>
            </a:prstGeom>
            <a:solidFill>
              <a:srgbClr val="FDF8F2"/>
            </a:solidFill>
            <a:ln w="28575">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7" name="Oval 26">
              <a:extLst>
                <a:ext uri="{FF2B5EF4-FFF2-40B4-BE49-F238E27FC236}">
                  <a16:creationId xmlns:a16="http://schemas.microsoft.com/office/drawing/2014/main" id="{8373AC24-B5E1-EF87-FBED-7DFB711C6675}"/>
                </a:ext>
              </a:extLst>
            </p:cNvPr>
            <p:cNvSpPr/>
            <p:nvPr/>
          </p:nvSpPr>
          <p:spPr>
            <a:xfrm>
              <a:off x="588260" y="5499107"/>
              <a:ext cx="711261" cy="749808"/>
            </a:xfrm>
            <a:prstGeom prst="ellipse">
              <a:avLst/>
            </a:prstGeom>
            <a:solidFill>
              <a:srgbClr val="FD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nvGrpSpPr>
            <p:cNvPr id="144" name="Group 143">
              <a:extLst>
                <a:ext uri="{FF2B5EF4-FFF2-40B4-BE49-F238E27FC236}">
                  <a16:creationId xmlns:a16="http://schemas.microsoft.com/office/drawing/2014/main" id="{FAAAC1A3-13D7-CE1B-A772-CF41BBBED779}"/>
                </a:ext>
              </a:extLst>
            </p:cNvPr>
            <p:cNvGrpSpPr/>
            <p:nvPr/>
          </p:nvGrpSpPr>
          <p:grpSpPr>
            <a:xfrm>
              <a:off x="6420570" y="5613845"/>
              <a:ext cx="2439103" cy="749808"/>
              <a:chOff x="6365086" y="5613845"/>
              <a:chExt cx="2439103" cy="749808"/>
            </a:xfrm>
          </p:grpSpPr>
          <p:sp>
            <p:nvSpPr>
              <p:cNvPr id="24" name="Rectangle 23">
                <a:extLst>
                  <a:ext uri="{FF2B5EF4-FFF2-40B4-BE49-F238E27FC236}">
                    <a16:creationId xmlns:a16="http://schemas.microsoft.com/office/drawing/2014/main" id="{B9770966-F77B-DF16-35CF-69950E882A2E}"/>
                  </a:ext>
                </a:extLst>
              </p:cNvPr>
              <p:cNvSpPr/>
              <p:nvPr/>
            </p:nvSpPr>
            <p:spPr>
              <a:xfrm>
                <a:off x="8793781" y="5641277"/>
                <a:ext cx="10408" cy="694944"/>
              </a:xfrm>
              <a:prstGeom prst="rect">
                <a:avLst/>
              </a:prstGeom>
              <a:solidFill>
                <a:srgbClr val="FDF8F2"/>
              </a:solidFill>
              <a:ln>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n>
                    <a:solidFill>
                      <a:sysClr val="windowText" lastClr="000000"/>
                    </a:solidFill>
                  </a:ln>
                  <a:solidFill>
                    <a:srgbClr val="E1CBA8"/>
                  </a:solidFill>
                </a:endParaRPr>
              </a:p>
            </p:txBody>
          </p:sp>
          <p:grpSp>
            <p:nvGrpSpPr>
              <p:cNvPr id="136" name="Group 135">
                <a:extLst>
                  <a:ext uri="{FF2B5EF4-FFF2-40B4-BE49-F238E27FC236}">
                    <a16:creationId xmlns:a16="http://schemas.microsoft.com/office/drawing/2014/main" id="{9DC160C4-8CC6-49C6-F082-7DA18BFD99FA}"/>
                  </a:ext>
                </a:extLst>
              </p:cNvPr>
              <p:cNvGrpSpPr/>
              <p:nvPr/>
            </p:nvGrpSpPr>
            <p:grpSpPr>
              <a:xfrm>
                <a:off x="6365086" y="5613845"/>
                <a:ext cx="2230120" cy="749808"/>
                <a:chOff x="6365086" y="5474365"/>
                <a:chExt cx="2230120" cy="749808"/>
              </a:xfrm>
            </p:grpSpPr>
            <p:sp>
              <p:nvSpPr>
                <p:cNvPr id="33" name="TextBox 32">
                  <a:extLst>
                    <a:ext uri="{FF2B5EF4-FFF2-40B4-BE49-F238E27FC236}">
                      <a16:creationId xmlns:a16="http://schemas.microsoft.com/office/drawing/2014/main" id="{F49E2D4A-1FA2-03D5-5927-C2DEC4049488}"/>
                    </a:ext>
                  </a:extLst>
                </p:cNvPr>
                <p:cNvSpPr txBox="1"/>
                <p:nvPr/>
              </p:nvSpPr>
              <p:spPr>
                <a:xfrm>
                  <a:off x="7319216" y="5510715"/>
                  <a:ext cx="1275990" cy="677108"/>
                </a:xfrm>
                <a:prstGeom prst="rect">
                  <a:avLst/>
                </a:prstGeom>
                <a:solidFill>
                  <a:srgbClr val="FDF8F2"/>
                </a:solidFill>
              </p:spPr>
              <p:txBody>
                <a:bodyPr wrap="none" lIns="0" tIns="0" rIns="0" bIns="0">
                  <a:spAutoFit/>
                </a:bodyPr>
                <a:lstStyle/>
                <a:p>
                  <a:pPr algn="ctr">
                    <a:spcBef>
                      <a:spcPts val="600"/>
                    </a:spcBef>
                    <a:defRPr sz="1500" b="1">
                      <a:solidFill>
                        <a:srgbClr val="1E2C55"/>
                      </a:solidFill>
                      <a:latin typeface="Arial"/>
                    </a:defRPr>
                  </a:pPr>
                  <a:r>
                    <a:rPr sz="1600" b="1" dirty="0">
                      <a:solidFill>
                        <a:srgbClr val="1E2C55"/>
                      </a:solidFill>
                      <a:latin typeface="Montserrat SemiBold" pitchFamily="2" charset="0"/>
                    </a:rPr>
                    <a:t>Save Time</a:t>
                  </a:r>
                  <a:endParaRPr lang="en-US" sz="1600" b="1" dirty="0">
                    <a:solidFill>
                      <a:srgbClr val="1E2C55"/>
                    </a:solidFill>
                    <a:latin typeface="Montserrat SemiBold" pitchFamily="2" charset="0"/>
                  </a:endParaRPr>
                </a:p>
                <a:p>
                  <a:pPr algn="ctr">
                    <a:spcBef>
                      <a:spcPts val="600"/>
                    </a:spcBef>
                    <a:defRPr sz="1150">
                      <a:solidFill>
                        <a:srgbClr val="1E2C55"/>
                      </a:solidFill>
                      <a:latin typeface="Arial"/>
                    </a:defRPr>
                  </a:pPr>
                  <a:r>
                    <a:rPr lang="en-US" sz="1150" dirty="0">
                      <a:solidFill>
                        <a:srgbClr val="1E2C55"/>
                      </a:solidFill>
                      <a:latin typeface="Aptos" panose="020B0004020202020204" pitchFamily="34" charset="0"/>
                    </a:rPr>
                    <a:t>We do the legwork,</a:t>
                  </a:r>
                  <a:br>
                    <a:rPr lang="en-US" sz="1150" dirty="0">
                      <a:solidFill>
                        <a:srgbClr val="1E2C55"/>
                      </a:solidFill>
                      <a:latin typeface="Aptos" panose="020B0004020202020204" pitchFamily="34" charset="0"/>
                    </a:rPr>
                  </a:br>
                  <a:r>
                    <a:rPr lang="en-US" sz="1150" dirty="0">
                      <a:solidFill>
                        <a:srgbClr val="1E2C55"/>
                      </a:solidFill>
                      <a:latin typeface="Aptos" panose="020B0004020202020204" pitchFamily="34" charset="0"/>
                    </a:rPr>
                    <a:t>so you don’t have to</a:t>
                  </a:r>
                </a:p>
              </p:txBody>
            </p:sp>
            <p:sp>
              <p:nvSpPr>
                <p:cNvPr id="35" name="Oval 34">
                  <a:extLst>
                    <a:ext uri="{FF2B5EF4-FFF2-40B4-BE49-F238E27FC236}">
                      <a16:creationId xmlns:a16="http://schemas.microsoft.com/office/drawing/2014/main" id="{F7626C5D-DB40-FE96-1721-D9120D33511A}"/>
                    </a:ext>
                  </a:extLst>
                </p:cNvPr>
                <p:cNvSpPr/>
                <p:nvPr/>
              </p:nvSpPr>
              <p:spPr>
                <a:xfrm>
                  <a:off x="6365086" y="5474365"/>
                  <a:ext cx="711261" cy="749808"/>
                </a:xfrm>
                <a:prstGeom prst="ellipse">
                  <a:avLst/>
                </a:prstGeom>
                <a:solidFill>
                  <a:srgbClr val="1E2C55"/>
                </a:solidFill>
                <a:ln>
                  <a:solidFill>
                    <a:srgbClr val="1E2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36" name="Graphic 35" descr="Watch with solid fill">
                  <a:extLst>
                    <a:ext uri="{FF2B5EF4-FFF2-40B4-BE49-F238E27FC236}">
                      <a16:creationId xmlns:a16="http://schemas.microsoft.com/office/drawing/2014/main" id="{D22D3AA0-4473-C9E0-52A2-499B3FDF0CE8}"/>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63867" y="5592420"/>
                  <a:ext cx="513699" cy="513699"/>
                </a:xfrm>
                <a:prstGeom prst="rect">
                  <a:avLst/>
                </a:prstGeom>
              </p:spPr>
            </p:pic>
          </p:grpSp>
        </p:grpSp>
        <p:grpSp>
          <p:nvGrpSpPr>
            <p:cNvPr id="137" name="Group 136">
              <a:extLst>
                <a:ext uri="{FF2B5EF4-FFF2-40B4-BE49-F238E27FC236}">
                  <a16:creationId xmlns:a16="http://schemas.microsoft.com/office/drawing/2014/main" id="{8BF8F987-3E1D-7778-B430-04A6895DB1DA}"/>
                </a:ext>
              </a:extLst>
            </p:cNvPr>
            <p:cNvGrpSpPr/>
            <p:nvPr/>
          </p:nvGrpSpPr>
          <p:grpSpPr>
            <a:xfrm>
              <a:off x="9253499" y="5613845"/>
              <a:ext cx="2553927" cy="749808"/>
              <a:chOff x="9253499" y="5474365"/>
              <a:chExt cx="2553927" cy="749808"/>
            </a:xfrm>
          </p:grpSpPr>
          <p:sp>
            <p:nvSpPr>
              <p:cNvPr id="37" name="TextBox 36">
                <a:extLst>
                  <a:ext uri="{FF2B5EF4-FFF2-40B4-BE49-F238E27FC236}">
                    <a16:creationId xmlns:a16="http://schemas.microsoft.com/office/drawing/2014/main" id="{E2CDEB80-F177-4B6E-D163-B814D7FC81D9}"/>
                  </a:ext>
                </a:extLst>
              </p:cNvPr>
              <p:cNvSpPr txBox="1"/>
              <p:nvPr/>
            </p:nvSpPr>
            <p:spPr>
              <a:xfrm>
                <a:off x="10207629" y="5510715"/>
                <a:ext cx="1599797" cy="677108"/>
              </a:xfrm>
              <a:prstGeom prst="rect">
                <a:avLst/>
              </a:prstGeom>
              <a:solidFill>
                <a:srgbClr val="FDF8F2"/>
              </a:solidFill>
            </p:spPr>
            <p:txBody>
              <a:bodyPr wrap="none" lIns="0" tIns="0" rIns="0" bIns="0">
                <a:spAutoFit/>
              </a:bodyPr>
              <a:lstStyle/>
              <a:p>
                <a:pPr algn="ctr">
                  <a:spcBef>
                    <a:spcPts val="600"/>
                  </a:spcBef>
                  <a:defRPr sz="1500" b="1">
                    <a:solidFill>
                      <a:srgbClr val="1E2C55"/>
                    </a:solidFill>
                    <a:latin typeface="Arial"/>
                  </a:defRPr>
                </a:pPr>
                <a:r>
                  <a:rPr sz="1600" b="1" dirty="0">
                    <a:solidFill>
                      <a:srgbClr val="1E2C55"/>
                    </a:solidFill>
                    <a:latin typeface="Montserrat SemiBold" pitchFamily="2" charset="0"/>
                  </a:rPr>
                  <a:t>Buy Better</a:t>
                </a:r>
                <a:endParaRPr lang="en-US" sz="1600" b="1" dirty="0">
                  <a:solidFill>
                    <a:srgbClr val="1E2C55"/>
                  </a:solidFill>
                  <a:latin typeface="Montserrat SemiBold" pitchFamily="2" charset="0"/>
                </a:endParaRPr>
              </a:p>
              <a:p>
                <a:pPr algn="ctr">
                  <a:spcBef>
                    <a:spcPts val="600"/>
                  </a:spcBef>
                  <a:defRPr sz="1150">
                    <a:solidFill>
                      <a:srgbClr val="1E2C55"/>
                    </a:solidFill>
                    <a:latin typeface="Arial"/>
                  </a:defRPr>
                </a:pPr>
                <a:r>
                  <a:rPr lang="en-US" sz="1150" dirty="0">
                    <a:solidFill>
                      <a:srgbClr val="1E2C55"/>
                    </a:solidFill>
                    <a:latin typeface="Aptos" panose="020B0004020202020204" pitchFamily="34" charset="0"/>
                  </a:rPr>
                  <a:t>Make informed decisions</a:t>
                </a:r>
                <a:br>
                  <a:rPr lang="en-US" sz="1150" dirty="0">
                    <a:solidFill>
                      <a:srgbClr val="1E2C55"/>
                    </a:solidFill>
                    <a:latin typeface="Aptos" panose="020B0004020202020204" pitchFamily="34" charset="0"/>
                  </a:rPr>
                </a:br>
                <a:r>
                  <a:rPr lang="en-US" sz="1150" dirty="0">
                    <a:solidFill>
                      <a:srgbClr val="1E2C55"/>
                    </a:solidFill>
                    <a:latin typeface="Aptos" panose="020B0004020202020204" pitchFamily="34" charset="0"/>
                  </a:rPr>
                  <a:t>with clarity &amp; confidence</a:t>
                </a:r>
              </a:p>
            </p:txBody>
          </p:sp>
          <p:sp>
            <p:nvSpPr>
              <p:cNvPr id="39" name="Oval 38">
                <a:extLst>
                  <a:ext uri="{FF2B5EF4-FFF2-40B4-BE49-F238E27FC236}">
                    <a16:creationId xmlns:a16="http://schemas.microsoft.com/office/drawing/2014/main" id="{CCD18B87-7821-D468-3C44-7A5303877FC3}"/>
                  </a:ext>
                </a:extLst>
              </p:cNvPr>
              <p:cNvSpPr/>
              <p:nvPr/>
            </p:nvSpPr>
            <p:spPr>
              <a:xfrm>
                <a:off x="9253499" y="5474365"/>
                <a:ext cx="711261" cy="749808"/>
              </a:xfrm>
              <a:prstGeom prst="ellipse">
                <a:avLst/>
              </a:prstGeom>
              <a:solidFill>
                <a:srgbClr val="1E2C55"/>
              </a:solidFill>
              <a:ln>
                <a:solidFill>
                  <a:srgbClr val="1E2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40" name="Graphic 39" descr="Shopping bag with solid fill">
                <a:extLst>
                  <a:ext uri="{FF2B5EF4-FFF2-40B4-BE49-F238E27FC236}">
                    <a16:creationId xmlns:a16="http://schemas.microsoft.com/office/drawing/2014/main" id="{EC690A36-D993-AE35-C30B-6860E28F9F4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378938" y="5619078"/>
                <a:ext cx="460383" cy="460383"/>
              </a:xfrm>
              <a:prstGeom prst="rect">
                <a:avLst/>
              </a:prstGeom>
            </p:spPr>
          </p:pic>
        </p:grpSp>
        <p:grpSp>
          <p:nvGrpSpPr>
            <p:cNvPr id="142" name="Group 141">
              <a:extLst>
                <a:ext uri="{FF2B5EF4-FFF2-40B4-BE49-F238E27FC236}">
                  <a16:creationId xmlns:a16="http://schemas.microsoft.com/office/drawing/2014/main" id="{CA25E416-2FA0-7B55-8D25-1FA8C9CB117F}"/>
                </a:ext>
              </a:extLst>
            </p:cNvPr>
            <p:cNvGrpSpPr/>
            <p:nvPr/>
          </p:nvGrpSpPr>
          <p:grpSpPr>
            <a:xfrm>
              <a:off x="627196" y="5613845"/>
              <a:ext cx="2512929" cy="749808"/>
              <a:chOff x="627196" y="5613845"/>
              <a:chExt cx="2512929" cy="749808"/>
            </a:xfrm>
          </p:grpSpPr>
          <p:sp>
            <p:nvSpPr>
              <p:cNvPr id="22" name="Rectangle 21">
                <a:extLst>
                  <a:ext uri="{FF2B5EF4-FFF2-40B4-BE49-F238E27FC236}">
                    <a16:creationId xmlns:a16="http://schemas.microsoft.com/office/drawing/2014/main" id="{2AC66C22-C962-A8AB-D30F-1F74921E72D3}"/>
                  </a:ext>
                </a:extLst>
              </p:cNvPr>
              <p:cNvSpPr/>
              <p:nvPr/>
            </p:nvSpPr>
            <p:spPr>
              <a:xfrm>
                <a:off x="3129717" y="5641277"/>
                <a:ext cx="10408" cy="694944"/>
              </a:xfrm>
              <a:prstGeom prst="rect">
                <a:avLst/>
              </a:prstGeom>
              <a:solidFill>
                <a:srgbClr val="FDF8F2"/>
              </a:solidFill>
              <a:ln>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n>
                    <a:solidFill>
                      <a:sysClr val="windowText" lastClr="000000"/>
                    </a:solidFill>
                  </a:ln>
                  <a:solidFill>
                    <a:srgbClr val="E1CBA8"/>
                  </a:solidFill>
                </a:endParaRPr>
              </a:p>
            </p:txBody>
          </p:sp>
          <p:grpSp>
            <p:nvGrpSpPr>
              <p:cNvPr id="134" name="Group 133">
                <a:extLst>
                  <a:ext uri="{FF2B5EF4-FFF2-40B4-BE49-F238E27FC236}">
                    <a16:creationId xmlns:a16="http://schemas.microsoft.com/office/drawing/2014/main" id="{9AD66727-C1F4-A754-1548-DF77371B8497}"/>
                  </a:ext>
                </a:extLst>
              </p:cNvPr>
              <p:cNvGrpSpPr/>
              <p:nvPr/>
            </p:nvGrpSpPr>
            <p:grpSpPr>
              <a:xfrm>
                <a:off x="627196" y="5613845"/>
                <a:ext cx="2298587" cy="749808"/>
                <a:chOff x="627196" y="5474365"/>
                <a:chExt cx="2298587" cy="749808"/>
              </a:xfrm>
            </p:grpSpPr>
            <p:sp>
              <p:nvSpPr>
                <p:cNvPr id="25" name="TextBox 24">
                  <a:extLst>
                    <a:ext uri="{FF2B5EF4-FFF2-40B4-BE49-F238E27FC236}">
                      <a16:creationId xmlns:a16="http://schemas.microsoft.com/office/drawing/2014/main" id="{6035A52A-CE56-3961-D17F-B37C20F55393}"/>
                    </a:ext>
                  </a:extLst>
                </p:cNvPr>
                <p:cNvSpPr txBox="1"/>
                <p:nvPr/>
              </p:nvSpPr>
              <p:spPr>
                <a:xfrm>
                  <a:off x="1542391" y="5510715"/>
                  <a:ext cx="1383392" cy="677108"/>
                </a:xfrm>
                <a:prstGeom prst="rect">
                  <a:avLst/>
                </a:prstGeom>
                <a:solidFill>
                  <a:srgbClr val="FDF8F2"/>
                </a:solidFill>
              </p:spPr>
              <p:txBody>
                <a:bodyPr wrap="none" lIns="0" tIns="0" rIns="0" bIns="0">
                  <a:spAutoFit/>
                </a:bodyPr>
                <a:lstStyle/>
                <a:p>
                  <a:pPr algn="ctr">
                    <a:spcBef>
                      <a:spcPts val="600"/>
                    </a:spcBef>
                    <a:defRPr sz="1500" b="1">
                      <a:solidFill>
                        <a:srgbClr val="1E2C55"/>
                      </a:solidFill>
                      <a:latin typeface="Arial"/>
                    </a:defRPr>
                  </a:pPr>
                  <a:r>
                    <a:rPr sz="1600" dirty="0">
                      <a:latin typeface="Montserrat SemiBold" pitchFamily="2" charset="0"/>
                    </a:rPr>
                    <a:t>Independent</a:t>
                  </a:r>
                  <a:endParaRPr lang="en-US" sz="1600" dirty="0">
                    <a:latin typeface="Montserrat SemiBold" pitchFamily="2" charset="0"/>
                  </a:endParaRPr>
                </a:p>
                <a:p>
                  <a:pPr algn="ctr">
                    <a:spcBef>
                      <a:spcPts val="600"/>
                    </a:spcBef>
                    <a:defRPr sz="1150">
                      <a:solidFill>
                        <a:srgbClr val="1E2C55"/>
                      </a:solidFill>
                      <a:latin typeface="Arial"/>
                    </a:defRPr>
                  </a:pPr>
                  <a:r>
                    <a:rPr lang="en-US" sz="1150" dirty="0">
                      <a:solidFill>
                        <a:srgbClr val="1E2C55"/>
                      </a:solidFill>
                      <a:latin typeface="Aptos" panose="020B0004020202020204" pitchFamily="34" charset="0"/>
                    </a:rPr>
                    <a:t>Unbiased research,</a:t>
                  </a:r>
                  <a:br>
                    <a:rPr lang="en-US" sz="1150" dirty="0">
                      <a:solidFill>
                        <a:srgbClr val="1E2C55"/>
                      </a:solidFill>
                      <a:latin typeface="Aptos" panose="020B0004020202020204" pitchFamily="34" charset="0"/>
                    </a:rPr>
                  </a:br>
                  <a:r>
                    <a:rPr lang="en-US" sz="1150" dirty="0">
                      <a:solidFill>
                        <a:srgbClr val="1E2C55"/>
                      </a:solidFill>
                      <a:latin typeface="Aptos" panose="020B0004020202020204" pitchFamily="34" charset="0"/>
                    </a:rPr>
                    <a:t>no hidden agendas</a:t>
                  </a:r>
                  <a:endParaRPr lang="en-US" sz="1400" dirty="0">
                    <a:latin typeface="Aptos" panose="020B0004020202020204" pitchFamily="34" charset="0"/>
                  </a:endParaRPr>
                </a:p>
              </p:txBody>
            </p:sp>
            <p:grpSp>
              <p:nvGrpSpPr>
                <p:cNvPr id="133" name="Group 132">
                  <a:extLst>
                    <a:ext uri="{FF2B5EF4-FFF2-40B4-BE49-F238E27FC236}">
                      <a16:creationId xmlns:a16="http://schemas.microsoft.com/office/drawing/2014/main" id="{2AFCF119-5A03-3548-BD7B-D0B86487E09E}"/>
                    </a:ext>
                  </a:extLst>
                </p:cNvPr>
                <p:cNvGrpSpPr/>
                <p:nvPr/>
              </p:nvGrpSpPr>
              <p:grpSpPr>
                <a:xfrm>
                  <a:off x="627196" y="5474365"/>
                  <a:ext cx="711261" cy="749808"/>
                  <a:chOff x="627196" y="5474365"/>
                  <a:chExt cx="711261" cy="749808"/>
                </a:xfrm>
              </p:grpSpPr>
              <p:sp>
                <p:nvSpPr>
                  <p:cNvPr id="61" name="Oval 60">
                    <a:extLst>
                      <a:ext uri="{FF2B5EF4-FFF2-40B4-BE49-F238E27FC236}">
                        <a16:creationId xmlns:a16="http://schemas.microsoft.com/office/drawing/2014/main" id="{0743A06E-C70D-51AE-B99B-3A19855261F8}"/>
                      </a:ext>
                    </a:extLst>
                  </p:cNvPr>
                  <p:cNvSpPr/>
                  <p:nvPr/>
                </p:nvSpPr>
                <p:spPr>
                  <a:xfrm>
                    <a:off x="627196" y="5474365"/>
                    <a:ext cx="711261" cy="749808"/>
                  </a:xfrm>
                  <a:prstGeom prst="ellipse">
                    <a:avLst/>
                  </a:prstGeom>
                  <a:solidFill>
                    <a:srgbClr val="1E2C55"/>
                  </a:solidFill>
                  <a:ln>
                    <a:solidFill>
                      <a:srgbClr val="1E2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28" name="Graphic 27" descr="Woman Shrugging with solid fill">
                    <a:extLst>
                      <a:ext uri="{FF2B5EF4-FFF2-40B4-BE49-F238E27FC236}">
                        <a16:creationId xmlns:a16="http://schemas.microsoft.com/office/drawing/2014/main" id="{19AD8AD1-58BF-7636-9FB4-AF172E82C6FB}"/>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19475" y="5585918"/>
                    <a:ext cx="526703" cy="526703"/>
                  </a:xfrm>
                  <a:prstGeom prst="rect">
                    <a:avLst/>
                  </a:prstGeom>
                </p:spPr>
              </p:pic>
            </p:grpSp>
          </p:grpSp>
        </p:grpSp>
        <p:grpSp>
          <p:nvGrpSpPr>
            <p:cNvPr id="143" name="Group 142">
              <a:extLst>
                <a:ext uri="{FF2B5EF4-FFF2-40B4-BE49-F238E27FC236}">
                  <a16:creationId xmlns:a16="http://schemas.microsoft.com/office/drawing/2014/main" id="{95C4B261-74BD-3292-7F42-92824D647BDC}"/>
                </a:ext>
              </a:extLst>
            </p:cNvPr>
            <p:cNvGrpSpPr/>
            <p:nvPr/>
          </p:nvGrpSpPr>
          <p:grpSpPr>
            <a:xfrm>
              <a:off x="3533952" y="5586413"/>
              <a:ext cx="2492791" cy="749808"/>
              <a:chOff x="3475029" y="5586413"/>
              <a:chExt cx="2492791" cy="749808"/>
            </a:xfrm>
          </p:grpSpPr>
          <p:sp>
            <p:nvSpPr>
              <p:cNvPr id="23" name="Rectangle 22">
                <a:extLst>
                  <a:ext uri="{FF2B5EF4-FFF2-40B4-BE49-F238E27FC236}">
                    <a16:creationId xmlns:a16="http://schemas.microsoft.com/office/drawing/2014/main" id="{B75DEB03-C785-1425-4FFD-9D8E5A8CD8BF}"/>
                  </a:ext>
                </a:extLst>
              </p:cNvPr>
              <p:cNvSpPr/>
              <p:nvPr/>
            </p:nvSpPr>
            <p:spPr>
              <a:xfrm>
                <a:off x="5957412" y="5641277"/>
                <a:ext cx="10408" cy="694944"/>
              </a:xfrm>
              <a:prstGeom prst="rect">
                <a:avLst/>
              </a:prstGeom>
              <a:solidFill>
                <a:srgbClr val="FDF8F2"/>
              </a:solidFill>
              <a:ln>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n>
                    <a:solidFill>
                      <a:sysClr val="windowText" lastClr="000000"/>
                    </a:solidFill>
                  </a:ln>
                  <a:solidFill>
                    <a:srgbClr val="E1CBA8"/>
                  </a:solidFill>
                </a:endParaRPr>
              </a:p>
            </p:txBody>
          </p:sp>
          <p:grpSp>
            <p:nvGrpSpPr>
              <p:cNvPr id="135" name="Group 134">
                <a:extLst>
                  <a:ext uri="{FF2B5EF4-FFF2-40B4-BE49-F238E27FC236}">
                    <a16:creationId xmlns:a16="http://schemas.microsoft.com/office/drawing/2014/main" id="{7F0F64DA-3924-D4D1-9408-ACEE763AE9F2}"/>
                  </a:ext>
                </a:extLst>
              </p:cNvPr>
              <p:cNvGrpSpPr/>
              <p:nvPr/>
            </p:nvGrpSpPr>
            <p:grpSpPr>
              <a:xfrm>
                <a:off x="3475029" y="5586413"/>
                <a:ext cx="2098906" cy="749808"/>
                <a:chOff x="3457205" y="5474365"/>
                <a:chExt cx="2098906" cy="749808"/>
              </a:xfrm>
            </p:grpSpPr>
            <p:sp>
              <p:nvSpPr>
                <p:cNvPr id="29" name="TextBox 28">
                  <a:extLst>
                    <a:ext uri="{FF2B5EF4-FFF2-40B4-BE49-F238E27FC236}">
                      <a16:creationId xmlns:a16="http://schemas.microsoft.com/office/drawing/2014/main" id="{300CB7C1-6D2E-08DC-7272-A8C6CD441043}"/>
                    </a:ext>
                  </a:extLst>
                </p:cNvPr>
                <p:cNvSpPr txBox="1"/>
                <p:nvPr/>
              </p:nvSpPr>
              <p:spPr>
                <a:xfrm>
                  <a:off x="4430803" y="5510715"/>
                  <a:ext cx="1125308" cy="677108"/>
                </a:xfrm>
                <a:prstGeom prst="rect">
                  <a:avLst/>
                </a:prstGeom>
                <a:solidFill>
                  <a:srgbClr val="FDF8F2"/>
                </a:solidFill>
              </p:spPr>
              <p:txBody>
                <a:bodyPr wrap="none" lIns="0" tIns="0" rIns="0" bIns="0">
                  <a:spAutoFit/>
                </a:bodyPr>
                <a:lstStyle/>
                <a:p>
                  <a:pPr algn="ctr">
                    <a:spcBef>
                      <a:spcPts val="600"/>
                    </a:spcBef>
                    <a:defRPr sz="1500" b="1">
                      <a:solidFill>
                        <a:srgbClr val="1E2C55"/>
                      </a:solidFill>
                      <a:latin typeface="Arial"/>
                    </a:defRPr>
                  </a:pPr>
                  <a:r>
                    <a:rPr sz="1600" b="1" dirty="0">
                      <a:solidFill>
                        <a:srgbClr val="1E2C55"/>
                      </a:solidFill>
                      <a:latin typeface="Montserrat SemiBold" pitchFamily="2" charset="0"/>
                    </a:rPr>
                    <a:t>Bespoke</a:t>
                  </a:r>
                  <a:endParaRPr lang="en-US" sz="1600" b="1" dirty="0">
                    <a:solidFill>
                      <a:srgbClr val="1E2C55"/>
                    </a:solidFill>
                    <a:latin typeface="Montserrat SemiBold" pitchFamily="2" charset="0"/>
                  </a:endParaRPr>
                </a:p>
                <a:p>
                  <a:pPr algn="ctr">
                    <a:spcBef>
                      <a:spcPts val="600"/>
                    </a:spcBef>
                    <a:defRPr sz="1150">
                      <a:solidFill>
                        <a:srgbClr val="1E2C55"/>
                      </a:solidFill>
                      <a:latin typeface="Arial"/>
                    </a:defRPr>
                  </a:pPr>
                  <a:r>
                    <a:rPr lang="en-US" sz="1150" dirty="0">
                      <a:solidFill>
                        <a:srgbClr val="1E2C55"/>
                      </a:solidFill>
                      <a:latin typeface="Aptos" panose="020B0004020202020204" pitchFamily="34" charset="0"/>
                    </a:rPr>
                    <a:t>Research tailored</a:t>
                  </a:r>
                  <a:br>
                    <a:rPr lang="en-US" sz="1150" dirty="0">
                      <a:solidFill>
                        <a:srgbClr val="1E2C55"/>
                      </a:solidFill>
                      <a:latin typeface="Aptos" panose="020B0004020202020204" pitchFamily="34" charset="0"/>
                    </a:rPr>
                  </a:br>
                  <a:r>
                    <a:rPr lang="en-US" sz="1150" dirty="0">
                      <a:solidFill>
                        <a:srgbClr val="1E2C55"/>
                      </a:solidFill>
                      <a:latin typeface="Aptos" panose="020B0004020202020204" pitchFamily="34" charset="0"/>
                    </a:rPr>
                    <a:t>to your needs</a:t>
                  </a:r>
                </a:p>
              </p:txBody>
            </p:sp>
            <p:sp>
              <p:nvSpPr>
                <p:cNvPr id="64" name="Oval 63">
                  <a:extLst>
                    <a:ext uri="{FF2B5EF4-FFF2-40B4-BE49-F238E27FC236}">
                      <a16:creationId xmlns:a16="http://schemas.microsoft.com/office/drawing/2014/main" id="{684AD80F-7F67-9121-E47C-650C6AB5A425}"/>
                    </a:ext>
                  </a:extLst>
                </p:cNvPr>
                <p:cNvSpPr/>
                <p:nvPr/>
              </p:nvSpPr>
              <p:spPr>
                <a:xfrm>
                  <a:off x="3457205" y="5474365"/>
                  <a:ext cx="711261" cy="749808"/>
                </a:xfrm>
                <a:prstGeom prst="ellipse">
                  <a:avLst/>
                </a:prstGeom>
                <a:solidFill>
                  <a:srgbClr val="1E2C55"/>
                </a:solidFill>
                <a:ln>
                  <a:solidFill>
                    <a:srgbClr val="1E2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65" name="Graphic 64" descr="Badge New with solid fill">
                  <a:extLst>
                    <a:ext uri="{FF2B5EF4-FFF2-40B4-BE49-F238E27FC236}">
                      <a16:creationId xmlns:a16="http://schemas.microsoft.com/office/drawing/2014/main" id="{2324F276-5265-6A87-6851-FFC0638E0152}"/>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3549484" y="5585918"/>
                  <a:ext cx="526703" cy="526703"/>
                </a:xfrm>
                <a:prstGeom prst="rect">
                  <a:avLst/>
                </a:prstGeom>
              </p:spPr>
            </p:pic>
          </p:grpSp>
        </p:grpSp>
        <p:grpSp>
          <p:nvGrpSpPr>
            <p:cNvPr id="126" name="Group 125">
              <a:extLst>
                <a:ext uri="{FF2B5EF4-FFF2-40B4-BE49-F238E27FC236}">
                  <a16:creationId xmlns:a16="http://schemas.microsoft.com/office/drawing/2014/main" id="{1C98B6C6-F9D4-86A4-57E6-675D61974572}"/>
                </a:ext>
              </a:extLst>
            </p:cNvPr>
            <p:cNvGrpSpPr/>
            <p:nvPr/>
          </p:nvGrpSpPr>
          <p:grpSpPr>
            <a:xfrm>
              <a:off x="423456" y="4092290"/>
              <a:ext cx="2090706" cy="635313"/>
              <a:chOff x="488315" y="4092290"/>
              <a:chExt cx="2090706" cy="635313"/>
            </a:xfrm>
          </p:grpSpPr>
          <p:sp>
            <p:nvSpPr>
              <p:cNvPr id="70" name="Rounded Rectangle 1">
                <a:extLst>
                  <a:ext uri="{FF2B5EF4-FFF2-40B4-BE49-F238E27FC236}">
                    <a16:creationId xmlns:a16="http://schemas.microsoft.com/office/drawing/2014/main" id="{6CE74A0D-2988-8ACD-BB92-79C7DFE5E3FB}"/>
                  </a:ext>
                </a:extLst>
              </p:cNvPr>
              <p:cNvSpPr/>
              <p:nvPr/>
            </p:nvSpPr>
            <p:spPr>
              <a:xfrm>
                <a:off x="488315" y="4092290"/>
                <a:ext cx="2090706" cy="635313"/>
              </a:xfrm>
              <a:prstGeom prst="roundRect">
                <a:avLst/>
              </a:prstGeom>
              <a:solidFill>
                <a:srgbClr val="1E2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8" name="TextBox 67">
                <a:extLst>
                  <a:ext uri="{FF2B5EF4-FFF2-40B4-BE49-F238E27FC236}">
                    <a16:creationId xmlns:a16="http://schemas.microsoft.com/office/drawing/2014/main" id="{495D07F8-7589-7051-37BD-21B0F0B8235D}"/>
                  </a:ext>
                </a:extLst>
              </p:cNvPr>
              <p:cNvSpPr txBox="1"/>
              <p:nvPr/>
            </p:nvSpPr>
            <p:spPr>
              <a:xfrm>
                <a:off x="507783" y="4209891"/>
                <a:ext cx="2051770" cy="400110"/>
              </a:xfrm>
              <a:prstGeom prst="rect">
                <a:avLst/>
              </a:prstGeom>
              <a:noFill/>
            </p:spPr>
            <p:txBody>
              <a:bodyPr wrap="square" rtlCol="0">
                <a:spAutoFit/>
              </a:bodyPr>
              <a:lstStyle/>
              <a:p>
                <a:pPr algn="ctr"/>
                <a:r>
                  <a:rPr lang="en-US" sz="2000" dirty="0">
                    <a:solidFill>
                      <a:srgbClr val="E1CBA8"/>
                    </a:solidFill>
                    <a:latin typeface="Montserrat SemiBold" pitchFamily="2" charset="0"/>
                  </a:rPr>
                  <a:t>Get in touch</a:t>
                </a:r>
                <a:endParaRPr lang="en-ZA" sz="2000" dirty="0">
                  <a:solidFill>
                    <a:srgbClr val="E1CBA8"/>
                  </a:solidFill>
                  <a:latin typeface="Montserrat SemiBold" pitchFamily="2" charset="0"/>
                </a:endParaRPr>
              </a:p>
            </p:txBody>
          </p:sp>
        </p:grpSp>
        <p:sp>
          <p:nvSpPr>
            <p:cNvPr id="105" name="TextBox 104">
              <a:extLst>
                <a:ext uri="{FF2B5EF4-FFF2-40B4-BE49-F238E27FC236}">
                  <a16:creationId xmlns:a16="http://schemas.microsoft.com/office/drawing/2014/main" id="{D024CD99-D101-6920-AC50-A03ACA12EB12}"/>
                </a:ext>
              </a:extLst>
            </p:cNvPr>
            <p:cNvSpPr txBox="1"/>
            <p:nvPr/>
          </p:nvSpPr>
          <p:spPr>
            <a:xfrm>
              <a:off x="467092" y="387173"/>
              <a:ext cx="809516" cy="353943"/>
            </a:xfrm>
            <a:prstGeom prst="rect">
              <a:avLst/>
            </a:prstGeom>
            <a:noFill/>
          </p:spPr>
          <p:txBody>
            <a:bodyPr wrap="none" lIns="0" tIns="0" rIns="0" bIns="0" anchor="ctr">
              <a:spAutoFit/>
            </a:bodyPr>
            <a:lstStyle/>
            <a:p>
              <a:pPr algn="ctr"/>
              <a:r>
                <a:rPr sz="2300" dirty="0">
                  <a:solidFill>
                    <a:srgbClr val="1E2C55"/>
                  </a:solidFill>
                  <a:latin typeface="Aptos" panose="020B0004020202020204" pitchFamily="34" charset="0"/>
                </a:rPr>
                <a:t>Home</a:t>
              </a:r>
            </a:p>
          </p:txBody>
        </p:sp>
        <p:sp>
          <p:nvSpPr>
            <p:cNvPr id="107" name="TextBox 106">
              <a:extLst>
                <a:ext uri="{FF2B5EF4-FFF2-40B4-BE49-F238E27FC236}">
                  <a16:creationId xmlns:a16="http://schemas.microsoft.com/office/drawing/2014/main" id="{DEBEA1BF-D49F-5B4A-4C8E-4B22FCE549B0}"/>
                </a:ext>
              </a:extLst>
            </p:cNvPr>
            <p:cNvSpPr txBox="1"/>
            <p:nvPr/>
          </p:nvSpPr>
          <p:spPr>
            <a:xfrm>
              <a:off x="1646590" y="387173"/>
              <a:ext cx="761427" cy="353943"/>
            </a:xfrm>
            <a:prstGeom prst="rect">
              <a:avLst/>
            </a:prstGeom>
            <a:noFill/>
          </p:spPr>
          <p:txBody>
            <a:bodyPr wrap="none" lIns="0" tIns="0" rIns="0" bIns="0" anchor="ctr">
              <a:spAutoFit/>
            </a:bodyPr>
            <a:lstStyle/>
            <a:p>
              <a:pPr algn="ctr"/>
              <a:r>
                <a:rPr sz="2300" dirty="0">
                  <a:solidFill>
                    <a:srgbClr val="1E2C55"/>
                  </a:solidFill>
                  <a:latin typeface="Aptos" panose="020B0004020202020204" pitchFamily="34" charset="0"/>
                </a:rPr>
                <a:t>About</a:t>
              </a:r>
            </a:p>
          </p:txBody>
        </p:sp>
        <p:sp>
          <p:nvSpPr>
            <p:cNvPr id="109" name="TextBox 108">
              <a:extLst>
                <a:ext uri="{FF2B5EF4-FFF2-40B4-BE49-F238E27FC236}">
                  <a16:creationId xmlns:a16="http://schemas.microsoft.com/office/drawing/2014/main" id="{2F5FF666-F797-DEF8-9C9A-29D997505FCA}"/>
                </a:ext>
              </a:extLst>
            </p:cNvPr>
            <p:cNvSpPr txBox="1"/>
            <p:nvPr/>
          </p:nvSpPr>
          <p:spPr>
            <a:xfrm>
              <a:off x="2823428" y="387173"/>
              <a:ext cx="1673663" cy="353943"/>
            </a:xfrm>
            <a:prstGeom prst="rect">
              <a:avLst/>
            </a:prstGeom>
            <a:noFill/>
          </p:spPr>
          <p:txBody>
            <a:bodyPr wrap="none" lIns="0" tIns="0" rIns="0" bIns="0" anchor="ctr">
              <a:spAutoFit/>
            </a:bodyPr>
            <a:lstStyle/>
            <a:p>
              <a:pPr algn="ctr"/>
              <a:r>
                <a:rPr sz="2300" dirty="0">
                  <a:solidFill>
                    <a:srgbClr val="1E2C55"/>
                  </a:solidFill>
                  <a:latin typeface="Aptos" panose="020B0004020202020204" pitchFamily="34" charset="0"/>
                </a:rPr>
                <a:t>How It Works</a:t>
              </a:r>
            </a:p>
          </p:txBody>
        </p:sp>
        <p:sp>
          <p:nvSpPr>
            <p:cNvPr id="111" name="TextBox 110">
              <a:extLst>
                <a:ext uri="{FF2B5EF4-FFF2-40B4-BE49-F238E27FC236}">
                  <a16:creationId xmlns:a16="http://schemas.microsoft.com/office/drawing/2014/main" id="{4E52D0F8-992A-D3F6-293D-B363F08A8A6F}"/>
                </a:ext>
              </a:extLst>
            </p:cNvPr>
            <p:cNvSpPr txBox="1"/>
            <p:nvPr/>
          </p:nvSpPr>
          <p:spPr>
            <a:xfrm>
              <a:off x="4929334" y="387173"/>
              <a:ext cx="1083310" cy="353943"/>
            </a:xfrm>
            <a:prstGeom prst="rect">
              <a:avLst/>
            </a:prstGeom>
            <a:noFill/>
          </p:spPr>
          <p:txBody>
            <a:bodyPr wrap="none" lIns="0" tIns="0" rIns="0" bIns="0" anchor="ctr">
              <a:spAutoFit/>
            </a:bodyPr>
            <a:lstStyle/>
            <a:p>
              <a:pPr algn="ctr"/>
              <a:r>
                <a:rPr sz="2300" dirty="0">
                  <a:solidFill>
                    <a:srgbClr val="1E2C55"/>
                  </a:solidFill>
                  <a:latin typeface="Aptos" panose="020B0004020202020204" pitchFamily="34" charset="0"/>
                </a:rPr>
                <a:t>Services</a:t>
              </a:r>
            </a:p>
          </p:txBody>
        </p:sp>
        <p:sp>
          <p:nvSpPr>
            <p:cNvPr id="113" name="TextBox 112">
              <a:extLst>
                <a:ext uri="{FF2B5EF4-FFF2-40B4-BE49-F238E27FC236}">
                  <a16:creationId xmlns:a16="http://schemas.microsoft.com/office/drawing/2014/main" id="{0689CCC2-EAA9-C02E-572D-6DE9BCD561CB}"/>
                </a:ext>
              </a:extLst>
            </p:cNvPr>
            <p:cNvSpPr txBox="1"/>
            <p:nvPr/>
          </p:nvSpPr>
          <p:spPr>
            <a:xfrm>
              <a:off x="6419143" y="387173"/>
              <a:ext cx="730713" cy="353943"/>
            </a:xfrm>
            <a:prstGeom prst="rect">
              <a:avLst/>
            </a:prstGeom>
            <a:noFill/>
          </p:spPr>
          <p:txBody>
            <a:bodyPr wrap="none" lIns="0" tIns="0" rIns="0" bIns="0" anchor="ctr">
              <a:spAutoFit/>
            </a:bodyPr>
            <a:lstStyle/>
            <a:p>
              <a:pPr algn="ctr"/>
              <a:r>
                <a:rPr sz="2300" dirty="0">
                  <a:solidFill>
                    <a:srgbClr val="1E2C55"/>
                  </a:solidFill>
                  <a:latin typeface="Aptos" panose="020B0004020202020204" pitchFamily="34" charset="0"/>
                </a:rPr>
                <a:t>FAQ’s</a:t>
              </a:r>
            </a:p>
          </p:txBody>
        </p:sp>
        <p:sp>
          <p:nvSpPr>
            <p:cNvPr id="106" name="Oval 105">
              <a:extLst>
                <a:ext uri="{FF2B5EF4-FFF2-40B4-BE49-F238E27FC236}">
                  <a16:creationId xmlns:a16="http://schemas.microsoft.com/office/drawing/2014/main" id="{89461525-28AC-CD51-8574-768A591F0869}"/>
                </a:ext>
              </a:extLst>
            </p:cNvPr>
            <p:cNvSpPr/>
            <p:nvPr/>
          </p:nvSpPr>
          <p:spPr>
            <a:xfrm>
              <a:off x="1378829" y="490992"/>
              <a:ext cx="146304" cy="146304"/>
            </a:xfrm>
            <a:prstGeom prst="ellipse">
              <a:avLst/>
            </a:prstGeom>
            <a:solidFill>
              <a:srgbClr val="E1C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8" name="Oval 107">
              <a:extLst>
                <a:ext uri="{FF2B5EF4-FFF2-40B4-BE49-F238E27FC236}">
                  <a16:creationId xmlns:a16="http://schemas.microsoft.com/office/drawing/2014/main" id="{9EB286B1-BDDE-88FF-26C8-BA165CD19611}"/>
                </a:ext>
              </a:extLst>
            </p:cNvPr>
            <p:cNvSpPr/>
            <p:nvPr/>
          </p:nvSpPr>
          <p:spPr>
            <a:xfrm>
              <a:off x="2529474" y="490992"/>
              <a:ext cx="146304" cy="146304"/>
            </a:xfrm>
            <a:prstGeom prst="ellipse">
              <a:avLst/>
            </a:prstGeom>
            <a:solidFill>
              <a:srgbClr val="E1C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0" name="Oval 109">
              <a:extLst>
                <a:ext uri="{FF2B5EF4-FFF2-40B4-BE49-F238E27FC236}">
                  <a16:creationId xmlns:a16="http://schemas.microsoft.com/office/drawing/2014/main" id="{FA54654E-F836-830D-B662-EDB824129899}"/>
                </a:ext>
              </a:extLst>
            </p:cNvPr>
            <p:cNvSpPr/>
            <p:nvPr/>
          </p:nvSpPr>
          <p:spPr>
            <a:xfrm>
              <a:off x="4644742" y="490992"/>
              <a:ext cx="146304" cy="146304"/>
            </a:xfrm>
            <a:prstGeom prst="ellipse">
              <a:avLst/>
            </a:prstGeom>
            <a:solidFill>
              <a:srgbClr val="E1C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2" name="Oval 111">
              <a:extLst>
                <a:ext uri="{FF2B5EF4-FFF2-40B4-BE49-F238E27FC236}">
                  <a16:creationId xmlns:a16="http://schemas.microsoft.com/office/drawing/2014/main" id="{8A8BC699-07CC-1C1E-C49D-C911AF70F29C}"/>
                </a:ext>
              </a:extLst>
            </p:cNvPr>
            <p:cNvSpPr/>
            <p:nvPr/>
          </p:nvSpPr>
          <p:spPr>
            <a:xfrm>
              <a:off x="6150933" y="490992"/>
              <a:ext cx="146304" cy="146304"/>
            </a:xfrm>
            <a:prstGeom prst="ellipse">
              <a:avLst/>
            </a:prstGeom>
            <a:solidFill>
              <a:srgbClr val="E1C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4" name="Oval 113">
              <a:extLst>
                <a:ext uri="{FF2B5EF4-FFF2-40B4-BE49-F238E27FC236}">
                  <a16:creationId xmlns:a16="http://schemas.microsoft.com/office/drawing/2014/main" id="{BF000C82-60CB-AAEF-76A8-6BBCC16A8B49}"/>
                </a:ext>
              </a:extLst>
            </p:cNvPr>
            <p:cNvSpPr/>
            <p:nvPr/>
          </p:nvSpPr>
          <p:spPr>
            <a:xfrm>
              <a:off x="7271762" y="490992"/>
              <a:ext cx="146304" cy="146304"/>
            </a:xfrm>
            <a:prstGeom prst="ellipse">
              <a:avLst/>
            </a:prstGeom>
            <a:solidFill>
              <a:srgbClr val="E1C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Aptos" panose="020B0004020202020204" pitchFamily="34" charset="0"/>
              </a:endParaRPr>
            </a:p>
          </p:txBody>
        </p:sp>
        <p:sp>
          <p:nvSpPr>
            <p:cNvPr id="115" name="TextBox 114">
              <a:extLst>
                <a:ext uri="{FF2B5EF4-FFF2-40B4-BE49-F238E27FC236}">
                  <a16:creationId xmlns:a16="http://schemas.microsoft.com/office/drawing/2014/main" id="{F5EDD159-6420-8A6A-480E-DE33AA894E28}"/>
                </a:ext>
              </a:extLst>
            </p:cNvPr>
            <p:cNvSpPr txBox="1"/>
            <p:nvPr/>
          </p:nvSpPr>
          <p:spPr>
            <a:xfrm>
              <a:off x="7546283" y="387173"/>
              <a:ext cx="1029577" cy="353943"/>
            </a:xfrm>
            <a:prstGeom prst="rect">
              <a:avLst/>
            </a:prstGeom>
            <a:noFill/>
          </p:spPr>
          <p:txBody>
            <a:bodyPr wrap="none" lIns="0" tIns="0" rIns="0" bIns="0" anchor="ctr">
              <a:spAutoFit/>
            </a:bodyPr>
            <a:lstStyle/>
            <a:p>
              <a:pPr algn="ctr"/>
              <a:r>
                <a:rPr sz="2300" dirty="0">
                  <a:solidFill>
                    <a:srgbClr val="1E2C55"/>
                  </a:solidFill>
                  <a:latin typeface="Aptos" panose="020B0004020202020204" pitchFamily="34" charset="0"/>
                </a:rPr>
                <a:t>Contact</a:t>
              </a:r>
            </a:p>
          </p:txBody>
        </p:sp>
        <p:pic>
          <p:nvPicPr>
            <p:cNvPr id="141" name="Picture 140">
              <a:extLst>
                <a:ext uri="{FF2B5EF4-FFF2-40B4-BE49-F238E27FC236}">
                  <a16:creationId xmlns:a16="http://schemas.microsoft.com/office/drawing/2014/main" id="{707680C0-FB4F-86E0-7E0A-4F9B2A6312DB}"/>
                </a:ext>
              </a:extLst>
            </p:cNvPr>
            <p:cNvPicPr>
              <a:picLocks noChangeAspect="1"/>
            </p:cNvPicPr>
            <p:nvPr/>
          </p:nvPicPr>
          <p:blipFill>
            <a:blip r:embed="rId7"/>
            <a:stretch>
              <a:fillRect/>
            </a:stretch>
          </p:blipFill>
          <p:spPr>
            <a:xfrm>
              <a:off x="319909" y="1127735"/>
              <a:ext cx="6748041" cy="2250383"/>
            </a:xfrm>
            <a:prstGeom prst="rect">
              <a:avLst/>
            </a:prstGeom>
          </p:spPr>
        </p:pic>
      </p:grpSp>
    </p:spTree>
    <p:extLst>
      <p:ext uri="{BB962C8B-B14F-4D97-AF65-F5344CB8AC3E}">
        <p14:creationId xmlns:p14="http://schemas.microsoft.com/office/powerpoint/2010/main" val="655167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 name="Group 81">
            <a:extLst>
              <a:ext uri="{FF2B5EF4-FFF2-40B4-BE49-F238E27FC236}">
                <a16:creationId xmlns:a16="http://schemas.microsoft.com/office/drawing/2014/main" id="{409EA9F6-DC8D-767A-5A77-E08C36EC6BEA}"/>
              </a:ext>
            </a:extLst>
          </p:cNvPr>
          <p:cNvGrpSpPr/>
          <p:nvPr/>
        </p:nvGrpSpPr>
        <p:grpSpPr>
          <a:xfrm>
            <a:off x="3239" y="0"/>
            <a:ext cx="12185522" cy="6858000"/>
            <a:chOff x="3239" y="0"/>
            <a:chExt cx="12185522" cy="6858000"/>
          </a:xfrm>
        </p:grpSpPr>
        <p:pic>
          <p:nvPicPr>
            <p:cNvPr id="78" name="Picture 77">
              <a:extLst>
                <a:ext uri="{FF2B5EF4-FFF2-40B4-BE49-F238E27FC236}">
                  <a16:creationId xmlns:a16="http://schemas.microsoft.com/office/drawing/2014/main" id="{47EC6EE4-39C1-E145-8EEC-CC7262565061}"/>
                </a:ext>
              </a:extLst>
            </p:cNvPr>
            <p:cNvPicPr>
              <a:picLocks noChangeAspect="1"/>
            </p:cNvPicPr>
            <p:nvPr/>
          </p:nvPicPr>
          <p:blipFill>
            <a:blip r:embed="rId2"/>
            <a:stretch>
              <a:fillRect/>
            </a:stretch>
          </p:blipFill>
          <p:spPr>
            <a:xfrm>
              <a:off x="3239" y="0"/>
              <a:ext cx="12185522" cy="6858000"/>
            </a:xfrm>
            <a:prstGeom prst="rect">
              <a:avLst/>
            </a:prstGeom>
          </p:spPr>
        </p:pic>
        <p:sp>
          <p:nvSpPr>
            <p:cNvPr id="5" name="TextBox 4">
              <a:extLst>
                <a:ext uri="{FF2B5EF4-FFF2-40B4-BE49-F238E27FC236}">
                  <a16:creationId xmlns:a16="http://schemas.microsoft.com/office/drawing/2014/main" id="{D33046D4-82F9-EE89-BA31-49D173DD4EEB}"/>
                </a:ext>
              </a:extLst>
            </p:cNvPr>
            <p:cNvSpPr txBox="1"/>
            <p:nvPr/>
          </p:nvSpPr>
          <p:spPr>
            <a:xfrm>
              <a:off x="2465583" y="664651"/>
              <a:ext cx="7260835" cy="907941"/>
            </a:xfrm>
            <a:prstGeom prst="rect">
              <a:avLst/>
            </a:prstGeom>
            <a:noFill/>
          </p:spPr>
          <p:txBody>
            <a:bodyPr wrap="square" anchor="ctr">
              <a:spAutoFit/>
            </a:bodyPr>
            <a:lstStyle/>
            <a:p>
              <a:pPr algn="ctr"/>
              <a:r>
                <a:rPr sz="2500" dirty="0">
                  <a:solidFill>
                    <a:srgbClr val="1E2C55"/>
                  </a:solidFill>
                  <a:latin typeface="Montserrat SemiBold" pitchFamily="2" charset="0"/>
                </a:rPr>
                <a:t>We Do the Research</a:t>
              </a:r>
              <a:r>
                <a:rPr sz="2500" dirty="0">
                  <a:solidFill>
                    <a:srgbClr val="1E2C55"/>
                  </a:solidFill>
                  <a:latin typeface="Montserrat ExtraBold" pitchFamily="2" charset="0"/>
                </a:rPr>
                <a:t>
</a:t>
              </a:r>
              <a:r>
                <a:rPr sz="2800" dirty="0">
                  <a:solidFill>
                    <a:srgbClr val="1E2C55"/>
                  </a:solidFill>
                  <a:latin typeface="Montserrat ExtraBold" pitchFamily="2" charset="0"/>
                </a:rPr>
                <a:t>You Make the Decision</a:t>
              </a:r>
            </a:p>
          </p:txBody>
        </p:sp>
        <p:grpSp>
          <p:nvGrpSpPr>
            <p:cNvPr id="81" name="Group 80">
              <a:extLst>
                <a:ext uri="{FF2B5EF4-FFF2-40B4-BE49-F238E27FC236}">
                  <a16:creationId xmlns:a16="http://schemas.microsoft.com/office/drawing/2014/main" id="{43967831-5AAC-8AEF-BE23-F5EE84414BF9}"/>
                </a:ext>
              </a:extLst>
            </p:cNvPr>
            <p:cNvGrpSpPr/>
            <p:nvPr/>
          </p:nvGrpSpPr>
          <p:grpSpPr>
            <a:xfrm>
              <a:off x="1331476" y="1988142"/>
              <a:ext cx="9529049" cy="3399496"/>
              <a:chOff x="1331476" y="1988142"/>
              <a:chExt cx="9529049" cy="3399496"/>
            </a:xfrm>
          </p:grpSpPr>
          <p:sp>
            <p:nvSpPr>
              <p:cNvPr id="71" name="Rectangle 70">
                <a:extLst>
                  <a:ext uri="{FF2B5EF4-FFF2-40B4-BE49-F238E27FC236}">
                    <a16:creationId xmlns:a16="http://schemas.microsoft.com/office/drawing/2014/main" id="{78FD96AE-129B-2BAD-DE1E-D89B3D468AFA}"/>
                  </a:ext>
                </a:extLst>
              </p:cNvPr>
              <p:cNvSpPr/>
              <p:nvPr/>
            </p:nvSpPr>
            <p:spPr>
              <a:xfrm flipV="1">
                <a:off x="1461353" y="3757077"/>
                <a:ext cx="8670866" cy="92458"/>
              </a:xfrm>
              <a:prstGeom prst="rect">
                <a:avLst/>
              </a:prstGeom>
              <a:solidFill>
                <a:srgbClr val="E1CBA8"/>
              </a:solidFill>
              <a:ln>
                <a:solidFill>
                  <a:srgbClr val="E1CBA8"/>
                </a:solidFill>
              </a:ln>
              <a:effectLst>
                <a:outerShdw blurRad="50800" dist="38100" dir="2700000" algn="tl" rotWithShape="0">
                  <a:srgbClr val="FDF8F2">
                    <a:alpha val="5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nvGrpSpPr>
              <p:cNvPr id="75" name="Group 74">
                <a:extLst>
                  <a:ext uri="{FF2B5EF4-FFF2-40B4-BE49-F238E27FC236}">
                    <a16:creationId xmlns:a16="http://schemas.microsoft.com/office/drawing/2014/main" id="{8E3BEA01-6209-D478-CF7F-CF52FFA46DB9}"/>
                  </a:ext>
                </a:extLst>
              </p:cNvPr>
              <p:cNvGrpSpPr/>
              <p:nvPr/>
            </p:nvGrpSpPr>
            <p:grpSpPr>
              <a:xfrm>
                <a:off x="1331476" y="1988142"/>
                <a:ext cx="9529049" cy="3399496"/>
                <a:chOff x="1766316" y="2609626"/>
                <a:chExt cx="9529049" cy="3399496"/>
              </a:xfrm>
            </p:grpSpPr>
            <p:sp>
              <p:nvSpPr>
                <p:cNvPr id="11" name="Rounded Rectangle 6">
                  <a:extLst>
                    <a:ext uri="{FF2B5EF4-FFF2-40B4-BE49-F238E27FC236}">
                      <a16:creationId xmlns:a16="http://schemas.microsoft.com/office/drawing/2014/main" id="{A3482195-FE6F-712E-2941-8D051C221210}"/>
                    </a:ext>
                  </a:extLst>
                </p:cNvPr>
                <p:cNvSpPr/>
                <p:nvPr/>
              </p:nvSpPr>
              <p:spPr>
                <a:xfrm>
                  <a:off x="8597884" y="2868516"/>
                  <a:ext cx="2697480" cy="3140606"/>
                </a:xfrm>
                <a:prstGeom prst="roundRect">
                  <a:avLst/>
                </a:prstGeom>
                <a:solidFill>
                  <a:srgbClr val="FDF8F2"/>
                </a:solidFill>
                <a:ln w="15240">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1E2C55"/>
                    </a:solidFill>
                    <a:latin typeface="Aptos"/>
                  </a:endParaRPr>
                </a:p>
              </p:txBody>
            </p:sp>
            <p:sp>
              <p:nvSpPr>
                <p:cNvPr id="49" name="Oval 48">
                  <a:extLst>
                    <a:ext uri="{FF2B5EF4-FFF2-40B4-BE49-F238E27FC236}">
                      <a16:creationId xmlns:a16="http://schemas.microsoft.com/office/drawing/2014/main" id="{79460E9A-528A-6757-746B-37A211E00B7B}"/>
                    </a:ext>
                  </a:extLst>
                </p:cNvPr>
                <p:cNvSpPr/>
                <p:nvPr/>
              </p:nvSpPr>
              <p:spPr>
                <a:xfrm>
                  <a:off x="9644369" y="2609626"/>
                  <a:ext cx="616668" cy="616668"/>
                </a:xfrm>
                <a:prstGeom prst="ellipse">
                  <a:avLst/>
                </a:prstGeom>
                <a:solidFill>
                  <a:srgbClr val="1E2C55"/>
                </a:solidFill>
                <a:ln>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E1CBA8"/>
                      </a:solidFill>
                      <a:latin typeface="Montserrat SemiBold" pitchFamily="2" charset="0"/>
                    </a:rPr>
                    <a:t>3</a:t>
                  </a:r>
                  <a:endParaRPr lang="en-ZA" b="1" dirty="0">
                    <a:solidFill>
                      <a:srgbClr val="E1CBA8"/>
                    </a:solidFill>
                    <a:latin typeface="Montserrat SemiBold" pitchFamily="2" charset="0"/>
                  </a:endParaRPr>
                </a:p>
              </p:txBody>
            </p:sp>
            <p:sp>
              <p:nvSpPr>
                <p:cNvPr id="64" name="TextBox 63">
                  <a:extLst>
                    <a:ext uri="{FF2B5EF4-FFF2-40B4-BE49-F238E27FC236}">
                      <a16:creationId xmlns:a16="http://schemas.microsoft.com/office/drawing/2014/main" id="{BACB8335-8C83-2063-9C3D-1099A295FCEC}"/>
                    </a:ext>
                  </a:extLst>
                </p:cNvPr>
                <p:cNvSpPr txBox="1"/>
                <p:nvPr/>
              </p:nvSpPr>
              <p:spPr>
                <a:xfrm>
                  <a:off x="8597884" y="3485184"/>
                  <a:ext cx="2697481" cy="1938992"/>
                </a:xfrm>
                <a:prstGeom prst="rect">
                  <a:avLst/>
                </a:prstGeom>
                <a:noFill/>
              </p:spPr>
              <p:txBody>
                <a:bodyPr wrap="square">
                  <a:spAutoFit/>
                </a:bodyPr>
                <a:lstStyle/>
                <a:p>
                  <a:pPr algn="ctr"/>
                  <a:r>
                    <a:rPr lang="en-US" sz="2000" b="1" dirty="0">
                      <a:solidFill>
                        <a:srgbClr val="E1CBA8"/>
                      </a:solidFill>
                      <a:latin typeface="Montserrat SemiBold" pitchFamily="2" charset="0"/>
                    </a:rPr>
                    <a:t>YOU BUY BETTER</a:t>
                  </a:r>
                </a:p>
                <a:p>
                  <a:pPr algn="ctr"/>
                  <a:endParaRPr lang="en-US" sz="2000" b="1" dirty="0">
                    <a:solidFill>
                      <a:srgbClr val="1E2C55"/>
                    </a:solidFill>
                    <a:latin typeface="Montserrat SemiBold" pitchFamily="2" charset="0"/>
                  </a:endParaRPr>
                </a:p>
                <a:p>
                  <a:pPr algn="ctr"/>
                  <a:r>
                    <a:rPr lang="en-US" sz="2000" dirty="0">
                      <a:solidFill>
                        <a:srgbClr val="1E2C55"/>
                      </a:solidFill>
                      <a:latin typeface="Aptos"/>
                    </a:rPr>
                    <a:t>You make the final decision and buy
directly from the retailer or supplier</a:t>
                  </a:r>
                </a:p>
              </p:txBody>
            </p:sp>
            <p:sp>
              <p:nvSpPr>
                <p:cNvPr id="7" name="Rounded Rectangle 4">
                  <a:extLst>
                    <a:ext uri="{FF2B5EF4-FFF2-40B4-BE49-F238E27FC236}">
                      <a16:creationId xmlns:a16="http://schemas.microsoft.com/office/drawing/2014/main" id="{F7E9FD02-A38B-480C-3002-9209399058ED}"/>
                    </a:ext>
                  </a:extLst>
                </p:cNvPr>
                <p:cNvSpPr/>
                <p:nvPr/>
              </p:nvSpPr>
              <p:spPr>
                <a:xfrm>
                  <a:off x="1766316" y="2868516"/>
                  <a:ext cx="2697480" cy="3140606"/>
                </a:xfrm>
                <a:prstGeom prst="roundRect">
                  <a:avLst/>
                </a:prstGeom>
                <a:solidFill>
                  <a:srgbClr val="FDF8F2"/>
                </a:solidFill>
                <a:ln w="15240">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5" name="Oval 44">
                  <a:extLst>
                    <a:ext uri="{FF2B5EF4-FFF2-40B4-BE49-F238E27FC236}">
                      <a16:creationId xmlns:a16="http://schemas.microsoft.com/office/drawing/2014/main" id="{249AB09F-E7EE-F522-EC87-38C50959B130}"/>
                    </a:ext>
                  </a:extLst>
                </p:cNvPr>
                <p:cNvSpPr/>
                <p:nvPr/>
              </p:nvSpPr>
              <p:spPr>
                <a:xfrm>
                  <a:off x="2818882" y="2609626"/>
                  <a:ext cx="616668" cy="616668"/>
                </a:xfrm>
                <a:prstGeom prst="ellipse">
                  <a:avLst/>
                </a:prstGeom>
                <a:solidFill>
                  <a:srgbClr val="1E2C55"/>
                </a:solidFill>
                <a:ln>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E1CBA8"/>
                      </a:solidFill>
                      <a:latin typeface="Montserrat SemiBold" pitchFamily="2" charset="0"/>
                    </a:rPr>
                    <a:t>1</a:t>
                  </a:r>
                  <a:endParaRPr lang="en-ZA" b="1" dirty="0">
                    <a:solidFill>
                      <a:srgbClr val="E1CBA8"/>
                    </a:solidFill>
                    <a:latin typeface="Montserrat SemiBold" pitchFamily="2" charset="0"/>
                  </a:endParaRPr>
                </a:p>
              </p:txBody>
            </p:sp>
            <p:sp>
              <p:nvSpPr>
                <p:cNvPr id="67" name="TextBox 66">
                  <a:extLst>
                    <a:ext uri="{FF2B5EF4-FFF2-40B4-BE49-F238E27FC236}">
                      <a16:creationId xmlns:a16="http://schemas.microsoft.com/office/drawing/2014/main" id="{9B0EB6F3-F1C2-FC6A-5E06-1FE78991CA8E}"/>
                    </a:ext>
                  </a:extLst>
                </p:cNvPr>
                <p:cNvSpPr txBox="1"/>
                <p:nvPr/>
              </p:nvSpPr>
              <p:spPr>
                <a:xfrm>
                  <a:off x="1890112" y="3485184"/>
                  <a:ext cx="2408933" cy="2215991"/>
                </a:xfrm>
                <a:prstGeom prst="rect">
                  <a:avLst/>
                </a:prstGeom>
                <a:noFill/>
              </p:spPr>
              <p:txBody>
                <a:bodyPr wrap="square">
                  <a:spAutoFit/>
                </a:bodyPr>
                <a:lstStyle/>
                <a:p>
                  <a:pPr algn="ctr"/>
                  <a:r>
                    <a:rPr lang="en-US" sz="2000" b="1" dirty="0">
                      <a:solidFill>
                        <a:srgbClr val="E1CBA8"/>
                      </a:solidFill>
                      <a:latin typeface="Montserrat SemiBold" pitchFamily="2" charset="0"/>
                    </a:rPr>
                    <a:t>WE RESEARCH</a:t>
                  </a:r>
                </a:p>
                <a:p>
                  <a:pPr algn="ctr"/>
                  <a:endParaRPr lang="en-US" sz="1800" b="1" dirty="0">
                    <a:solidFill>
                      <a:srgbClr val="1E2C55"/>
                    </a:solidFill>
                    <a:latin typeface="Montserrat SemiBold" pitchFamily="2" charset="0"/>
                  </a:endParaRPr>
                </a:p>
                <a:p>
                  <a:pPr algn="ctr"/>
                  <a:r>
                    <a:rPr lang="en-US" sz="2000" dirty="0">
                      <a:solidFill>
                        <a:srgbClr val="1E2C55"/>
                      </a:solidFill>
                      <a:latin typeface="Aptos"/>
                    </a:rPr>
                    <a:t>We look across the market for
options that genuinely fit your
individual brief</a:t>
                  </a:r>
                  <a:endParaRPr lang="en-US" sz="2000" dirty="0"/>
                </a:p>
              </p:txBody>
            </p:sp>
            <p:sp>
              <p:nvSpPr>
                <p:cNvPr id="9" name="Rounded Rectangle 5">
                  <a:extLst>
                    <a:ext uri="{FF2B5EF4-FFF2-40B4-BE49-F238E27FC236}">
                      <a16:creationId xmlns:a16="http://schemas.microsoft.com/office/drawing/2014/main" id="{94D187C0-E18A-BE97-0529-C7959AA674F5}"/>
                    </a:ext>
                  </a:extLst>
                </p:cNvPr>
                <p:cNvSpPr/>
                <p:nvPr/>
              </p:nvSpPr>
              <p:spPr>
                <a:xfrm>
                  <a:off x="5179059" y="2868516"/>
                  <a:ext cx="2697480" cy="3140606"/>
                </a:xfrm>
                <a:prstGeom prst="roundRect">
                  <a:avLst/>
                </a:prstGeom>
                <a:solidFill>
                  <a:srgbClr val="FDF8F2"/>
                </a:solidFill>
                <a:ln w="15240">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1E2C55"/>
                    </a:solidFill>
                    <a:latin typeface="Aptos"/>
                  </a:endParaRPr>
                </a:p>
              </p:txBody>
            </p:sp>
            <p:sp>
              <p:nvSpPr>
                <p:cNvPr id="47" name="Oval 46">
                  <a:extLst>
                    <a:ext uri="{FF2B5EF4-FFF2-40B4-BE49-F238E27FC236}">
                      <a16:creationId xmlns:a16="http://schemas.microsoft.com/office/drawing/2014/main" id="{164F4C33-38C5-B394-CD5D-0D05A4126E90}"/>
                    </a:ext>
                  </a:extLst>
                </p:cNvPr>
                <p:cNvSpPr/>
                <p:nvPr/>
              </p:nvSpPr>
              <p:spPr>
                <a:xfrm>
                  <a:off x="6219465" y="2609626"/>
                  <a:ext cx="616668" cy="616668"/>
                </a:xfrm>
                <a:prstGeom prst="ellipse">
                  <a:avLst/>
                </a:prstGeom>
                <a:solidFill>
                  <a:srgbClr val="1E2C55"/>
                </a:solidFill>
                <a:ln>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E1CBA8"/>
                      </a:solidFill>
                      <a:latin typeface="Montserrat SemiBold" pitchFamily="2" charset="0"/>
                    </a:rPr>
                    <a:t>2</a:t>
                  </a:r>
                  <a:endParaRPr lang="en-ZA" b="1" dirty="0">
                    <a:solidFill>
                      <a:srgbClr val="E1CBA8"/>
                    </a:solidFill>
                    <a:latin typeface="Montserrat SemiBold" pitchFamily="2" charset="0"/>
                  </a:endParaRPr>
                </a:p>
              </p:txBody>
            </p:sp>
            <p:sp>
              <p:nvSpPr>
                <p:cNvPr id="69" name="TextBox 68">
                  <a:extLst>
                    <a:ext uri="{FF2B5EF4-FFF2-40B4-BE49-F238E27FC236}">
                      <a16:creationId xmlns:a16="http://schemas.microsoft.com/office/drawing/2014/main" id="{C8CDE6EA-2576-A494-5C86-3DBAC7CD085D}"/>
                    </a:ext>
                  </a:extLst>
                </p:cNvPr>
                <p:cNvSpPr txBox="1"/>
                <p:nvPr/>
              </p:nvSpPr>
              <p:spPr>
                <a:xfrm>
                  <a:off x="5172979" y="3485184"/>
                  <a:ext cx="2709641" cy="2215991"/>
                </a:xfrm>
                <a:prstGeom prst="rect">
                  <a:avLst/>
                </a:prstGeom>
                <a:noFill/>
              </p:spPr>
              <p:txBody>
                <a:bodyPr wrap="square">
                  <a:spAutoFit/>
                </a:bodyPr>
                <a:lstStyle/>
                <a:p>
                  <a:pPr algn="ctr"/>
                  <a:r>
                    <a:rPr lang="en-US" sz="2000" b="1" dirty="0">
                      <a:solidFill>
                        <a:srgbClr val="E1CBA8"/>
                      </a:solidFill>
                      <a:latin typeface="Montserrat SemiBold" pitchFamily="2" charset="0"/>
                    </a:rPr>
                    <a:t>WE PRESENT</a:t>
                  </a:r>
                </a:p>
                <a:p>
                  <a:pPr algn="ctr"/>
                  <a:endParaRPr lang="en-US" sz="1800" b="1" dirty="0">
                    <a:solidFill>
                      <a:srgbClr val="1E2C55"/>
                    </a:solidFill>
                    <a:latin typeface="Montserrat SemiBold" pitchFamily="2" charset="0"/>
                  </a:endParaRPr>
                </a:p>
                <a:p>
                  <a:pPr algn="ctr"/>
                  <a:r>
                    <a:rPr lang="en-US" sz="2000" dirty="0">
                      <a:solidFill>
                        <a:srgbClr val="1E2C55"/>
                      </a:solidFill>
                      <a:latin typeface="Aptos"/>
                    </a:rPr>
                    <a:t>You receive a clear, bespoke
report with the findings, comparisons
and relevant trade-offs</a:t>
                  </a:r>
                </a:p>
              </p:txBody>
            </p:sp>
          </p:grpSp>
        </p:grpSp>
      </p:grpSp>
    </p:spTree>
    <p:extLst>
      <p:ext uri="{BB962C8B-B14F-4D97-AF65-F5344CB8AC3E}">
        <p14:creationId xmlns:p14="http://schemas.microsoft.com/office/powerpoint/2010/main" val="402720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847E84-1C12-63F3-BAE8-9825040E926A}"/>
              </a:ext>
            </a:extLst>
          </p:cNvPr>
          <p:cNvGrpSpPr/>
          <p:nvPr/>
        </p:nvGrpSpPr>
        <p:grpSpPr>
          <a:xfrm>
            <a:off x="13766" y="4160"/>
            <a:ext cx="12178234" cy="6858000"/>
            <a:chOff x="13766" y="4160"/>
            <a:chExt cx="12178234" cy="6858000"/>
          </a:xfrm>
        </p:grpSpPr>
        <p:pic>
          <p:nvPicPr>
            <p:cNvPr id="156" name="Picture 155">
              <a:extLst>
                <a:ext uri="{FF2B5EF4-FFF2-40B4-BE49-F238E27FC236}">
                  <a16:creationId xmlns:a16="http://schemas.microsoft.com/office/drawing/2014/main" id="{E3917AE0-DE44-6686-95EE-3C7A9FBF658B}"/>
                </a:ext>
              </a:extLst>
            </p:cNvPr>
            <p:cNvPicPr>
              <a:picLocks noChangeAspect="1"/>
            </p:cNvPicPr>
            <p:nvPr/>
          </p:nvPicPr>
          <p:blipFill>
            <a:blip r:embed="rId3"/>
            <a:stretch>
              <a:fillRect/>
            </a:stretch>
          </p:blipFill>
          <p:spPr>
            <a:xfrm>
              <a:off x="13766" y="4160"/>
              <a:ext cx="12178234" cy="6858000"/>
            </a:xfrm>
            <a:prstGeom prst="rect">
              <a:avLst/>
            </a:prstGeom>
          </p:spPr>
        </p:pic>
        <p:sp>
          <p:nvSpPr>
            <p:cNvPr id="99" name="Rounded Rectangle 4">
              <a:extLst>
                <a:ext uri="{FF2B5EF4-FFF2-40B4-BE49-F238E27FC236}">
                  <a16:creationId xmlns:a16="http://schemas.microsoft.com/office/drawing/2014/main" id="{DD99A551-0AB7-FA11-541C-AA71F1975F39}"/>
                </a:ext>
              </a:extLst>
            </p:cNvPr>
            <p:cNvSpPr/>
            <p:nvPr/>
          </p:nvSpPr>
          <p:spPr>
            <a:xfrm>
              <a:off x="3667292" y="2128510"/>
              <a:ext cx="1564059" cy="3109846"/>
            </a:xfrm>
            <a:prstGeom prst="roundRect">
              <a:avLst/>
            </a:prstGeom>
            <a:solidFill>
              <a:srgbClr val="FDF8F2"/>
            </a:solidFill>
            <a:ln w="28575">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3" name="TextBox 122">
              <a:extLst>
                <a:ext uri="{FF2B5EF4-FFF2-40B4-BE49-F238E27FC236}">
                  <a16:creationId xmlns:a16="http://schemas.microsoft.com/office/drawing/2014/main" id="{15E77EDC-7A4C-CC1B-EBBC-B933796478C2}"/>
                </a:ext>
              </a:extLst>
            </p:cNvPr>
            <p:cNvSpPr txBox="1"/>
            <p:nvPr/>
          </p:nvSpPr>
          <p:spPr>
            <a:xfrm>
              <a:off x="3667292" y="2466891"/>
              <a:ext cx="1564059" cy="2323713"/>
            </a:xfrm>
            <a:prstGeom prst="rect">
              <a:avLst/>
            </a:prstGeom>
            <a:noFill/>
            <a:effectLst/>
          </p:spPr>
          <p:txBody>
            <a:bodyPr wrap="square" anchor="ctr">
              <a:spAutoFit/>
            </a:bodyPr>
            <a:lstStyle>
              <a:lvl1pPr algn="ctr">
                <a:defRPr sz="1200" b="1">
                  <a:solidFill>
                    <a:srgbClr val="1E2C55"/>
                  </a:solidFill>
                  <a:latin typeface="Aptos"/>
                </a:defRPr>
              </a:lvl1pPr>
            </a:lstStyle>
            <a:p>
              <a:pPr>
                <a:spcBef>
                  <a:spcPts val="600"/>
                </a:spcBef>
              </a:pPr>
              <a:r>
                <a:rPr lang="en-ZA" sz="1600" dirty="0">
                  <a:solidFill>
                    <a:srgbClr val="C7A36F"/>
                  </a:solidFill>
                  <a:latin typeface="Montserrat" pitchFamily="2" charset="0"/>
                </a:rPr>
                <a:t>03</a:t>
              </a:r>
            </a:p>
            <a:p>
              <a:pPr>
                <a:spcBef>
                  <a:spcPts val="600"/>
                </a:spcBef>
              </a:pPr>
              <a:r>
                <a:rPr sz="1600" dirty="0">
                  <a:latin typeface="Montserrat SemiBold" pitchFamily="2" charset="0"/>
                </a:rPr>
                <a:t>QUOTE</a:t>
              </a:r>
              <a:endParaRPr lang="en-US" sz="1600" dirty="0">
                <a:latin typeface="Montserrat SemiBold" pitchFamily="2" charset="0"/>
              </a:endParaRPr>
            </a:p>
            <a:p>
              <a:r>
                <a:rPr lang="en-US" sz="1800" b="0" dirty="0"/>
                <a:t>We provide a tailored
quotation based on the scope of work involved</a:t>
              </a:r>
            </a:p>
          </p:txBody>
        </p:sp>
        <p:grpSp>
          <p:nvGrpSpPr>
            <p:cNvPr id="101" name="Group 100">
              <a:extLst>
                <a:ext uri="{FF2B5EF4-FFF2-40B4-BE49-F238E27FC236}">
                  <a16:creationId xmlns:a16="http://schemas.microsoft.com/office/drawing/2014/main" id="{3659061F-A946-8CE7-0256-28756E833A0D}"/>
                </a:ext>
              </a:extLst>
            </p:cNvPr>
            <p:cNvGrpSpPr/>
            <p:nvPr/>
          </p:nvGrpSpPr>
          <p:grpSpPr>
            <a:xfrm>
              <a:off x="4122920" y="1709070"/>
              <a:ext cx="652802" cy="652802"/>
              <a:chOff x="4160664" y="2056640"/>
              <a:chExt cx="652802" cy="652802"/>
            </a:xfrm>
          </p:grpSpPr>
          <p:sp>
            <p:nvSpPr>
              <p:cNvPr id="305" name="Oval 304">
                <a:extLst>
                  <a:ext uri="{FF2B5EF4-FFF2-40B4-BE49-F238E27FC236}">
                    <a16:creationId xmlns:a16="http://schemas.microsoft.com/office/drawing/2014/main" id="{EE86A0DB-C3EB-CE54-16C6-3FF49B4C7F47}"/>
                  </a:ext>
                </a:extLst>
              </p:cNvPr>
              <p:cNvSpPr/>
              <p:nvPr/>
            </p:nvSpPr>
            <p:spPr>
              <a:xfrm>
                <a:off x="4160664" y="2056640"/>
                <a:ext cx="652802" cy="652802"/>
              </a:xfrm>
              <a:prstGeom prst="ellipse">
                <a:avLst/>
              </a:prstGeom>
              <a:solidFill>
                <a:srgbClr val="1E2C55"/>
              </a:solidFill>
              <a:ln w="28575">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b="1" dirty="0">
                  <a:latin typeface="Montserrat SemiBold" pitchFamily="2" charset="0"/>
                </a:endParaRPr>
              </a:p>
            </p:txBody>
          </p:sp>
          <p:pic>
            <p:nvPicPr>
              <p:cNvPr id="97" name="Graphic 96" descr="Document with solid fill">
                <a:extLst>
                  <a:ext uri="{FF2B5EF4-FFF2-40B4-BE49-F238E27FC236}">
                    <a16:creationId xmlns:a16="http://schemas.microsoft.com/office/drawing/2014/main" id="{DA7D77E6-9855-3D56-E036-067FF72FC0A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324229" y="2220205"/>
                <a:ext cx="325672" cy="325672"/>
              </a:xfrm>
              <a:prstGeom prst="rect">
                <a:avLst/>
              </a:prstGeom>
              <a:effectLst/>
            </p:spPr>
          </p:pic>
        </p:grpSp>
        <p:sp>
          <p:nvSpPr>
            <p:cNvPr id="88" name="Rounded Rectangle 4">
              <a:extLst>
                <a:ext uri="{FF2B5EF4-FFF2-40B4-BE49-F238E27FC236}">
                  <a16:creationId xmlns:a16="http://schemas.microsoft.com/office/drawing/2014/main" id="{DC0886B9-AAAE-859E-880F-B6B8822470F8}"/>
                </a:ext>
              </a:extLst>
            </p:cNvPr>
            <p:cNvSpPr/>
            <p:nvPr/>
          </p:nvSpPr>
          <p:spPr>
            <a:xfrm>
              <a:off x="10345226" y="2122383"/>
              <a:ext cx="1564059" cy="3109846"/>
            </a:xfrm>
            <a:prstGeom prst="roundRect">
              <a:avLst/>
            </a:prstGeom>
            <a:solidFill>
              <a:srgbClr val="FDF8F2"/>
            </a:solidFill>
            <a:ln w="10160">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9" name="TextBox 128">
              <a:extLst>
                <a:ext uri="{FF2B5EF4-FFF2-40B4-BE49-F238E27FC236}">
                  <a16:creationId xmlns:a16="http://schemas.microsoft.com/office/drawing/2014/main" id="{3801B28A-E692-ACF5-CC30-5ACAC66B9324}"/>
                </a:ext>
              </a:extLst>
            </p:cNvPr>
            <p:cNvSpPr txBox="1"/>
            <p:nvPr/>
          </p:nvSpPr>
          <p:spPr>
            <a:xfrm>
              <a:off x="10372875" y="2466891"/>
              <a:ext cx="1508760" cy="2292935"/>
            </a:xfrm>
            <a:prstGeom prst="rect">
              <a:avLst/>
            </a:prstGeom>
            <a:noFill/>
            <a:effectLst/>
          </p:spPr>
          <p:txBody>
            <a:bodyPr wrap="square" anchor="ctr">
              <a:spAutoFit/>
            </a:bodyPr>
            <a:lstStyle>
              <a:lvl1pPr algn="ctr">
                <a:defRPr sz="1200" b="1">
                  <a:solidFill>
                    <a:srgbClr val="1E2C55"/>
                  </a:solidFill>
                  <a:latin typeface="Aptos"/>
                </a:defRPr>
              </a:lvl1pPr>
            </a:lstStyle>
            <a:p>
              <a:pPr>
                <a:spcBef>
                  <a:spcPts val="600"/>
                </a:spcBef>
              </a:pPr>
              <a:r>
                <a:rPr lang="en-US" sz="1600" dirty="0">
                  <a:solidFill>
                    <a:srgbClr val="C7A36F"/>
                  </a:solidFill>
                  <a:latin typeface="Montserrat" pitchFamily="2" charset="0"/>
                </a:rPr>
                <a:t>07</a:t>
              </a:r>
            </a:p>
            <a:p>
              <a:pPr>
                <a:spcBef>
                  <a:spcPts val="600"/>
                </a:spcBef>
              </a:pPr>
              <a:r>
                <a:rPr lang="en-ZA" sz="1600" b="0" dirty="0">
                  <a:latin typeface="Montserrat SemiBold" pitchFamily="2" charset="0"/>
                </a:rPr>
                <a:t>FOLLOW UP</a:t>
              </a:r>
            </a:p>
            <a:p>
              <a:r>
                <a:rPr lang="en-US" sz="1800" b="0" dirty="0"/>
                <a:t>We’re here for any
clarification within
7 days</a:t>
              </a:r>
            </a:p>
            <a:p>
              <a:endParaRPr sz="1600" dirty="0"/>
            </a:p>
          </p:txBody>
        </p:sp>
        <p:grpSp>
          <p:nvGrpSpPr>
            <p:cNvPr id="105" name="Group 104">
              <a:extLst>
                <a:ext uri="{FF2B5EF4-FFF2-40B4-BE49-F238E27FC236}">
                  <a16:creationId xmlns:a16="http://schemas.microsoft.com/office/drawing/2014/main" id="{5CA30ED1-CED7-AF22-EDC0-90E775E6113B}"/>
                </a:ext>
              </a:extLst>
            </p:cNvPr>
            <p:cNvGrpSpPr/>
            <p:nvPr/>
          </p:nvGrpSpPr>
          <p:grpSpPr>
            <a:xfrm>
              <a:off x="10800854" y="1709070"/>
              <a:ext cx="652802" cy="652802"/>
              <a:chOff x="10793972" y="2056640"/>
              <a:chExt cx="652802" cy="652802"/>
            </a:xfrm>
          </p:grpSpPr>
          <p:sp>
            <p:nvSpPr>
              <p:cNvPr id="313" name="Oval 312">
                <a:extLst>
                  <a:ext uri="{FF2B5EF4-FFF2-40B4-BE49-F238E27FC236}">
                    <a16:creationId xmlns:a16="http://schemas.microsoft.com/office/drawing/2014/main" id="{398ED890-15A4-C36A-685A-762E5E70FFFE}"/>
                  </a:ext>
                </a:extLst>
              </p:cNvPr>
              <p:cNvSpPr/>
              <p:nvPr/>
            </p:nvSpPr>
            <p:spPr>
              <a:xfrm>
                <a:off x="10793972" y="2056640"/>
                <a:ext cx="652802" cy="652802"/>
              </a:xfrm>
              <a:prstGeom prst="ellipse">
                <a:avLst/>
              </a:prstGeom>
              <a:solidFill>
                <a:srgbClr val="1E2C55"/>
              </a:solidFill>
              <a:ln w="28575">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b="1" dirty="0">
                  <a:latin typeface="Montserrat SemiBold" pitchFamily="2" charset="0"/>
                </a:endParaRPr>
              </a:p>
            </p:txBody>
          </p:sp>
          <p:pic>
            <p:nvPicPr>
              <p:cNvPr id="122" name="Graphic 121" descr="Telephone with solid fill">
                <a:extLst>
                  <a:ext uri="{FF2B5EF4-FFF2-40B4-BE49-F238E27FC236}">
                    <a16:creationId xmlns:a16="http://schemas.microsoft.com/office/drawing/2014/main" id="{052CE86A-DBFC-FB65-39F6-4CEC538B539D}"/>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959972" y="2222640"/>
                <a:ext cx="320803" cy="320803"/>
              </a:xfrm>
              <a:prstGeom prst="rect">
                <a:avLst/>
              </a:prstGeom>
              <a:effectLst/>
            </p:spPr>
          </p:pic>
        </p:grpSp>
        <p:sp>
          <p:nvSpPr>
            <p:cNvPr id="94" name="Rounded Rectangle 4">
              <a:extLst>
                <a:ext uri="{FF2B5EF4-FFF2-40B4-BE49-F238E27FC236}">
                  <a16:creationId xmlns:a16="http://schemas.microsoft.com/office/drawing/2014/main" id="{180DA28A-49F6-E298-AA9B-0A54B8C3D96E}"/>
                </a:ext>
              </a:extLst>
            </p:cNvPr>
            <p:cNvSpPr/>
            <p:nvPr/>
          </p:nvSpPr>
          <p:spPr>
            <a:xfrm>
              <a:off x="5336775" y="2108906"/>
              <a:ext cx="1564059" cy="3109846"/>
            </a:xfrm>
            <a:prstGeom prst="roundRect">
              <a:avLst/>
            </a:prstGeom>
            <a:solidFill>
              <a:srgbClr val="FDF8F2"/>
            </a:solidFill>
            <a:ln w="28575">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5" name="TextBox 124">
              <a:extLst>
                <a:ext uri="{FF2B5EF4-FFF2-40B4-BE49-F238E27FC236}">
                  <a16:creationId xmlns:a16="http://schemas.microsoft.com/office/drawing/2014/main" id="{095B70B3-BFC7-B968-EC86-E216BC6F48FB}"/>
                </a:ext>
              </a:extLst>
            </p:cNvPr>
            <p:cNvSpPr txBox="1"/>
            <p:nvPr/>
          </p:nvSpPr>
          <p:spPr>
            <a:xfrm>
              <a:off x="5336775" y="2466891"/>
              <a:ext cx="1564059" cy="2600712"/>
            </a:xfrm>
            <a:prstGeom prst="rect">
              <a:avLst/>
            </a:prstGeom>
            <a:noFill/>
            <a:effectLst/>
          </p:spPr>
          <p:txBody>
            <a:bodyPr wrap="square" anchor="ctr">
              <a:spAutoFit/>
            </a:bodyPr>
            <a:lstStyle>
              <a:lvl1pPr algn="ctr">
                <a:defRPr sz="1200" b="1">
                  <a:solidFill>
                    <a:srgbClr val="1E2C55"/>
                  </a:solidFill>
                  <a:latin typeface="Aptos"/>
                </a:defRPr>
              </a:lvl1pPr>
            </a:lstStyle>
            <a:p>
              <a:pPr>
                <a:spcBef>
                  <a:spcPts val="600"/>
                </a:spcBef>
              </a:pPr>
              <a:r>
                <a:rPr lang="en-US" sz="1600" dirty="0">
                  <a:solidFill>
                    <a:srgbClr val="C7A36F"/>
                  </a:solidFill>
                  <a:latin typeface="Montserrat" pitchFamily="2" charset="0"/>
                </a:rPr>
                <a:t>04</a:t>
              </a:r>
            </a:p>
            <a:p>
              <a:pPr>
                <a:spcBef>
                  <a:spcPts val="600"/>
                </a:spcBef>
              </a:pPr>
              <a:r>
                <a:rPr lang="en-US" sz="1600" dirty="0">
                  <a:latin typeface="Montserrat SemiBold" pitchFamily="2" charset="0"/>
                </a:rPr>
                <a:t>DEPOSIT</a:t>
              </a:r>
            </a:p>
            <a:p>
              <a:r>
                <a:rPr lang="en-US" sz="1800" b="0" dirty="0"/>
                <a:t>A 50% deposit
is required. Once the deposit is received, we begin</a:t>
              </a:r>
            </a:p>
          </p:txBody>
        </p:sp>
        <p:grpSp>
          <p:nvGrpSpPr>
            <p:cNvPr id="102" name="Group 101">
              <a:extLst>
                <a:ext uri="{FF2B5EF4-FFF2-40B4-BE49-F238E27FC236}">
                  <a16:creationId xmlns:a16="http://schemas.microsoft.com/office/drawing/2014/main" id="{BFA6032F-2890-F8D5-D468-CC41BE63EE8A}"/>
                </a:ext>
              </a:extLst>
            </p:cNvPr>
            <p:cNvGrpSpPr/>
            <p:nvPr/>
          </p:nvGrpSpPr>
          <p:grpSpPr>
            <a:xfrm>
              <a:off x="5792403" y="1709070"/>
              <a:ext cx="652802" cy="652802"/>
              <a:chOff x="5802025" y="2056640"/>
              <a:chExt cx="652802" cy="652802"/>
            </a:xfrm>
          </p:grpSpPr>
          <p:sp>
            <p:nvSpPr>
              <p:cNvPr id="307" name="Oval 306">
                <a:extLst>
                  <a:ext uri="{FF2B5EF4-FFF2-40B4-BE49-F238E27FC236}">
                    <a16:creationId xmlns:a16="http://schemas.microsoft.com/office/drawing/2014/main" id="{A4B70626-1565-F5D9-95D1-2E6226109070}"/>
                  </a:ext>
                </a:extLst>
              </p:cNvPr>
              <p:cNvSpPr/>
              <p:nvPr/>
            </p:nvSpPr>
            <p:spPr>
              <a:xfrm>
                <a:off x="5802025" y="2056640"/>
                <a:ext cx="652802" cy="652802"/>
              </a:xfrm>
              <a:prstGeom prst="ellipse">
                <a:avLst/>
              </a:prstGeom>
              <a:solidFill>
                <a:srgbClr val="1E2C55"/>
              </a:solidFill>
              <a:ln w="28575">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b="1" dirty="0">
                  <a:latin typeface="Montserrat SemiBold" pitchFamily="2" charset="0"/>
                </a:endParaRPr>
              </a:p>
            </p:txBody>
          </p:sp>
          <p:pic>
            <p:nvPicPr>
              <p:cNvPr id="151" name="Graphic 150" descr="Coins with solid fill">
                <a:extLst>
                  <a:ext uri="{FF2B5EF4-FFF2-40B4-BE49-F238E27FC236}">
                    <a16:creationId xmlns:a16="http://schemas.microsoft.com/office/drawing/2014/main" id="{60A3BFCF-C7CC-56E8-625A-B152ED250F91}"/>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5938528" y="2193143"/>
                <a:ext cx="379797" cy="379797"/>
              </a:xfrm>
              <a:prstGeom prst="rect">
                <a:avLst/>
              </a:prstGeom>
            </p:spPr>
          </p:pic>
        </p:grpSp>
        <p:sp>
          <p:nvSpPr>
            <p:cNvPr id="92" name="Rounded Rectangle 4">
              <a:extLst>
                <a:ext uri="{FF2B5EF4-FFF2-40B4-BE49-F238E27FC236}">
                  <a16:creationId xmlns:a16="http://schemas.microsoft.com/office/drawing/2014/main" id="{425C1685-B118-84E7-326C-97FC40271261}"/>
                </a:ext>
              </a:extLst>
            </p:cNvPr>
            <p:cNvSpPr/>
            <p:nvPr/>
          </p:nvSpPr>
          <p:spPr>
            <a:xfrm>
              <a:off x="7006258" y="2102111"/>
              <a:ext cx="1564059" cy="3109846"/>
            </a:xfrm>
            <a:prstGeom prst="roundRect">
              <a:avLst/>
            </a:prstGeom>
            <a:solidFill>
              <a:srgbClr val="FDF8F2"/>
            </a:solidFill>
            <a:ln w="28575">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0" name="TextBox 119">
              <a:extLst>
                <a:ext uri="{FF2B5EF4-FFF2-40B4-BE49-F238E27FC236}">
                  <a16:creationId xmlns:a16="http://schemas.microsoft.com/office/drawing/2014/main" id="{D40F8B80-886C-8576-8BDC-2833354216BA}"/>
                </a:ext>
              </a:extLst>
            </p:cNvPr>
            <p:cNvSpPr txBox="1"/>
            <p:nvPr/>
          </p:nvSpPr>
          <p:spPr>
            <a:xfrm>
              <a:off x="7079410" y="2466891"/>
              <a:ext cx="1417755" cy="2015936"/>
            </a:xfrm>
            <a:prstGeom prst="rect">
              <a:avLst/>
            </a:prstGeom>
            <a:noFill/>
            <a:effectLst/>
          </p:spPr>
          <p:txBody>
            <a:bodyPr wrap="square" anchor="ctr">
              <a:spAutoFit/>
            </a:bodyPr>
            <a:lstStyle>
              <a:lvl1pPr algn="ctr">
                <a:defRPr sz="1200" b="1">
                  <a:solidFill>
                    <a:srgbClr val="1E2C55"/>
                  </a:solidFill>
                  <a:latin typeface="Aptos"/>
                </a:defRPr>
              </a:lvl1pPr>
            </a:lstStyle>
            <a:p>
              <a:pPr>
                <a:spcBef>
                  <a:spcPts val="600"/>
                </a:spcBef>
              </a:pPr>
              <a:r>
                <a:rPr lang="en-US" sz="1600" dirty="0">
                  <a:solidFill>
                    <a:srgbClr val="C7A36F"/>
                  </a:solidFill>
                  <a:latin typeface="Montserrat" pitchFamily="2" charset="0"/>
                </a:rPr>
                <a:t>05</a:t>
              </a:r>
            </a:p>
            <a:p>
              <a:pPr>
                <a:spcBef>
                  <a:spcPts val="600"/>
                </a:spcBef>
              </a:pPr>
              <a:r>
                <a:rPr sz="1600" dirty="0">
                  <a:latin typeface="Montserrat SemiBold" pitchFamily="2" charset="0"/>
                </a:rPr>
                <a:t>RES</a:t>
              </a:r>
              <a:r>
                <a:rPr lang="en-ZA" sz="1600" dirty="0">
                  <a:latin typeface="Montserrat SemiBold" pitchFamily="2" charset="0"/>
                </a:rPr>
                <a:t>E</a:t>
              </a:r>
              <a:r>
                <a:rPr sz="1600" dirty="0">
                  <a:latin typeface="Montserrat SemiBold" pitchFamily="2" charset="0"/>
                </a:rPr>
                <a:t>ARCH</a:t>
              </a:r>
              <a:endParaRPr lang="en-US" sz="1600" dirty="0">
                <a:latin typeface="Montserrat SemiBold" pitchFamily="2" charset="0"/>
              </a:endParaRPr>
            </a:p>
            <a:p>
              <a:r>
                <a:rPr lang="en-US" sz="1800" b="0" dirty="0"/>
                <a:t>We conduct
in-depth research
and analysis</a:t>
              </a:r>
            </a:p>
            <a:p>
              <a:endParaRPr sz="1600" dirty="0"/>
            </a:p>
          </p:txBody>
        </p:sp>
        <p:grpSp>
          <p:nvGrpSpPr>
            <p:cNvPr id="103" name="Group 102">
              <a:extLst>
                <a:ext uri="{FF2B5EF4-FFF2-40B4-BE49-F238E27FC236}">
                  <a16:creationId xmlns:a16="http://schemas.microsoft.com/office/drawing/2014/main" id="{0D8326C8-1E4F-2EC9-9F0C-39F5B9779675}"/>
                </a:ext>
              </a:extLst>
            </p:cNvPr>
            <p:cNvGrpSpPr/>
            <p:nvPr/>
          </p:nvGrpSpPr>
          <p:grpSpPr>
            <a:xfrm>
              <a:off x="7461886" y="1709070"/>
              <a:ext cx="652802" cy="652802"/>
              <a:chOff x="7471663" y="2056640"/>
              <a:chExt cx="652802" cy="652802"/>
            </a:xfrm>
          </p:grpSpPr>
          <p:sp>
            <p:nvSpPr>
              <p:cNvPr id="309" name="Oval 308">
                <a:extLst>
                  <a:ext uri="{FF2B5EF4-FFF2-40B4-BE49-F238E27FC236}">
                    <a16:creationId xmlns:a16="http://schemas.microsoft.com/office/drawing/2014/main" id="{7D5A1103-5590-B29B-D0B0-689AA6081046}"/>
                  </a:ext>
                </a:extLst>
              </p:cNvPr>
              <p:cNvSpPr/>
              <p:nvPr/>
            </p:nvSpPr>
            <p:spPr>
              <a:xfrm>
                <a:off x="7471663" y="2056640"/>
                <a:ext cx="652802" cy="652802"/>
              </a:xfrm>
              <a:prstGeom prst="ellipse">
                <a:avLst/>
              </a:prstGeom>
              <a:solidFill>
                <a:srgbClr val="1E2C55"/>
              </a:solidFill>
              <a:ln w="28575">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b="1" dirty="0">
                  <a:latin typeface="Montserrat SemiBold" pitchFamily="2" charset="0"/>
                </a:endParaRPr>
              </a:p>
            </p:txBody>
          </p:sp>
          <p:pic>
            <p:nvPicPr>
              <p:cNvPr id="118" name="Graphic 117" descr="Magnifying glass with solid fill">
                <a:extLst>
                  <a:ext uri="{FF2B5EF4-FFF2-40B4-BE49-F238E27FC236}">
                    <a16:creationId xmlns:a16="http://schemas.microsoft.com/office/drawing/2014/main" id="{284FA5A4-63DF-2EF3-E622-443C0CD8B604}"/>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7621756" y="2206733"/>
                <a:ext cx="352617" cy="352617"/>
              </a:xfrm>
              <a:prstGeom prst="rect">
                <a:avLst/>
              </a:prstGeom>
              <a:effectLst/>
            </p:spPr>
          </p:pic>
        </p:grpSp>
        <p:sp>
          <p:nvSpPr>
            <p:cNvPr id="96" name="Rounded Rectangle 4">
              <a:extLst>
                <a:ext uri="{FF2B5EF4-FFF2-40B4-BE49-F238E27FC236}">
                  <a16:creationId xmlns:a16="http://schemas.microsoft.com/office/drawing/2014/main" id="{BBA926F5-9C6F-8921-CC75-3E88482AD48B}"/>
                </a:ext>
              </a:extLst>
            </p:cNvPr>
            <p:cNvSpPr/>
            <p:nvPr/>
          </p:nvSpPr>
          <p:spPr>
            <a:xfrm>
              <a:off x="1997809" y="2128510"/>
              <a:ext cx="1564059" cy="3109846"/>
            </a:xfrm>
            <a:prstGeom prst="roundRect">
              <a:avLst/>
            </a:prstGeom>
            <a:solidFill>
              <a:srgbClr val="FDF8F2"/>
            </a:solidFill>
            <a:ln w="28575">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1" name="TextBox 130">
              <a:extLst>
                <a:ext uri="{FF2B5EF4-FFF2-40B4-BE49-F238E27FC236}">
                  <a16:creationId xmlns:a16="http://schemas.microsoft.com/office/drawing/2014/main" id="{D447C776-A7A6-2F53-A411-77E17265C5E9}"/>
                </a:ext>
              </a:extLst>
            </p:cNvPr>
            <p:cNvSpPr txBox="1"/>
            <p:nvPr/>
          </p:nvSpPr>
          <p:spPr>
            <a:xfrm>
              <a:off x="1997809" y="2466891"/>
              <a:ext cx="1564059" cy="2600712"/>
            </a:xfrm>
            <a:prstGeom prst="rect">
              <a:avLst/>
            </a:prstGeom>
            <a:noFill/>
            <a:effectLst/>
          </p:spPr>
          <p:txBody>
            <a:bodyPr wrap="square" anchor="ctr">
              <a:spAutoFit/>
            </a:bodyPr>
            <a:lstStyle>
              <a:lvl1pPr algn="ctr">
                <a:defRPr sz="1200" b="1">
                  <a:solidFill>
                    <a:srgbClr val="1E2C55"/>
                  </a:solidFill>
                  <a:latin typeface="Aptos"/>
                </a:defRPr>
              </a:lvl1pPr>
            </a:lstStyle>
            <a:p>
              <a:pPr>
                <a:spcBef>
                  <a:spcPts val="600"/>
                </a:spcBef>
              </a:pPr>
              <a:r>
                <a:rPr lang="en-ZA" sz="1600" dirty="0">
                  <a:solidFill>
                    <a:srgbClr val="C7A36F"/>
                  </a:solidFill>
                  <a:latin typeface="Montserrat" pitchFamily="2" charset="0"/>
                </a:rPr>
                <a:t>02</a:t>
              </a:r>
            </a:p>
            <a:p>
              <a:pPr>
                <a:spcBef>
                  <a:spcPts val="600"/>
                </a:spcBef>
              </a:pPr>
              <a:r>
                <a:rPr sz="1600" dirty="0">
                  <a:latin typeface="Montserrat SemiBold" pitchFamily="2" charset="0"/>
                </a:rPr>
                <a:t>DISCOVERY</a:t>
              </a:r>
              <a:endParaRPr lang="en-US" sz="1600" dirty="0">
                <a:latin typeface="Montserrat SemiBold" pitchFamily="2" charset="0"/>
              </a:endParaRPr>
            </a:p>
            <a:p>
              <a:r>
                <a:rPr lang="en-US" sz="1800" b="0" dirty="0"/>
                <a:t>We have an online 
Discovery call to understand
your needs, priorities
&amp; preferences</a:t>
              </a:r>
              <a:endParaRPr sz="1800" dirty="0"/>
            </a:p>
          </p:txBody>
        </p:sp>
        <p:grpSp>
          <p:nvGrpSpPr>
            <p:cNvPr id="100" name="Group 99">
              <a:extLst>
                <a:ext uri="{FF2B5EF4-FFF2-40B4-BE49-F238E27FC236}">
                  <a16:creationId xmlns:a16="http://schemas.microsoft.com/office/drawing/2014/main" id="{4F849389-215D-6031-611C-22B6D49704B4}"/>
                </a:ext>
              </a:extLst>
            </p:cNvPr>
            <p:cNvGrpSpPr/>
            <p:nvPr/>
          </p:nvGrpSpPr>
          <p:grpSpPr>
            <a:xfrm>
              <a:off x="2453437" y="1709070"/>
              <a:ext cx="652802" cy="652802"/>
              <a:chOff x="2476888" y="2056640"/>
              <a:chExt cx="652802" cy="652802"/>
            </a:xfrm>
          </p:grpSpPr>
          <p:sp>
            <p:nvSpPr>
              <p:cNvPr id="13" name="Oval 12">
                <a:extLst>
                  <a:ext uri="{FF2B5EF4-FFF2-40B4-BE49-F238E27FC236}">
                    <a16:creationId xmlns:a16="http://schemas.microsoft.com/office/drawing/2014/main" id="{F75EF8E8-B8BC-D997-46C2-2527AC665C2E}"/>
                  </a:ext>
                </a:extLst>
              </p:cNvPr>
              <p:cNvSpPr/>
              <p:nvPr/>
            </p:nvSpPr>
            <p:spPr>
              <a:xfrm>
                <a:off x="2476888" y="2056640"/>
                <a:ext cx="652802" cy="652802"/>
              </a:xfrm>
              <a:prstGeom prst="ellipse">
                <a:avLst/>
              </a:prstGeom>
              <a:solidFill>
                <a:srgbClr val="1E2C55"/>
              </a:solidFill>
              <a:ln w="28575">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b="1" dirty="0">
                  <a:latin typeface="Montserrat SemiBold" pitchFamily="2" charset="0"/>
                </a:endParaRPr>
              </a:p>
            </p:txBody>
          </p:sp>
          <p:pic>
            <p:nvPicPr>
              <p:cNvPr id="335" name="Graphic 334" descr="Chat outline">
                <a:extLst>
                  <a:ext uri="{FF2B5EF4-FFF2-40B4-BE49-F238E27FC236}">
                    <a16:creationId xmlns:a16="http://schemas.microsoft.com/office/drawing/2014/main" id="{190AC525-B925-336F-1B88-E6595F32DC6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557204" y="2136956"/>
                <a:ext cx="492170" cy="492170"/>
              </a:xfrm>
              <a:prstGeom prst="rect">
                <a:avLst/>
              </a:prstGeom>
              <a:effectLst/>
            </p:spPr>
          </p:pic>
        </p:grpSp>
        <p:sp>
          <p:nvSpPr>
            <p:cNvPr id="90" name="Rounded Rectangle 4">
              <a:extLst>
                <a:ext uri="{FF2B5EF4-FFF2-40B4-BE49-F238E27FC236}">
                  <a16:creationId xmlns:a16="http://schemas.microsoft.com/office/drawing/2014/main" id="{22B4F1B2-893F-253A-45F2-8338FB24A0B0}"/>
                </a:ext>
              </a:extLst>
            </p:cNvPr>
            <p:cNvSpPr/>
            <p:nvPr/>
          </p:nvSpPr>
          <p:spPr>
            <a:xfrm>
              <a:off x="8675741" y="2108906"/>
              <a:ext cx="1564059" cy="3109846"/>
            </a:xfrm>
            <a:prstGeom prst="roundRect">
              <a:avLst/>
            </a:prstGeom>
            <a:solidFill>
              <a:srgbClr val="FDF8F2"/>
            </a:solidFill>
            <a:ln w="28575">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7" name="TextBox 126">
              <a:extLst>
                <a:ext uri="{FF2B5EF4-FFF2-40B4-BE49-F238E27FC236}">
                  <a16:creationId xmlns:a16="http://schemas.microsoft.com/office/drawing/2014/main" id="{02F8C953-5014-4310-D0F5-E11881543BEB}"/>
                </a:ext>
              </a:extLst>
            </p:cNvPr>
            <p:cNvSpPr txBox="1"/>
            <p:nvPr/>
          </p:nvSpPr>
          <p:spPr>
            <a:xfrm>
              <a:off x="8675741" y="2466891"/>
              <a:ext cx="1564059" cy="2292935"/>
            </a:xfrm>
            <a:prstGeom prst="rect">
              <a:avLst/>
            </a:prstGeom>
            <a:noFill/>
            <a:effectLst/>
          </p:spPr>
          <p:txBody>
            <a:bodyPr wrap="square" anchor="ctr">
              <a:spAutoFit/>
            </a:bodyPr>
            <a:lstStyle>
              <a:lvl1pPr algn="ctr">
                <a:defRPr sz="1200" b="1">
                  <a:solidFill>
                    <a:srgbClr val="1E2C55"/>
                  </a:solidFill>
                  <a:latin typeface="Aptos"/>
                </a:defRPr>
              </a:lvl1pPr>
            </a:lstStyle>
            <a:p>
              <a:pPr>
                <a:spcBef>
                  <a:spcPts val="600"/>
                </a:spcBef>
              </a:pPr>
              <a:r>
                <a:rPr lang="en-US" sz="1600" dirty="0">
                  <a:solidFill>
                    <a:srgbClr val="C7A36F"/>
                  </a:solidFill>
                  <a:latin typeface="Montserrat" pitchFamily="2" charset="0"/>
                </a:rPr>
                <a:t>06</a:t>
              </a:r>
            </a:p>
            <a:p>
              <a:pPr>
                <a:spcBef>
                  <a:spcPts val="600"/>
                </a:spcBef>
              </a:pPr>
              <a:r>
                <a:rPr sz="1600" dirty="0">
                  <a:latin typeface="Montserrat SemiBold" pitchFamily="2" charset="0"/>
                </a:rPr>
                <a:t>REPORT</a:t>
              </a:r>
              <a:endParaRPr lang="en-US" sz="1600" dirty="0">
                <a:latin typeface="Montserrat SemiBold" pitchFamily="2" charset="0"/>
              </a:endParaRPr>
            </a:p>
            <a:p>
              <a:r>
                <a:rPr lang="en-US" sz="1800" b="0" dirty="0"/>
                <a:t>We present your bespoke report online at a time that works for you</a:t>
              </a:r>
            </a:p>
            <a:p>
              <a:endParaRPr sz="1600" dirty="0"/>
            </a:p>
          </p:txBody>
        </p:sp>
        <p:sp>
          <p:nvSpPr>
            <p:cNvPr id="311" name="Oval 310">
              <a:extLst>
                <a:ext uri="{FF2B5EF4-FFF2-40B4-BE49-F238E27FC236}">
                  <a16:creationId xmlns:a16="http://schemas.microsoft.com/office/drawing/2014/main" id="{10B9BB20-E8E0-ED84-C5A8-B97B6D58B147}"/>
                </a:ext>
              </a:extLst>
            </p:cNvPr>
            <p:cNvSpPr/>
            <p:nvPr/>
          </p:nvSpPr>
          <p:spPr>
            <a:xfrm>
              <a:off x="9131369" y="1709070"/>
              <a:ext cx="652802" cy="652802"/>
            </a:xfrm>
            <a:prstGeom prst="ellipse">
              <a:avLst/>
            </a:prstGeom>
            <a:solidFill>
              <a:srgbClr val="1E2C55"/>
            </a:solidFill>
            <a:ln w="28575">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b="1" dirty="0">
                <a:latin typeface="Montserrat SemiBold" pitchFamily="2" charset="0"/>
              </a:endParaRPr>
            </a:p>
          </p:txBody>
        </p:sp>
        <p:pic>
          <p:nvPicPr>
            <p:cNvPr id="332" name="Graphic 331" descr="Presentation with pie chart with solid fill">
              <a:extLst>
                <a:ext uri="{FF2B5EF4-FFF2-40B4-BE49-F238E27FC236}">
                  <a16:creationId xmlns:a16="http://schemas.microsoft.com/office/drawing/2014/main" id="{6A506D86-52FC-B963-7677-00F657FC4D1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9267872" y="1845573"/>
              <a:ext cx="379797" cy="379797"/>
            </a:xfrm>
            <a:prstGeom prst="rect">
              <a:avLst/>
            </a:prstGeom>
          </p:spPr>
        </p:pic>
        <p:sp>
          <p:nvSpPr>
            <p:cNvPr id="5" name="Rounded Rectangle 4"/>
            <p:cNvSpPr/>
            <p:nvPr/>
          </p:nvSpPr>
          <p:spPr>
            <a:xfrm>
              <a:off x="328326" y="2134423"/>
              <a:ext cx="1564059" cy="3109846"/>
            </a:xfrm>
            <a:prstGeom prst="roundRect">
              <a:avLst/>
            </a:prstGeom>
            <a:solidFill>
              <a:srgbClr val="FDF8F2"/>
            </a:solidFill>
            <a:ln w="28575">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7" name="TextBox 116">
              <a:extLst>
                <a:ext uri="{FF2B5EF4-FFF2-40B4-BE49-F238E27FC236}">
                  <a16:creationId xmlns:a16="http://schemas.microsoft.com/office/drawing/2014/main" id="{EC87FAFD-1F01-C072-A470-5FC974458659}"/>
                </a:ext>
              </a:extLst>
            </p:cNvPr>
            <p:cNvSpPr txBox="1"/>
            <p:nvPr/>
          </p:nvSpPr>
          <p:spPr>
            <a:xfrm>
              <a:off x="328326" y="2466891"/>
              <a:ext cx="1564058" cy="2569934"/>
            </a:xfrm>
            <a:prstGeom prst="rect">
              <a:avLst/>
            </a:prstGeom>
            <a:noFill/>
            <a:effectLst/>
          </p:spPr>
          <p:txBody>
            <a:bodyPr wrap="square" anchor="ctr">
              <a:spAutoFit/>
            </a:bodyPr>
            <a:lstStyle/>
            <a:p>
              <a:pPr algn="ctr">
                <a:spcBef>
                  <a:spcPts val="600"/>
                </a:spcBef>
              </a:pPr>
              <a:r>
                <a:rPr lang="en-US" sz="1600" b="1" dirty="0">
                  <a:solidFill>
                    <a:srgbClr val="C7A36F"/>
                  </a:solidFill>
                  <a:latin typeface="Montserrat" pitchFamily="2" charset="0"/>
                </a:rPr>
                <a:t>01</a:t>
              </a:r>
            </a:p>
            <a:p>
              <a:pPr algn="ctr">
                <a:spcBef>
                  <a:spcPts val="600"/>
                </a:spcBef>
              </a:pPr>
              <a:r>
                <a:rPr sz="1600" b="1" dirty="0">
                  <a:solidFill>
                    <a:srgbClr val="1E2C55"/>
                  </a:solidFill>
                  <a:latin typeface="Montserrat SemiBold" pitchFamily="2" charset="0"/>
                </a:rPr>
                <a:t>STARTING</a:t>
              </a:r>
              <a:r>
                <a:rPr sz="1600" dirty="0">
                  <a:solidFill>
                    <a:srgbClr val="1E2C55"/>
                  </a:solidFill>
                  <a:latin typeface="Montserrat SemiBold" pitchFamily="2" charset="0"/>
                </a:rPr>
                <a:t> </a:t>
              </a:r>
              <a:r>
                <a:rPr sz="1600" b="1" dirty="0">
                  <a:solidFill>
                    <a:srgbClr val="1E2C55"/>
                  </a:solidFill>
                  <a:latin typeface="Montserrat SemiBold" pitchFamily="2" charset="0"/>
                </a:rPr>
                <a:t>POINT</a:t>
              </a:r>
              <a:endParaRPr lang="en-US" sz="1600" b="1" dirty="0">
                <a:solidFill>
                  <a:srgbClr val="1E2C55"/>
                </a:solidFill>
                <a:latin typeface="Montserrat SemiBold" pitchFamily="2" charset="0"/>
              </a:endParaRPr>
            </a:p>
            <a:p>
              <a:pPr algn="ctr"/>
              <a:r>
                <a:rPr lang="en-US" dirty="0">
                  <a:solidFill>
                    <a:srgbClr val="1E2C55"/>
                  </a:solidFill>
                  <a:latin typeface="Aptos"/>
                </a:rPr>
                <a:t>Get in touch via
our website, socials,
WhatsApp or email</a:t>
              </a:r>
            </a:p>
          </p:txBody>
        </p:sp>
        <p:grpSp>
          <p:nvGrpSpPr>
            <p:cNvPr id="86" name="Group 85">
              <a:extLst>
                <a:ext uri="{FF2B5EF4-FFF2-40B4-BE49-F238E27FC236}">
                  <a16:creationId xmlns:a16="http://schemas.microsoft.com/office/drawing/2014/main" id="{EF2E61E1-09B2-FA9A-E202-3D81495B59B1}"/>
                </a:ext>
              </a:extLst>
            </p:cNvPr>
            <p:cNvGrpSpPr/>
            <p:nvPr/>
          </p:nvGrpSpPr>
          <p:grpSpPr>
            <a:xfrm>
              <a:off x="783954" y="1709070"/>
              <a:ext cx="652802" cy="652802"/>
              <a:chOff x="849666" y="2056640"/>
              <a:chExt cx="652802" cy="652802"/>
            </a:xfrm>
          </p:grpSpPr>
          <p:sp>
            <p:nvSpPr>
              <p:cNvPr id="290" name="Oval 289">
                <a:extLst>
                  <a:ext uri="{FF2B5EF4-FFF2-40B4-BE49-F238E27FC236}">
                    <a16:creationId xmlns:a16="http://schemas.microsoft.com/office/drawing/2014/main" id="{0EC3DAB1-2445-560B-3021-FAE715775173}"/>
                  </a:ext>
                </a:extLst>
              </p:cNvPr>
              <p:cNvSpPr/>
              <p:nvPr/>
            </p:nvSpPr>
            <p:spPr>
              <a:xfrm>
                <a:off x="849666" y="2056640"/>
                <a:ext cx="652802" cy="652802"/>
              </a:xfrm>
              <a:prstGeom prst="ellipse">
                <a:avLst/>
              </a:prstGeom>
              <a:solidFill>
                <a:srgbClr val="1E2C55"/>
              </a:solidFill>
              <a:ln w="28575">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b="1" dirty="0">
                  <a:latin typeface="Montserrat SemiBold" pitchFamily="2" charset="0"/>
                </a:endParaRPr>
              </a:p>
            </p:txBody>
          </p:sp>
          <p:pic>
            <p:nvPicPr>
              <p:cNvPr id="71" name="Graphic 70" descr="Race Flag with solid fill">
                <a:extLst>
                  <a:ext uri="{FF2B5EF4-FFF2-40B4-BE49-F238E27FC236}">
                    <a16:creationId xmlns:a16="http://schemas.microsoft.com/office/drawing/2014/main" id="{4DFC2C62-7BDE-844D-323D-CC4E10BED690}"/>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991372" y="2198346"/>
                <a:ext cx="369390" cy="369390"/>
              </a:xfrm>
              <a:prstGeom prst="rect">
                <a:avLst/>
              </a:prstGeom>
              <a:effectLst/>
            </p:spPr>
          </p:pic>
        </p:grpSp>
        <p:sp>
          <p:nvSpPr>
            <p:cNvPr id="177" name="TextBox 176">
              <a:extLst>
                <a:ext uri="{FF2B5EF4-FFF2-40B4-BE49-F238E27FC236}">
                  <a16:creationId xmlns:a16="http://schemas.microsoft.com/office/drawing/2014/main" id="{626544E6-0FD7-3747-7620-B19021E26949}"/>
                </a:ext>
              </a:extLst>
            </p:cNvPr>
            <p:cNvSpPr txBox="1"/>
            <p:nvPr/>
          </p:nvSpPr>
          <p:spPr>
            <a:xfrm>
              <a:off x="398860" y="344337"/>
              <a:ext cx="11408046" cy="984885"/>
            </a:xfrm>
            <a:prstGeom prst="rect">
              <a:avLst/>
            </a:prstGeom>
            <a:noFill/>
          </p:spPr>
          <p:txBody>
            <a:bodyPr wrap="square" anchor="ctr">
              <a:spAutoFit/>
            </a:bodyPr>
            <a:lstStyle/>
            <a:p>
              <a:pPr algn="ctr">
                <a:spcBef>
                  <a:spcPts val="600"/>
                </a:spcBef>
              </a:pPr>
              <a:r>
                <a:rPr lang="en-US" sz="2500" dirty="0">
                  <a:solidFill>
                    <a:srgbClr val="1E2C55"/>
                  </a:solidFill>
                  <a:latin typeface="Montserrat SemiBold" pitchFamily="2" charset="0"/>
                </a:rPr>
                <a:t>From start to finish, WeSearch makes it easy</a:t>
              </a:r>
            </a:p>
            <a:p>
              <a:pPr algn="ctr">
                <a:spcBef>
                  <a:spcPts val="600"/>
                </a:spcBef>
              </a:pPr>
              <a:r>
                <a:rPr lang="en-US" sz="2800" dirty="0">
                  <a:solidFill>
                    <a:srgbClr val="1E2C55"/>
                  </a:solidFill>
                  <a:latin typeface="Montserrat ExtraBold" pitchFamily="2" charset="0"/>
                </a:rPr>
                <a:t>Your WeSearch Journey</a:t>
              </a:r>
            </a:p>
          </p:txBody>
        </p:sp>
        <p:grpSp>
          <p:nvGrpSpPr>
            <p:cNvPr id="187" name="Group 186">
              <a:extLst>
                <a:ext uri="{FF2B5EF4-FFF2-40B4-BE49-F238E27FC236}">
                  <a16:creationId xmlns:a16="http://schemas.microsoft.com/office/drawing/2014/main" id="{8BEEA650-E13F-5E5D-CD0A-5FB1DF957A41}"/>
                </a:ext>
              </a:extLst>
            </p:cNvPr>
            <p:cNvGrpSpPr/>
            <p:nvPr/>
          </p:nvGrpSpPr>
          <p:grpSpPr>
            <a:xfrm>
              <a:off x="613961" y="5486848"/>
              <a:ext cx="10977844" cy="804672"/>
              <a:chOff x="145637" y="5486848"/>
              <a:chExt cx="10977844" cy="804672"/>
            </a:xfrm>
          </p:grpSpPr>
          <p:sp>
            <p:nvSpPr>
              <p:cNvPr id="171" name="Rounded Rectangle 52">
                <a:extLst>
                  <a:ext uri="{FF2B5EF4-FFF2-40B4-BE49-F238E27FC236}">
                    <a16:creationId xmlns:a16="http://schemas.microsoft.com/office/drawing/2014/main" id="{AC3BA0B8-0DF3-BC6A-07C6-868CADA9351F}"/>
                  </a:ext>
                </a:extLst>
              </p:cNvPr>
              <p:cNvSpPr/>
              <p:nvPr/>
            </p:nvSpPr>
            <p:spPr>
              <a:xfrm>
                <a:off x="145637" y="5486848"/>
                <a:ext cx="10821218" cy="804672"/>
              </a:xfrm>
              <a:prstGeom prst="roundRect">
                <a:avLst/>
              </a:prstGeom>
              <a:solidFill>
                <a:srgbClr val="FDF8F2"/>
              </a:solidFill>
              <a:ln w="28575">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r>
                  <a:rPr lang="en-US" dirty="0">
                    <a:solidFill>
                      <a:prstClr val="white"/>
                    </a:solidFill>
                    <a:latin typeface="Calibri"/>
                  </a:rPr>
                  <a:t>`</a:t>
                </a:r>
                <a:endParaRPr dirty="0">
                  <a:solidFill>
                    <a:prstClr val="white"/>
                  </a:solidFill>
                  <a:latin typeface="Calibri"/>
                </a:endParaRPr>
              </a:p>
            </p:txBody>
          </p:sp>
          <p:pic>
            <p:nvPicPr>
              <p:cNvPr id="168" name="Graphic 167" descr="Open hand with plant outline">
                <a:extLst>
                  <a:ext uri="{FF2B5EF4-FFF2-40B4-BE49-F238E27FC236}">
                    <a16:creationId xmlns:a16="http://schemas.microsoft.com/office/drawing/2014/main" id="{8AF18C2C-5BAD-7FBD-0400-306055DF747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35195" y="5566019"/>
                <a:ext cx="646331" cy="646331"/>
              </a:xfrm>
              <a:prstGeom prst="rect">
                <a:avLst/>
              </a:prstGeom>
            </p:spPr>
          </p:pic>
          <p:sp>
            <p:nvSpPr>
              <p:cNvPr id="186" name="TextBox 185">
                <a:extLst>
                  <a:ext uri="{FF2B5EF4-FFF2-40B4-BE49-F238E27FC236}">
                    <a16:creationId xmlns:a16="http://schemas.microsoft.com/office/drawing/2014/main" id="{FE85ECFF-DCC3-79D7-C8E2-3512092C31ED}"/>
                  </a:ext>
                </a:extLst>
              </p:cNvPr>
              <p:cNvSpPr txBox="1"/>
              <p:nvPr/>
            </p:nvSpPr>
            <p:spPr>
              <a:xfrm>
                <a:off x="1082286" y="5566019"/>
                <a:ext cx="10041195"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1E2C55"/>
                    </a:solidFill>
                    <a:effectLst/>
                    <a:uLnTx/>
                    <a:uFillTx/>
                    <a:latin typeface="Aptos"/>
                    <a:ea typeface="+mn-ea"/>
                    <a:cs typeface="+mn-cs"/>
                  </a:rPr>
                  <a:t>Your report shows not only our recommendations, but also the options considered and ruled out,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1E2C55"/>
                    </a:solidFill>
                    <a:effectLst/>
                    <a:uLnTx/>
                    <a:uFillTx/>
                    <a:latin typeface="Aptos"/>
                    <a:ea typeface="+mn-ea"/>
                    <a:cs typeface="+mn-cs"/>
                  </a:rPr>
                  <a:t>so you can see the research undertaken and understand how we reached our recommendations</a:t>
                </a:r>
                <a:endParaRPr lang="en-ZA" dirty="0"/>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E533C-3750-A35F-77CE-47849BCE8453}"/>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BB08AFD-E035-0E1B-1CC0-6C92773FC559}"/>
              </a:ext>
            </a:extLst>
          </p:cNvPr>
          <p:cNvGrpSpPr/>
          <p:nvPr/>
        </p:nvGrpSpPr>
        <p:grpSpPr>
          <a:xfrm>
            <a:off x="3239" y="0"/>
            <a:ext cx="12185522" cy="6858000"/>
            <a:chOff x="3239" y="0"/>
            <a:chExt cx="12185522" cy="6858000"/>
          </a:xfrm>
        </p:grpSpPr>
        <p:pic>
          <p:nvPicPr>
            <p:cNvPr id="9" name="Picture 8">
              <a:extLst>
                <a:ext uri="{FF2B5EF4-FFF2-40B4-BE49-F238E27FC236}">
                  <a16:creationId xmlns:a16="http://schemas.microsoft.com/office/drawing/2014/main" id="{36EE375E-31E5-BBC0-20A2-DC7DA43095D9}"/>
                </a:ext>
              </a:extLst>
            </p:cNvPr>
            <p:cNvPicPr>
              <a:picLocks noChangeAspect="1"/>
            </p:cNvPicPr>
            <p:nvPr/>
          </p:nvPicPr>
          <p:blipFill>
            <a:blip r:embed="rId3"/>
            <a:stretch>
              <a:fillRect/>
            </a:stretch>
          </p:blipFill>
          <p:spPr>
            <a:xfrm>
              <a:off x="3239" y="0"/>
              <a:ext cx="12185522" cy="6858000"/>
            </a:xfrm>
            <a:prstGeom prst="rect">
              <a:avLst/>
            </a:prstGeom>
          </p:spPr>
        </p:pic>
        <p:sp>
          <p:nvSpPr>
            <p:cNvPr id="316" name="TextBox 315">
              <a:extLst>
                <a:ext uri="{FF2B5EF4-FFF2-40B4-BE49-F238E27FC236}">
                  <a16:creationId xmlns:a16="http://schemas.microsoft.com/office/drawing/2014/main" id="{0874E993-3E4A-961C-DF93-6B02B187CEEA}"/>
                </a:ext>
              </a:extLst>
            </p:cNvPr>
            <p:cNvSpPr txBox="1"/>
            <p:nvPr/>
          </p:nvSpPr>
          <p:spPr>
            <a:xfrm>
              <a:off x="1448136" y="1698432"/>
              <a:ext cx="504358" cy="383105"/>
            </a:xfrm>
            <a:prstGeom prst="rect">
              <a:avLst/>
            </a:prstGeom>
            <a:noFill/>
          </p:spPr>
          <p:txBody>
            <a:bodyPr wrap="none" lIns="0" tIns="0" rIns="0" bIns="0" anchor="ctr">
              <a:spAutoFit/>
            </a:bodyPr>
            <a:lstStyle/>
            <a:p>
              <a:pPr algn="ctr"/>
              <a:r>
                <a:rPr sz="1600" b="1" dirty="0">
                  <a:solidFill>
                    <a:srgbClr val="FFFFFF"/>
                  </a:solidFill>
                  <a:latin typeface="Aptos"/>
                </a:rPr>
                <a:t>1</a:t>
              </a:r>
            </a:p>
          </p:txBody>
        </p:sp>
        <p:sp>
          <p:nvSpPr>
            <p:cNvPr id="322" name="TextBox 321">
              <a:extLst>
                <a:ext uri="{FF2B5EF4-FFF2-40B4-BE49-F238E27FC236}">
                  <a16:creationId xmlns:a16="http://schemas.microsoft.com/office/drawing/2014/main" id="{51F793BF-E849-D17C-38FA-5C185D0871A1}"/>
                </a:ext>
              </a:extLst>
            </p:cNvPr>
            <p:cNvSpPr txBox="1"/>
            <p:nvPr/>
          </p:nvSpPr>
          <p:spPr>
            <a:xfrm>
              <a:off x="3694820" y="1698432"/>
              <a:ext cx="504358" cy="383105"/>
            </a:xfrm>
            <a:prstGeom prst="rect">
              <a:avLst/>
            </a:prstGeom>
            <a:noFill/>
          </p:spPr>
          <p:txBody>
            <a:bodyPr wrap="none" lIns="0" tIns="0" rIns="0" bIns="0" anchor="ctr">
              <a:spAutoFit/>
            </a:bodyPr>
            <a:lstStyle/>
            <a:p>
              <a:pPr algn="ctr"/>
              <a:r>
                <a:rPr sz="1600" b="1" dirty="0">
                  <a:solidFill>
                    <a:srgbClr val="FFFFFF"/>
                  </a:solidFill>
                  <a:latin typeface="Aptos"/>
                </a:rPr>
                <a:t>2</a:t>
              </a:r>
            </a:p>
          </p:txBody>
        </p:sp>
        <p:sp>
          <p:nvSpPr>
            <p:cNvPr id="328" name="TextBox 327">
              <a:extLst>
                <a:ext uri="{FF2B5EF4-FFF2-40B4-BE49-F238E27FC236}">
                  <a16:creationId xmlns:a16="http://schemas.microsoft.com/office/drawing/2014/main" id="{60EE6212-0B1A-5C84-C53A-942D95B46C0B}"/>
                </a:ext>
              </a:extLst>
            </p:cNvPr>
            <p:cNvSpPr txBox="1"/>
            <p:nvPr/>
          </p:nvSpPr>
          <p:spPr>
            <a:xfrm>
              <a:off x="5941505" y="1698432"/>
              <a:ext cx="504358" cy="383105"/>
            </a:xfrm>
            <a:prstGeom prst="rect">
              <a:avLst/>
            </a:prstGeom>
            <a:noFill/>
          </p:spPr>
          <p:txBody>
            <a:bodyPr wrap="none" lIns="0" tIns="0" rIns="0" bIns="0" anchor="ctr">
              <a:spAutoFit/>
            </a:bodyPr>
            <a:lstStyle/>
            <a:p>
              <a:pPr algn="ctr"/>
              <a:r>
                <a:rPr sz="1600" b="1" dirty="0">
                  <a:solidFill>
                    <a:srgbClr val="FFFFFF"/>
                  </a:solidFill>
                  <a:latin typeface="Aptos"/>
                </a:rPr>
                <a:t>3</a:t>
              </a:r>
            </a:p>
          </p:txBody>
        </p:sp>
        <p:sp>
          <p:nvSpPr>
            <p:cNvPr id="334" name="TextBox 333">
              <a:extLst>
                <a:ext uri="{FF2B5EF4-FFF2-40B4-BE49-F238E27FC236}">
                  <a16:creationId xmlns:a16="http://schemas.microsoft.com/office/drawing/2014/main" id="{C4BA6B11-5C1B-49EC-01A9-4A38315EEF38}"/>
                </a:ext>
              </a:extLst>
            </p:cNvPr>
            <p:cNvSpPr txBox="1"/>
            <p:nvPr/>
          </p:nvSpPr>
          <p:spPr>
            <a:xfrm>
              <a:off x="8188190" y="1698432"/>
              <a:ext cx="504358" cy="383105"/>
            </a:xfrm>
            <a:prstGeom prst="rect">
              <a:avLst/>
            </a:prstGeom>
            <a:noFill/>
          </p:spPr>
          <p:txBody>
            <a:bodyPr wrap="none" lIns="0" tIns="0" rIns="0" bIns="0" anchor="ctr">
              <a:spAutoFit/>
            </a:bodyPr>
            <a:lstStyle/>
            <a:p>
              <a:pPr algn="ctr"/>
              <a:r>
                <a:rPr sz="1600" b="1" dirty="0">
                  <a:solidFill>
                    <a:srgbClr val="FFFFFF"/>
                  </a:solidFill>
                  <a:latin typeface="Aptos"/>
                </a:rPr>
                <a:t>4</a:t>
              </a:r>
            </a:p>
          </p:txBody>
        </p:sp>
        <p:sp>
          <p:nvSpPr>
            <p:cNvPr id="340" name="TextBox 339">
              <a:extLst>
                <a:ext uri="{FF2B5EF4-FFF2-40B4-BE49-F238E27FC236}">
                  <a16:creationId xmlns:a16="http://schemas.microsoft.com/office/drawing/2014/main" id="{A243CB85-361E-B93C-1791-9F2FCBACCD43}"/>
                </a:ext>
              </a:extLst>
            </p:cNvPr>
            <p:cNvSpPr txBox="1"/>
            <p:nvPr/>
          </p:nvSpPr>
          <p:spPr>
            <a:xfrm>
              <a:off x="10434875" y="1698432"/>
              <a:ext cx="504358" cy="383105"/>
            </a:xfrm>
            <a:prstGeom prst="rect">
              <a:avLst/>
            </a:prstGeom>
            <a:noFill/>
          </p:spPr>
          <p:txBody>
            <a:bodyPr wrap="none" lIns="0" tIns="0" rIns="0" bIns="0" anchor="ctr">
              <a:spAutoFit/>
            </a:bodyPr>
            <a:lstStyle/>
            <a:p>
              <a:pPr algn="ctr"/>
              <a:r>
                <a:rPr sz="1600" b="1" dirty="0">
                  <a:solidFill>
                    <a:srgbClr val="FFFFFF"/>
                  </a:solidFill>
                  <a:latin typeface="Aptos"/>
                </a:rPr>
                <a:t>5</a:t>
              </a:r>
            </a:p>
          </p:txBody>
        </p:sp>
        <p:sp>
          <p:nvSpPr>
            <p:cNvPr id="349" name="Rounded Rectangle 4">
              <a:extLst>
                <a:ext uri="{FF2B5EF4-FFF2-40B4-BE49-F238E27FC236}">
                  <a16:creationId xmlns:a16="http://schemas.microsoft.com/office/drawing/2014/main" id="{80174BE3-26C3-4009-DB60-593449970F87}"/>
                </a:ext>
              </a:extLst>
            </p:cNvPr>
            <p:cNvSpPr/>
            <p:nvPr/>
          </p:nvSpPr>
          <p:spPr>
            <a:xfrm>
              <a:off x="698821" y="1889984"/>
              <a:ext cx="2017431" cy="2333456"/>
            </a:xfrm>
            <a:prstGeom prst="roundRect">
              <a:avLst/>
            </a:prstGeom>
            <a:solidFill>
              <a:schemeClr val="bg1"/>
            </a:solidFill>
            <a:ln w="28575">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13" name="TextBox 312">
              <a:extLst>
                <a:ext uri="{FF2B5EF4-FFF2-40B4-BE49-F238E27FC236}">
                  <a16:creationId xmlns:a16="http://schemas.microsoft.com/office/drawing/2014/main" id="{642E552D-D3BF-B17D-86C6-B52CD5818000}"/>
                </a:ext>
              </a:extLst>
            </p:cNvPr>
            <p:cNvSpPr txBox="1"/>
            <p:nvPr/>
          </p:nvSpPr>
          <p:spPr>
            <a:xfrm>
              <a:off x="629462" y="2429620"/>
              <a:ext cx="2156148" cy="1495794"/>
            </a:xfrm>
            <a:prstGeom prst="rect">
              <a:avLst/>
            </a:prstGeom>
            <a:noFill/>
          </p:spPr>
          <p:txBody>
            <a:bodyPr wrap="square" lIns="18288" tIns="9144" rIns="18288" bIns="9144" anchor="ctr">
              <a:spAutoFit/>
            </a:bodyPr>
            <a:lstStyle/>
            <a:p>
              <a:pPr algn="ctr">
                <a:spcAft>
                  <a:spcPts val="0"/>
                </a:spcAft>
              </a:pPr>
              <a:r>
                <a:rPr lang="en-US" sz="1600" b="1" dirty="0">
                  <a:solidFill>
                    <a:srgbClr val="1E2C55"/>
                  </a:solidFill>
                  <a:latin typeface="Aptos"/>
                </a:rPr>
                <a:t>INVESTIGATING</a:t>
              </a:r>
            </a:p>
            <a:p>
              <a:pPr algn="ctr"/>
              <a:r>
                <a:rPr lang="en-US" sz="1600" dirty="0">
                  <a:solidFill>
                    <a:srgbClr val="1E2C55"/>
                  </a:solidFill>
                  <a:latin typeface="Aptos"/>
                </a:rPr>
                <a:t>We investigate
the market to identify
potentially suitable
options agreed
during Discovery</a:t>
              </a:r>
            </a:p>
          </p:txBody>
        </p:sp>
        <p:sp>
          <p:nvSpPr>
            <p:cNvPr id="343" name="Oval 342">
              <a:extLst>
                <a:ext uri="{FF2B5EF4-FFF2-40B4-BE49-F238E27FC236}">
                  <a16:creationId xmlns:a16="http://schemas.microsoft.com/office/drawing/2014/main" id="{7771EB32-F3B8-C3D9-04A2-BDA89E6438EC}"/>
                </a:ext>
              </a:extLst>
            </p:cNvPr>
            <p:cNvSpPr/>
            <p:nvPr/>
          </p:nvSpPr>
          <p:spPr>
            <a:xfrm>
              <a:off x="1399202" y="1655572"/>
              <a:ext cx="616668" cy="616668"/>
            </a:xfrm>
            <a:prstGeom prst="ellipse">
              <a:avLst/>
            </a:prstGeom>
            <a:solidFill>
              <a:srgbClr val="1E2C55"/>
            </a:solidFill>
            <a:ln>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rgbClr val="E1CBA8"/>
                  </a:solidFill>
                  <a:latin typeface="Montserrat SemiBold" pitchFamily="2" charset="0"/>
                </a:rPr>
                <a:t>1</a:t>
              </a:r>
              <a:endParaRPr lang="en-ZA" sz="1600" b="1" dirty="0">
                <a:solidFill>
                  <a:srgbClr val="E1CBA8"/>
                </a:solidFill>
                <a:latin typeface="Montserrat SemiBold" pitchFamily="2" charset="0"/>
              </a:endParaRPr>
            </a:p>
          </p:txBody>
        </p:sp>
        <p:sp>
          <p:nvSpPr>
            <p:cNvPr id="318" name="Rounded Rectangle 4">
              <a:extLst>
                <a:ext uri="{FF2B5EF4-FFF2-40B4-BE49-F238E27FC236}">
                  <a16:creationId xmlns:a16="http://schemas.microsoft.com/office/drawing/2014/main" id="{58442CA8-1B9C-EC28-B293-103D9E3B893C}"/>
                </a:ext>
              </a:extLst>
            </p:cNvPr>
            <p:cNvSpPr/>
            <p:nvPr/>
          </p:nvSpPr>
          <p:spPr>
            <a:xfrm>
              <a:off x="2938284" y="1889984"/>
              <a:ext cx="2017431" cy="2333456"/>
            </a:xfrm>
            <a:prstGeom prst="roundRect">
              <a:avLst/>
            </a:prstGeom>
            <a:solidFill>
              <a:schemeClr val="bg1"/>
            </a:solidFill>
            <a:ln w="28575">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10" name="TextBox 309">
              <a:extLst>
                <a:ext uri="{FF2B5EF4-FFF2-40B4-BE49-F238E27FC236}">
                  <a16:creationId xmlns:a16="http://schemas.microsoft.com/office/drawing/2014/main" id="{47CD6E44-E32E-44E4-C712-60B658613F8B}"/>
                </a:ext>
              </a:extLst>
            </p:cNvPr>
            <p:cNvSpPr txBox="1"/>
            <p:nvPr/>
          </p:nvSpPr>
          <p:spPr>
            <a:xfrm>
              <a:off x="2883543" y="2429620"/>
              <a:ext cx="2104039" cy="1249573"/>
            </a:xfrm>
            <a:prstGeom prst="rect">
              <a:avLst/>
            </a:prstGeom>
            <a:noFill/>
          </p:spPr>
          <p:txBody>
            <a:bodyPr wrap="square" lIns="18288" tIns="9144" rIns="18288" bIns="9144" anchor="ctr">
              <a:spAutoFit/>
            </a:bodyPr>
            <a:lstStyle/>
            <a:p>
              <a:pPr algn="ctr">
                <a:spcAft>
                  <a:spcPts val="0"/>
                </a:spcAft>
              </a:pPr>
              <a:r>
                <a:rPr lang="en-US" sz="1600" b="1" dirty="0">
                  <a:solidFill>
                    <a:srgbClr val="1E2C55"/>
                  </a:solidFill>
                  <a:latin typeface="Aptos"/>
                </a:rPr>
                <a:t>FILTERING</a:t>
              </a:r>
            </a:p>
            <a:p>
              <a:pPr algn="ctr"/>
              <a:r>
                <a:rPr lang="en-US" sz="1600" dirty="0">
                  <a:solidFill>
                    <a:srgbClr val="1E2C55"/>
                  </a:solidFill>
                  <a:latin typeface="Aptos"/>
                </a:rPr>
                <a:t>We filter the options
against everything
discussed when we
created your brief</a:t>
              </a:r>
            </a:p>
          </p:txBody>
        </p:sp>
        <p:sp>
          <p:nvSpPr>
            <p:cNvPr id="344" name="Oval 343">
              <a:extLst>
                <a:ext uri="{FF2B5EF4-FFF2-40B4-BE49-F238E27FC236}">
                  <a16:creationId xmlns:a16="http://schemas.microsoft.com/office/drawing/2014/main" id="{21E74845-140C-2F50-3465-8BDF5A48BA4B}"/>
                </a:ext>
              </a:extLst>
            </p:cNvPr>
            <p:cNvSpPr/>
            <p:nvPr/>
          </p:nvSpPr>
          <p:spPr>
            <a:xfrm>
              <a:off x="3627228" y="1655572"/>
              <a:ext cx="616668" cy="616668"/>
            </a:xfrm>
            <a:prstGeom prst="ellipse">
              <a:avLst/>
            </a:prstGeom>
            <a:solidFill>
              <a:srgbClr val="1E2C55"/>
            </a:solidFill>
            <a:ln>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rgbClr val="E1CBA8"/>
                  </a:solidFill>
                  <a:latin typeface="Montserrat SemiBold" pitchFamily="2" charset="0"/>
                </a:rPr>
                <a:t>2</a:t>
              </a:r>
              <a:endParaRPr lang="en-ZA" sz="1600" b="1" dirty="0">
                <a:solidFill>
                  <a:srgbClr val="E1CBA8"/>
                </a:solidFill>
                <a:latin typeface="Montserrat SemiBold" pitchFamily="2" charset="0"/>
              </a:endParaRPr>
            </a:p>
          </p:txBody>
        </p:sp>
        <p:sp>
          <p:nvSpPr>
            <p:cNvPr id="324" name="Rounded Rectangle 7">
              <a:extLst>
                <a:ext uri="{FF2B5EF4-FFF2-40B4-BE49-F238E27FC236}">
                  <a16:creationId xmlns:a16="http://schemas.microsoft.com/office/drawing/2014/main" id="{61095D01-0024-0F81-7A07-E4ABA017AFDC}"/>
                </a:ext>
              </a:extLst>
            </p:cNvPr>
            <p:cNvSpPr/>
            <p:nvPr/>
          </p:nvSpPr>
          <p:spPr>
            <a:xfrm>
              <a:off x="5210126" y="1889984"/>
              <a:ext cx="2017431" cy="2333456"/>
            </a:xfrm>
            <a:prstGeom prst="roundRect">
              <a:avLst/>
            </a:prstGeom>
            <a:solidFill>
              <a:schemeClr val="bg1"/>
            </a:solidFill>
            <a:ln w="28575">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07" name="TextBox 306">
              <a:extLst>
                <a:ext uri="{FF2B5EF4-FFF2-40B4-BE49-F238E27FC236}">
                  <a16:creationId xmlns:a16="http://schemas.microsoft.com/office/drawing/2014/main" id="{09ADB1B1-4D80-C680-6ABB-1F709DC939B8}"/>
                </a:ext>
              </a:extLst>
            </p:cNvPr>
            <p:cNvSpPr txBox="1"/>
            <p:nvPr/>
          </p:nvSpPr>
          <p:spPr>
            <a:xfrm>
              <a:off x="5262927" y="2429620"/>
              <a:ext cx="1911828" cy="1495793"/>
            </a:xfrm>
            <a:prstGeom prst="rect">
              <a:avLst/>
            </a:prstGeom>
            <a:noFill/>
          </p:spPr>
          <p:txBody>
            <a:bodyPr wrap="square" lIns="18288" tIns="9144" rIns="18288" bIns="9144" anchor="ctr">
              <a:spAutoFit/>
            </a:bodyPr>
            <a:lstStyle/>
            <a:p>
              <a:pPr algn="ctr">
                <a:spcAft>
                  <a:spcPts val="0"/>
                </a:spcAft>
              </a:pPr>
              <a:r>
                <a:rPr lang="en-US" sz="1600" b="1" dirty="0">
                  <a:solidFill>
                    <a:srgbClr val="1E2C55"/>
                  </a:solidFill>
                  <a:latin typeface="Aptos"/>
                </a:rPr>
                <a:t>COMPARING</a:t>
              </a:r>
            </a:p>
            <a:p>
              <a:pPr algn="ctr"/>
              <a:r>
                <a:rPr lang="en-US" sz="1600" dirty="0">
                  <a:solidFill>
                    <a:srgbClr val="1E2C55"/>
                  </a:solidFill>
                  <a:latin typeface="Aptos"/>
                </a:rPr>
                <a:t>We compare the
factors that matter to
you, incorporating any of your
specific requests</a:t>
              </a:r>
            </a:p>
          </p:txBody>
        </p:sp>
        <p:sp>
          <p:nvSpPr>
            <p:cNvPr id="345" name="Oval 344">
              <a:extLst>
                <a:ext uri="{FF2B5EF4-FFF2-40B4-BE49-F238E27FC236}">
                  <a16:creationId xmlns:a16="http://schemas.microsoft.com/office/drawing/2014/main" id="{018083C5-9841-9FFF-8D3A-58E5EDE84A96}"/>
                </a:ext>
              </a:extLst>
            </p:cNvPr>
            <p:cNvSpPr/>
            <p:nvPr/>
          </p:nvSpPr>
          <p:spPr>
            <a:xfrm>
              <a:off x="5910507" y="1655572"/>
              <a:ext cx="616668" cy="616668"/>
            </a:xfrm>
            <a:prstGeom prst="ellipse">
              <a:avLst/>
            </a:prstGeom>
            <a:solidFill>
              <a:srgbClr val="1E2C55"/>
            </a:solidFill>
            <a:ln>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rgbClr val="E1CBA8"/>
                  </a:solidFill>
                  <a:latin typeface="Montserrat SemiBold" pitchFamily="2" charset="0"/>
                </a:rPr>
                <a:t>3</a:t>
              </a:r>
              <a:endParaRPr lang="en-ZA" sz="1600" b="1" dirty="0">
                <a:solidFill>
                  <a:srgbClr val="E1CBA8"/>
                </a:solidFill>
                <a:latin typeface="Montserrat SemiBold" pitchFamily="2" charset="0"/>
              </a:endParaRPr>
            </a:p>
          </p:txBody>
        </p:sp>
        <p:sp>
          <p:nvSpPr>
            <p:cNvPr id="330" name="Rounded Rectangle 10">
              <a:extLst>
                <a:ext uri="{FF2B5EF4-FFF2-40B4-BE49-F238E27FC236}">
                  <a16:creationId xmlns:a16="http://schemas.microsoft.com/office/drawing/2014/main" id="{87B38B16-B9B4-258A-5858-97EBAF95FFF0}"/>
                </a:ext>
              </a:extLst>
            </p:cNvPr>
            <p:cNvSpPr/>
            <p:nvPr/>
          </p:nvSpPr>
          <p:spPr>
            <a:xfrm>
              <a:off x="7431653" y="1889984"/>
              <a:ext cx="2017431" cy="2333456"/>
            </a:xfrm>
            <a:prstGeom prst="roundRect">
              <a:avLst/>
            </a:prstGeom>
            <a:solidFill>
              <a:schemeClr val="bg1"/>
            </a:solidFill>
            <a:ln w="28575">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04" name="TextBox 303">
              <a:extLst>
                <a:ext uri="{FF2B5EF4-FFF2-40B4-BE49-F238E27FC236}">
                  <a16:creationId xmlns:a16="http://schemas.microsoft.com/office/drawing/2014/main" id="{B9BB9D3C-8D88-6E8C-6FB2-430FCC59EA31}"/>
                </a:ext>
              </a:extLst>
            </p:cNvPr>
            <p:cNvSpPr txBox="1"/>
            <p:nvPr/>
          </p:nvSpPr>
          <p:spPr>
            <a:xfrm>
              <a:off x="7449596" y="2429620"/>
              <a:ext cx="2017191" cy="1249573"/>
            </a:xfrm>
            <a:prstGeom prst="rect">
              <a:avLst/>
            </a:prstGeom>
            <a:noFill/>
          </p:spPr>
          <p:txBody>
            <a:bodyPr wrap="square" lIns="18288" tIns="9144" rIns="18288" bIns="9144" anchor="ctr">
              <a:spAutoFit/>
            </a:bodyPr>
            <a:lstStyle/>
            <a:p>
              <a:pPr algn="ctr">
                <a:spcAft>
                  <a:spcPts val="0"/>
                </a:spcAft>
              </a:pPr>
              <a:r>
                <a:rPr lang="en-US" sz="1600" b="1" dirty="0">
                  <a:solidFill>
                    <a:srgbClr val="1E2C55"/>
                  </a:solidFill>
                  <a:latin typeface="Aptos"/>
                </a:rPr>
                <a:t>CHECKING</a:t>
              </a:r>
            </a:p>
            <a:p>
              <a:pPr algn="ctr"/>
              <a:r>
                <a:rPr lang="en-US" sz="1600" dirty="0">
                  <a:solidFill>
                    <a:srgbClr val="1E2C55"/>
                  </a:solidFill>
                  <a:latin typeface="Aptos"/>
                </a:rPr>
                <a:t>We check detailed
claims, reviews,
availability and
relevant information</a:t>
              </a:r>
            </a:p>
          </p:txBody>
        </p:sp>
        <p:sp>
          <p:nvSpPr>
            <p:cNvPr id="346" name="Oval 345">
              <a:extLst>
                <a:ext uri="{FF2B5EF4-FFF2-40B4-BE49-F238E27FC236}">
                  <a16:creationId xmlns:a16="http://schemas.microsoft.com/office/drawing/2014/main" id="{CB90CB84-737A-C7CA-C591-9BA04B579C55}"/>
                </a:ext>
              </a:extLst>
            </p:cNvPr>
            <p:cNvSpPr/>
            <p:nvPr/>
          </p:nvSpPr>
          <p:spPr>
            <a:xfrm>
              <a:off x="8132034" y="1655572"/>
              <a:ext cx="616668" cy="616668"/>
            </a:xfrm>
            <a:prstGeom prst="ellipse">
              <a:avLst/>
            </a:prstGeom>
            <a:solidFill>
              <a:srgbClr val="1E2C55"/>
            </a:solidFill>
            <a:ln>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rgbClr val="E1CBA8"/>
                  </a:solidFill>
                  <a:latin typeface="Montserrat SemiBold" pitchFamily="2" charset="0"/>
                </a:rPr>
                <a:t>4</a:t>
              </a:r>
              <a:endParaRPr lang="en-ZA" sz="1600" b="1" dirty="0">
                <a:solidFill>
                  <a:srgbClr val="E1CBA8"/>
                </a:solidFill>
                <a:latin typeface="Montserrat SemiBold" pitchFamily="2" charset="0"/>
              </a:endParaRPr>
            </a:p>
          </p:txBody>
        </p:sp>
        <p:sp>
          <p:nvSpPr>
            <p:cNvPr id="336" name="Rounded Rectangle 13">
              <a:extLst>
                <a:ext uri="{FF2B5EF4-FFF2-40B4-BE49-F238E27FC236}">
                  <a16:creationId xmlns:a16="http://schemas.microsoft.com/office/drawing/2014/main" id="{F24DEC38-F34B-3E05-0D25-167212846DFF}"/>
                </a:ext>
              </a:extLst>
            </p:cNvPr>
            <p:cNvSpPr/>
            <p:nvPr/>
          </p:nvSpPr>
          <p:spPr>
            <a:xfrm>
              <a:off x="9678338" y="1889984"/>
              <a:ext cx="2017431" cy="2333456"/>
            </a:xfrm>
            <a:prstGeom prst="roundRect">
              <a:avLst/>
            </a:prstGeom>
            <a:solidFill>
              <a:schemeClr val="bg1"/>
            </a:solidFill>
            <a:ln w="28575">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01" name="TextBox 300">
              <a:extLst>
                <a:ext uri="{FF2B5EF4-FFF2-40B4-BE49-F238E27FC236}">
                  <a16:creationId xmlns:a16="http://schemas.microsoft.com/office/drawing/2014/main" id="{A516AA06-3025-54A9-7094-DA97D5080856}"/>
                </a:ext>
              </a:extLst>
            </p:cNvPr>
            <p:cNvSpPr txBox="1"/>
            <p:nvPr/>
          </p:nvSpPr>
          <p:spPr>
            <a:xfrm>
              <a:off x="9678578" y="2429620"/>
              <a:ext cx="2017191" cy="1218795"/>
            </a:xfrm>
            <a:prstGeom prst="rect">
              <a:avLst/>
            </a:prstGeom>
            <a:noFill/>
          </p:spPr>
          <p:txBody>
            <a:bodyPr wrap="square" lIns="18288" tIns="9144" rIns="18288" bIns="9144" anchor="ctr">
              <a:spAutoFit/>
            </a:bodyPr>
            <a:lstStyle/>
            <a:p>
              <a:pPr algn="ctr">
                <a:spcAft>
                  <a:spcPts val="0"/>
                </a:spcAft>
              </a:pPr>
              <a:r>
                <a:rPr sz="1600" b="1" dirty="0">
                  <a:solidFill>
                    <a:srgbClr val="1E2C55"/>
                  </a:solidFill>
                  <a:latin typeface="Aptos"/>
                </a:rPr>
                <a:t>ELIMINATING</a:t>
              </a:r>
              <a:endParaRPr lang="en-US" sz="1600" b="1" dirty="0">
                <a:solidFill>
                  <a:srgbClr val="1E2C55"/>
                </a:solidFill>
                <a:latin typeface="Aptos"/>
              </a:endParaRPr>
            </a:p>
            <a:p>
              <a:pPr algn="ctr"/>
              <a:r>
                <a:rPr lang="en-US" sz="1600" dirty="0">
                  <a:solidFill>
                    <a:srgbClr val="1E2C55"/>
                  </a:solidFill>
                  <a:latin typeface="Aptos"/>
                </a:rPr>
                <a:t>We identify what
doesn’t meet
your requirements</a:t>
              </a:r>
            </a:p>
            <a:p>
              <a:pPr algn="ctr">
                <a:spcAft>
                  <a:spcPts val="0"/>
                </a:spcAft>
              </a:pPr>
              <a:endParaRPr sz="1400" b="1" dirty="0">
                <a:solidFill>
                  <a:srgbClr val="1E2C55"/>
                </a:solidFill>
                <a:latin typeface="Aptos"/>
              </a:endParaRPr>
            </a:p>
          </p:txBody>
        </p:sp>
        <p:sp>
          <p:nvSpPr>
            <p:cNvPr id="347" name="Oval 346">
              <a:extLst>
                <a:ext uri="{FF2B5EF4-FFF2-40B4-BE49-F238E27FC236}">
                  <a16:creationId xmlns:a16="http://schemas.microsoft.com/office/drawing/2014/main" id="{0F4CC440-A531-12BD-B23C-36E78DF8548D}"/>
                </a:ext>
              </a:extLst>
            </p:cNvPr>
            <p:cNvSpPr/>
            <p:nvPr/>
          </p:nvSpPr>
          <p:spPr>
            <a:xfrm>
              <a:off x="10378719" y="1655572"/>
              <a:ext cx="616668" cy="616668"/>
            </a:xfrm>
            <a:prstGeom prst="ellipse">
              <a:avLst/>
            </a:prstGeom>
            <a:solidFill>
              <a:srgbClr val="1E2C55"/>
            </a:solidFill>
            <a:ln>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rgbClr val="E1CBA8"/>
                  </a:solidFill>
                  <a:latin typeface="Montserrat SemiBold" pitchFamily="2" charset="0"/>
                </a:rPr>
                <a:t>5</a:t>
              </a:r>
              <a:endParaRPr lang="en-ZA" sz="1600" b="1" dirty="0">
                <a:solidFill>
                  <a:srgbClr val="E1CBA8"/>
                </a:solidFill>
                <a:latin typeface="Montserrat SemiBold" pitchFamily="2" charset="0"/>
              </a:endParaRPr>
            </a:p>
          </p:txBody>
        </p:sp>
        <p:sp>
          <p:nvSpPr>
            <p:cNvPr id="352" name="Rounded Rectangle 4">
              <a:extLst>
                <a:ext uri="{FF2B5EF4-FFF2-40B4-BE49-F238E27FC236}">
                  <a16:creationId xmlns:a16="http://schemas.microsoft.com/office/drawing/2014/main" id="{557D6576-2CED-4656-D040-2331D43D79C4}"/>
                </a:ext>
              </a:extLst>
            </p:cNvPr>
            <p:cNvSpPr/>
            <p:nvPr/>
          </p:nvSpPr>
          <p:spPr>
            <a:xfrm>
              <a:off x="707672" y="4341442"/>
              <a:ext cx="2017431" cy="2333456"/>
            </a:xfrm>
            <a:prstGeom prst="roundRect">
              <a:avLst/>
            </a:prstGeom>
            <a:solidFill>
              <a:schemeClr val="bg1"/>
            </a:solidFill>
            <a:ln w="28575">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98" name="TextBox 297">
              <a:extLst>
                <a:ext uri="{FF2B5EF4-FFF2-40B4-BE49-F238E27FC236}">
                  <a16:creationId xmlns:a16="http://schemas.microsoft.com/office/drawing/2014/main" id="{9090FF06-B14E-07A6-487B-89111552C85A}"/>
                </a:ext>
              </a:extLst>
            </p:cNvPr>
            <p:cNvSpPr txBox="1"/>
            <p:nvPr/>
          </p:nvSpPr>
          <p:spPr>
            <a:xfrm>
              <a:off x="707792" y="4897272"/>
              <a:ext cx="2017191" cy="1249573"/>
            </a:xfrm>
            <a:prstGeom prst="rect">
              <a:avLst/>
            </a:prstGeom>
            <a:noFill/>
          </p:spPr>
          <p:txBody>
            <a:bodyPr wrap="square" lIns="18288" tIns="9144" rIns="18288" bIns="9144" anchor="ctr">
              <a:spAutoFit/>
            </a:bodyPr>
            <a:lstStyle/>
            <a:p>
              <a:pPr algn="ctr">
                <a:spcAft>
                  <a:spcPts val="0"/>
                </a:spcAft>
              </a:pPr>
              <a:r>
                <a:rPr sz="1600" b="1" dirty="0">
                  <a:solidFill>
                    <a:srgbClr val="1E2C55"/>
                  </a:solidFill>
                  <a:latin typeface="Aptos"/>
                </a:rPr>
                <a:t>RECONSIDERING</a:t>
              </a:r>
              <a:endParaRPr lang="en-US" sz="1600" b="1" dirty="0">
                <a:solidFill>
                  <a:srgbClr val="1E2C55"/>
                </a:solidFill>
                <a:latin typeface="Aptos"/>
              </a:endParaRPr>
            </a:p>
            <a:p>
              <a:pPr algn="ctr"/>
              <a:r>
                <a:rPr lang="en-US" sz="1600" dirty="0">
                  <a:solidFill>
                    <a:srgbClr val="1E2C55"/>
                  </a:solidFill>
                  <a:latin typeface="Aptos"/>
                </a:rPr>
                <a:t>We revisit options
if further investigation
changes our
assessment</a:t>
              </a:r>
            </a:p>
          </p:txBody>
        </p:sp>
        <p:sp>
          <p:nvSpPr>
            <p:cNvPr id="362" name="Oval 361">
              <a:extLst>
                <a:ext uri="{FF2B5EF4-FFF2-40B4-BE49-F238E27FC236}">
                  <a16:creationId xmlns:a16="http://schemas.microsoft.com/office/drawing/2014/main" id="{43A7D857-B2CC-ABB5-00E2-1234AFA9B3A2}"/>
                </a:ext>
              </a:extLst>
            </p:cNvPr>
            <p:cNvSpPr/>
            <p:nvPr/>
          </p:nvSpPr>
          <p:spPr>
            <a:xfrm>
              <a:off x="1408053" y="4107030"/>
              <a:ext cx="616668" cy="616668"/>
            </a:xfrm>
            <a:prstGeom prst="ellipse">
              <a:avLst/>
            </a:prstGeom>
            <a:solidFill>
              <a:srgbClr val="1E2C55"/>
            </a:solidFill>
            <a:ln>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rgbClr val="E1CBA8"/>
                  </a:solidFill>
                  <a:latin typeface="Montserrat SemiBold" pitchFamily="2" charset="0"/>
                </a:rPr>
                <a:t>6</a:t>
              </a:r>
              <a:endParaRPr lang="en-ZA" sz="1600" b="1" dirty="0">
                <a:solidFill>
                  <a:srgbClr val="E1CBA8"/>
                </a:solidFill>
                <a:latin typeface="Montserrat SemiBold" pitchFamily="2" charset="0"/>
              </a:endParaRPr>
            </a:p>
          </p:txBody>
        </p:sp>
        <p:sp>
          <p:nvSpPr>
            <p:cNvPr id="354" name="Rounded Rectangle 4">
              <a:extLst>
                <a:ext uri="{FF2B5EF4-FFF2-40B4-BE49-F238E27FC236}">
                  <a16:creationId xmlns:a16="http://schemas.microsoft.com/office/drawing/2014/main" id="{7C69251B-D775-D83C-31D3-1052AC413867}"/>
                </a:ext>
              </a:extLst>
            </p:cNvPr>
            <p:cNvSpPr/>
            <p:nvPr/>
          </p:nvSpPr>
          <p:spPr>
            <a:xfrm>
              <a:off x="2945507" y="4328897"/>
              <a:ext cx="2035366" cy="2333456"/>
            </a:xfrm>
            <a:prstGeom prst="roundRect">
              <a:avLst/>
            </a:prstGeom>
            <a:solidFill>
              <a:schemeClr val="bg1"/>
            </a:solidFill>
            <a:ln w="28575">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95" name="TextBox 294">
              <a:extLst>
                <a:ext uri="{FF2B5EF4-FFF2-40B4-BE49-F238E27FC236}">
                  <a16:creationId xmlns:a16="http://schemas.microsoft.com/office/drawing/2014/main" id="{2CBF0706-6E73-C048-3354-F61B7C79C6C9}"/>
                </a:ext>
              </a:extLst>
            </p:cNvPr>
            <p:cNvSpPr txBox="1"/>
            <p:nvPr/>
          </p:nvSpPr>
          <p:spPr>
            <a:xfrm>
              <a:off x="2945628" y="4884727"/>
              <a:ext cx="2035124" cy="1249573"/>
            </a:xfrm>
            <a:prstGeom prst="rect">
              <a:avLst/>
            </a:prstGeom>
            <a:noFill/>
          </p:spPr>
          <p:txBody>
            <a:bodyPr wrap="square" lIns="18288" tIns="9144" rIns="18288" bIns="9144" anchor="ctr">
              <a:spAutoFit/>
            </a:bodyPr>
            <a:lstStyle/>
            <a:p>
              <a:pPr algn="ctr">
                <a:spcAft>
                  <a:spcPts val="0"/>
                </a:spcAft>
              </a:pPr>
              <a:r>
                <a:rPr lang="en-US" sz="1600" b="1" dirty="0">
                  <a:solidFill>
                    <a:srgbClr val="1E2C55"/>
                  </a:solidFill>
                  <a:latin typeface="Aptos"/>
                </a:rPr>
                <a:t>VERIFYING</a:t>
              </a:r>
            </a:p>
            <a:p>
              <a:pPr algn="ctr"/>
              <a:r>
                <a:rPr lang="en-US" sz="1600" dirty="0">
                  <a:solidFill>
                    <a:srgbClr val="1E2C55"/>
                  </a:solidFill>
                  <a:latin typeface="Aptos"/>
                </a:rPr>
                <a:t>We verify our</a:t>
              </a:r>
              <a:r>
                <a:rPr lang="en-US" sz="1400" dirty="0">
                  <a:solidFill>
                    <a:srgbClr val="1E2C55"/>
                  </a:solidFill>
                  <a:latin typeface="Aptos"/>
                </a:rPr>
                <a:t>
</a:t>
              </a:r>
              <a:r>
                <a:rPr lang="en-US" sz="1600" dirty="0">
                  <a:solidFill>
                    <a:srgbClr val="1E2C55"/>
                  </a:solidFill>
                  <a:latin typeface="Aptos"/>
                </a:rPr>
                <a:t>strongest
recommendations
and information</a:t>
              </a:r>
            </a:p>
          </p:txBody>
        </p:sp>
        <p:sp>
          <p:nvSpPr>
            <p:cNvPr id="364" name="Oval 363">
              <a:extLst>
                <a:ext uri="{FF2B5EF4-FFF2-40B4-BE49-F238E27FC236}">
                  <a16:creationId xmlns:a16="http://schemas.microsoft.com/office/drawing/2014/main" id="{6529B577-2987-39B6-C9E8-2E19701CA39B}"/>
                </a:ext>
              </a:extLst>
            </p:cNvPr>
            <p:cNvSpPr/>
            <p:nvPr/>
          </p:nvSpPr>
          <p:spPr>
            <a:xfrm>
              <a:off x="3652115" y="4094485"/>
              <a:ext cx="622150" cy="616668"/>
            </a:xfrm>
            <a:prstGeom prst="ellipse">
              <a:avLst/>
            </a:prstGeom>
            <a:solidFill>
              <a:srgbClr val="1E2C55"/>
            </a:solidFill>
            <a:ln>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rgbClr val="E1CBA8"/>
                  </a:solidFill>
                  <a:latin typeface="Montserrat SemiBold" pitchFamily="2" charset="0"/>
                </a:rPr>
                <a:t>7</a:t>
              </a:r>
              <a:endParaRPr lang="en-ZA" sz="1600" b="1" dirty="0">
                <a:solidFill>
                  <a:srgbClr val="E1CBA8"/>
                </a:solidFill>
                <a:latin typeface="Montserrat SemiBold" pitchFamily="2" charset="0"/>
              </a:endParaRPr>
            </a:p>
          </p:txBody>
        </p:sp>
        <p:sp>
          <p:nvSpPr>
            <p:cNvPr id="356" name="Rounded Rectangle 7">
              <a:extLst>
                <a:ext uri="{FF2B5EF4-FFF2-40B4-BE49-F238E27FC236}">
                  <a16:creationId xmlns:a16="http://schemas.microsoft.com/office/drawing/2014/main" id="{F8A7F589-CC86-84C4-75A8-363FFE325869}"/>
                </a:ext>
              </a:extLst>
            </p:cNvPr>
            <p:cNvSpPr/>
            <p:nvPr/>
          </p:nvSpPr>
          <p:spPr>
            <a:xfrm>
              <a:off x="5210126" y="4338601"/>
              <a:ext cx="2017431" cy="2333456"/>
            </a:xfrm>
            <a:prstGeom prst="roundRect">
              <a:avLst/>
            </a:prstGeom>
            <a:solidFill>
              <a:schemeClr val="bg1"/>
            </a:solidFill>
            <a:ln w="28575">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91" name="TextBox 290">
              <a:extLst>
                <a:ext uri="{FF2B5EF4-FFF2-40B4-BE49-F238E27FC236}">
                  <a16:creationId xmlns:a16="http://schemas.microsoft.com/office/drawing/2014/main" id="{CA99099F-96D8-1F66-CE2B-9382C91D9598}"/>
                </a:ext>
              </a:extLst>
            </p:cNvPr>
            <p:cNvSpPr txBox="1"/>
            <p:nvPr/>
          </p:nvSpPr>
          <p:spPr>
            <a:xfrm>
              <a:off x="5210246" y="4771321"/>
              <a:ext cx="2017191" cy="1495794"/>
            </a:xfrm>
            <a:prstGeom prst="rect">
              <a:avLst/>
            </a:prstGeom>
            <a:noFill/>
          </p:spPr>
          <p:txBody>
            <a:bodyPr wrap="square" lIns="18288" tIns="9144" rIns="18288" bIns="9144" anchor="ctr">
              <a:spAutoFit/>
            </a:bodyPr>
            <a:lstStyle/>
            <a:p>
              <a:pPr algn="ctr">
                <a:spcAft>
                  <a:spcPts val="0"/>
                </a:spcAft>
              </a:pPr>
              <a:r>
                <a:rPr lang="en-US" sz="1600" b="1" dirty="0">
                  <a:solidFill>
                    <a:srgbClr val="1E2C55"/>
                  </a:solidFill>
                  <a:latin typeface="Aptos"/>
                </a:rPr>
                <a:t>CO-ORDINATING</a:t>
              </a:r>
            </a:p>
            <a:p>
              <a:pPr algn="ctr"/>
              <a:r>
                <a:rPr lang="en-US" sz="1600" dirty="0">
                  <a:solidFill>
                    <a:srgbClr val="1E2C55"/>
                  </a:solidFill>
                  <a:latin typeface="Aptos"/>
                </a:rPr>
                <a:t>We consider how
different </a:t>
              </a:r>
            </a:p>
            <a:p>
              <a:pPr algn="ctr"/>
              <a:r>
                <a:rPr lang="en-US" sz="1600" dirty="0">
                  <a:solidFill>
                    <a:srgbClr val="1E2C55"/>
                  </a:solidFill>
                  <a:latin typeface="Aptos"/>
                </a:rPr>
                <a:t>requirements
or products need
to work together.</a:t>
              </a:r>
            </a:p>
          </p:txBody>
        </p:sp>
        <p:sp>
          <p:nvSpPr>
            <p:cNvPr id="366" name="Oval 365">
              <a:extLst>
                <a:ext uri="{FF2B5EF4-FFF2-40B4-BE49-F238E27FC236}">
                  <a16:creationId xmlns:a16="http://schemas.microsoft.com/office/drawing/2014/main" id="{00C361F4-68E9-9974-B532-5B13E5BB5342}"/>
                </a:ext>
              </a:extLst>
            </p:cNvPr>
            <p:cNvSpPr/>
            <p:nvPr/>
          </p:nvSpPr>
          <p:spPr>
            <a:xfrm>
              <a:off x="5910507" y="4104189"/>
              <a:ext cx="616668" cy="616668"/>
            </a:xfrm>
            <a:prstGeom prst="ellipse">
              <a:avLst/>
            </a:prstGeom>
            <a:solidFill>
              <a:srgbClr val="1E2C55"/>
            </a:solidFill>
            <a:ln>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rgbClr val="E1CBA8"/>
                  </a:solidFill>
                  <a:latin typeface="Montserrat SemiBold" pitchFamily="2" charset="0"/>
                </a:rPr>
                <a:t>8</a:t>
              </a:r>
              <a:endParaRPr lang="en-ZA" sz="1600" b="1" dirty="0">
                <a:solidFill>
                  <a:srgbClr val="E1CBA8"/>
                </a:solidFill>
                <a:latin typeface="Montserrat SemiBold" pitchFamily="2" charset="0"/>
              </a:endParaRPr>
            </a:p>
          </p:txBody>
        </p:sp>
        <p:sp>
          <p:nvSpPr>
            <p:cNvPr id="358" name="Rounded Rectangle 10">
              <a:extLst>
                <a:ext uri="{FF2B5EF4-FFF2-40B4-BE49-F238E27FC236}">
                  <a16:creationId xmlns:a16="http://schemas.microsoft.com/office/drawing/2014/main" id="{9BB31D44-96FC-81B6-80FC-6EA69BF5438F}"/>
                </a:ext>
              </a:extLst>
            </p:cNvPr>
            <p:cNvSpPr/>
            <p:nvPr/>
          </p:nvSpPr>
          <p:spPr>
            <a:xfrm>
              <a:off x="7432251" y="4312226"/>
              <a:ext cx="2017431" cy="2333456"/>
            </a:xfrm>
            <a:prstGeom prst="roundRect">
              <a:avLst/>
            </a:prstGeom>
            <a:solidFill>
              <a:schemeClr val="bg1"/>
            </a:solidFill>
            <a:ln w="28575">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89" name="TextBox 288">
              <a:extLst>
                <a:ext uri="{FF2B5EF4-FFF2-40B4-BE49-F238E27FC236}">
                  <a16:creationId xmlns:a16="http://schemas.microsoft.com/office/drawing/2014/main" id="{63CE94B1-EC39-F5C8-F228-795075B70683}"/>
                </a:ext>
              </a:extLst>
            </p:cNvPr>
            <p:cNvSpPr txBox="1"/>
            <p:nvPr/>
          </p:nvSpPr>
          <p:spPr>
            <a:xfrm>
              <a:off x="7432371" y="4868056"/>
              <a:ext cx="2017191" cy="1495794"/>
            </a:xfrm>
            <a:prstGeom prst="rect">
              <a:avLst/>
            </a:prstGeom>
            <a:noFill/>
          </p:spPr>
          <p:txBody>
            <a:bodyPr wrap="square" lIns="18288" tIns="9144" rIns="18288" bIns="9144" anchor="ctr">
              <a:spAutoFit/>
            </a:bodyPr>
            <a:lstStyle/>
            <a:p>
              <a:pPr algn="ctr">
                <a:spcAft>
                  <a:spcPts val="0"/>
                </a:spcAft>
              </a:pPr>
              <a:r>
                <a:rPr lang="en-US" sz="1600" b="1" dirty="0">
                  <a:solidFill>
                    <a:srgbClr val="1E2C55"/>
                  </a:solidFill>
                  <a:latin typeface="Aptos"/>
                </a:rPr>
                <a:t>SHORTLISTING</a:t>
              </a:r>
            </a:p>
            <a:p>
              <a:pPr algn="ctr"/>
              <a:r>
                <a:rPr lang="en-US" sz="1600" dirty="0">
                  <a:solidFill>
                    <a:srgbClr val="1E2C55"/>
                  </a:solidFill>
                  <a:latin typeface="Aptos"/>
                </a:rPr>
                <a:t>We narrow down options to a tailored
shortlist of those that best fit your needs and priorities.</a:t>
              </a:r>
            </a:p>
          </p:txBody>
        </p:sp>
        <p:sp>
          <p:nvSpPr>
            <p:cNvPr id="368" name="Oval 367">
              <a:extLst>
                <a:ext uri="{FF2B5EF4-FFF2-40B4-BE49-F238E27FC236}">
                  <a16:creationId xmlns:a16="http://schemas.microsoft.com/office/drawing/2014/main" id="{CA20D121-FAAC-D7C6-0202-4343BA4487FF}"/>
                </a:ext>
              </a:extLst>
            </p:cNvPr>
            <p:cNvSpPr/>
            <p:nvPr/>
          </p:nvSpPr>
          <p:spPr>
            <a:xfrm>
              <a:off x="8132632" y="4077814"/>
              <a:ext cx="616668" cy="616668"/>
            </a:xfrm>
            <a:prstGeom prst="ellipse">
              <a:avLst/>
            </a:prstGeom>
            <a:solidFill>
              <a:srgbClr val="1E2C55"/>
            </a:solidFill>
            <a:ln>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rgbClr val="E1CBA8"/>
                  </a:solidFill>
                  <a:latin typeface="Montserrat SemiBold" pitchFamily="2" charset="0"/>
                </a:rPr>
                <a:t>9</a:t>
              </a:r>
              <a:endParaRPr lang="en-ZA" sz="1600" b="1" dirty="0">
                <a:solidFill>
                  <a:srgbClr val="E1CBA8"/>
                </a:solidFill>
                <a:latin typeface="Montserrat SemiBold" pitchFamily="2" charset="0"/>
              </a:endParaRPr>
            </a:p>
          </p:txBody>
        </p:sp>
        <p:sp>
          <p:nvSpPr>
            <p:cNvPr id="360" name="Rounded Rectangle 13">
              <a:extLst>
                <a:ext uri="{FF2B5EF4-FFF2-40B4-BE49-F238E27FC236}">
                  <a16:creationId xmlns:a16="http://schemas.microsoft.com/office/drawing/2014/main" id="{DA89E59B-5062-7C44-B899-C7C912B4C6CD}"/>
                </a:ext>
              </a:extLst>
            </p:cNvPr>
            <p:cNvSpPr/>
            <p:nvPr/>
          </p:nvSpPr>
          <p:spPr>
            <a:xfrm>
              <a:off x="9674784" y="4320849"/>
              <a:ext cx="2017431" cy="2333456"/>
            </a:xfrm>
            <a:prstGeom prst="roundRect">
              <a:avLst/>
            </a:prstGeom>
            <a:solidFill>
              <a:schemeClr val="bg1"/>
            </a:solidFill>
            <a:ln w="28575">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86" name="TextBox 285">
              <a:extLst>
                <a:ext uri="{FF2B5EF4-FFF2-40B4-BE49-F238E27FC236}">
                  <a16:creationId xmlns:a16="http://schemas.microsoft.com/office/drawing/2014/main" id="{4B176D9D-1B2A-2394-7579-602D5744BC5F}"/>
                </a:ext>
              </a:extLst>
            </p:cNvPr>
            <p:cNvSpPr txBox="1"/>
            <p:nvPr/>
          </p:nvSpPr>
          <p:spPr>
            <a:xfrm>
              <a:off x="9745755" y="4779905"/>
              <a:ext cx="1875489" cy="1495794"/>
            </a:xfrm>
            <a:prstGeom prst="rect">
              <a:avLst/>
            </a:prstGeom>
            <a:noFill/>
          </p:spPr>
          <p:txBody>
            <a:bodyPr wrap="square" lIns="18288" tIns="9144" rIns="18288" bIns="9144" anchor="ctr">
              <a:spAutoFit/>
            </a:bodyPr>
            <a:lstStyle/>
            <a:p>
              <a:pPr algn="ctr">
                <a:spcAft>
                  <a:spcPts val="0"/>
                </a:spcAft>
              </a:pPr>
              <a:r>
                <a:rPr lang="en-US" sz="1600" b="1" dirty="0">
                  <a:solidFill>
                    <a:srgbClr val="1E2C55"/>
                  </a:solidFill>
                  <a:latin typeface="Aptos"/>
                </a:rPr>
                <a:t>RECOMMENDING</a:t>
              </a:r>
            </a:p>
            <a:p>
              <a:pPr algn="ctr"/>
              <a:r>
                <a:rPr lang="en-US" sz="1600" dirty="0">
                  <a:solidFill>
                    <a:srgbClr val="1E2C55"/>
                  </a:solidFill>
                  <a:latin typeface="Aptos"/>
                </a:rPr>
                <a:t>We present your clear,
bespoke report online
</a:t>
              </a:r>
            </a:p>
          </p:txBody>
        </p:sp>
        <p:sp>
          <p:nvSpPr>
            <p:cNvPr id="370" name="Oval 369">
              <a:extLst>
                <a:ext uri="{FF2B5EF4-FFF2-40B4-BE49-F238E27FC236}">
                  <a16:creationId xmlns:a16="http://schemas.microsoft.com/office/drawing/2014/main" id="{A606F488-5CAA-D1AD-B6FE-F54F6F3692AB}"/>
                </a:ext>
              </a:extLst>
            </p:cNvPr>
            <p:cNvSpPr/>
            <p:nvPr/>
          </p:nvSpPr>
          <p:spPr>
            <a:xfrm>
              <a:off x="10375165" y="4112773"/>
              <a:ext cx="616668" cy="616668"/>
            </a:xfrm>
            <a:prstGeom prst="ellipse">
              <a:avLst/>
            </a:prstGeom>
            <a:solidFill>
              <a:srgbClr val="1E2C55"/>
            </a:solidFill>
            <a:ln>
              <a:solidFill>
                <a:srgbClr val="E1CBA8"/>
              </a:solid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rgbClr val="E1CBA8"/>
                  </a:solidFill>
                  <a:latin typeface="Montserrat SemiBold" pitchFamily="2" charset="0"/>
                </a:rPr>
                <a:t>10</a:t>
              </a:r>
              <a:endParaRPr lang="en-ZA" sz="1600" b="1" dirty="0">
                <a:solidFill>
                  <a:srgbClr val="E1CBA8"/>
                </a:solidFill>
                <a:latin typeface="Montserrat SemiBold" pitchFamily="2" charset="0"/>
              </a:endParaRPr>
            </a:p>
          </p:txBody>
        </p:sp>
        <p:sp>
          <p:nvSpPr>
            <p:cNvPr id="5" name="TextBox 4">
              <a:extLst>
                <a:ext uri="{FF2B5EF4-FFF2-40B4-BE49-F238E27FC236}">
                  <a16:creationId xmlns:a16="http://schemas.microsoft.com/office/drawing/2014/main" id="{34163F7A-3110-C9FB-4782-2DFA4C949096}"/>
                </a:ext>
              </a:extLst>
            </p:cNvPr>
            <p:cNvSpPr txBox="1"/>
            <p:nvPr/>
          </p:nvSpPr>
          <p:spPr>
            <a:xfrm>
              <a:off x="288877" y="109344"/>
              <a:ext cx="11614245" cy="1446550"/>
            </a:xfrm>
            <a:prstGeom prst="rect">
              <a:avLst/>
            </a:prstGeom>
            <a:noFill/>
          </p:spPr>
          <p:txBody>
            <a:bodyPr wrap="square" anchor="ctr">
              <a:spAutoFit/>
            </a:bodyPr>
            <a:lstStyle/>
            <a:p>
              <a:pPr algn="ctr">
                <a:spcBef>
                  <a:spcPts val="600"/>
                </a:spcBef>
              </a:pPr>
              <a:r>
                <a:rPr lang="en-US" sz="2800" dirty="0">
                  <a:solidFill>
                    <a:srgbClr val="1E2C55"/>
                  </a:solidFill>
                  <a:latin typeface="Montserrat ExtraBold" pitchFamily="2" charset="0"/>
                </a:rPr>
                <a:t>Our 10-Step Research Process</a:t>
              </a:r>
            </a:p>
            <a:p>
              <a:pPr algn="ctr">
                <a:spcBef>
                  <a:spcPts val="600"/>
                </a:spcBef>
              </a:pPr>
              <a:r>
                <a:rPr lang="en-US" sz="2500" dirty="0">
                  <a:solidFill>
                    <a:srgbClr val="1E2C55"/>
                  </a:solidFill>
                  <a:latin typeface="Montserrat SemiBold" pitchFamily="2" charset="0"/>
                </a:rPr>
                <a:t>A clear, structured approach for accurate, </a:t>
              </a:r>
            </a:p>
            <a:p>
              <a:pPr algn="ctr">
                <a:spcBef>
                  <a:spcPts val="600"/>
                </a:spcBef>
              </a:pPr>
              <a:r>
                <a:rPr lang="en-US" sz="2500" dirty="0">
                  <a:solidFill>
                    <a:srgbClr val="1E2C55"/>
                  </a:solidFill>
                  <a:latin typeface="Montserrat SemiBold" pitchFamily="2" charset="0"/>
                </a:rPr>
                <a:t>unbiased recommendations</a:t>
              </a:r>
            </a:p>
          </p:txBody>
        </p:sp>
      </p:grpSp>
    </p:spTree>
    <p:extLst>
      <p:ext uri="{BB962C8B-B14F-4D97-AF65-F5344CB8AC3E}">
        <p14:creationId xmlns:p14="http://schemas.microsoft.com/office/powerpoint/2010/main" val="2970188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5B7A20F-98E0-4368-2161-BE9E0C68207E}"/>
              </a:ext>
            </a:extLst>
          </p:cNvPr>
          <p:cNvGrpSpPr/>
          <p:nvPr/>
        </p:nvGrpSpPr>
        <p:grpSpPr>
          <a:xfrm>
            <a:off x="13766" y="-243840"/>
            <a:ext cx="12178234" cy="6858000"/>
            <a:chOff x="13766" y="-243840"/>
            <a:chExt cx="12178234" cy="6858000"/>
          </a:xfrm>
        </p:grpSpPr>
        <p:pic>
          <p:nvPicPr>
            <p:cNvPr id="278" name="Picture 277">
              <a:extLst>
                <a:ext uri="{FF2B5EF4-FFF2-40B4-BE49-F238E27FC236}">
                  <a16:creationId xmlns:a16="http://schemas.microsoft.com/office/drawing/2014/main" id="{148D4B0C-16EE-61B6-F09C-04C784EB3C2C}"/>
                </a:ext>
              </a:extLst>
            </p:cNvPr>
            <p:cNvPicPr>
              <a:picLocks noChangeAspect="1"/>
            </p:cNvPicPr>
            <p:nvPr/>
          </p:nvPicPr>
          <p:blipFill>
            <a:blip r:embed="rId2"/>
            <a:stretch>
              <a:fillRect/>
            </a:stretch>
          </p:blipFill>
          <p:spPr>
            <a:xfrm>
              <a:off x="13766" y="-243840"/>
              <a:ext cx="12178234" cy="6858000"/>
            </a:xfrm>
            <a:prstGeom prst="rect">
              <a:avLst/>
            </a:prstGeom>
          </p:spPr>
        </p:pic>
        <p:sp>
          <p:nvSpPr>
            <p:cNvPr id="5" name="TextBox 4"/>
            <p:cNvSpPr txBox="1"/>
            <p:nvPr/>
          </p:nvSpPr>
          <p:spPr>
            <a:xfrm>
              <a:off x="261642" y="184088"/>
              <a:ext cx="11682483" cy="1600438"/>
            </a:xfrm>
            <a:prstGeom prst="rect">
              <a:avLst/>
            </a:prstGeom>
            <a:noFill/>
          </p:spPr>
          <p:txBody>
            <a:bodyPr wrap="square" anchor="ctr">
              <a:spAutoFit/>
            </a:bodyPr>
            <a:lstStyle/>
            <a:p>
              <a:pPr algn="ctr">
                <a:spcBef>
                  <a:spcPts val="600"/>
                </a:spcBef>
              </a:pPr>
              <a:r>
                <a:rPr sz="2800" b="1" dirty="0">
                  <a:solidFill>
                    <a:srgbClr val="1E2C55"/>
                  </a:solidFill>
                  <a:latin typeface="Montserrat ExtraBold" pitchFamily="2" charset="0"/>
                </a:rPr>
                <a:t>Product Research, Tailored to You</a:t>
              </a:r>
              <a:endParaRPr lang="en-US" sz="2800" b="1" dirty="0">
                <a:solidFill>
                  <a:srgbClr val="1E2C55"/>
                </a:solidFill>
                <a:latin typeface="Montserrat ExtraBold" pitchFamily="2" charset="0"/>
              </a:endParaRPr>
            </a:p>
            <a:p>
              <a:pPr algn="ctr">
                <a:spcBef>
                  <a:spcPts val="600"/>
                </a:spcBef>
              </a:pPr>
              <a:r>
                <a:rPr lang="en-US" sz="2000" dirty="0">
                  <a:solidFill>
                    <a:srgbClr val="1E2C55"/>
                  </a:solidFill>
                  <a:latin typeface="Montserrat SemiBold" pitchFamily="2" charset="0"/>
                </a:rPr>
                <a:t>Three service levels. The same careful research, clear recommendations and independent advice. We determine the level of support that best fits your needs.</a:t>
              </a:r>
            </a:p>
            <a:p>
              <a:pPr algn="ctr"/>
              <a:endParaRPr sz="2500" b="1" dirty="0">
                <a:solidFill>
                  <a:srgbClr val="1E2C55"/>
                </a:solidFill>
                <a:latin typeface="Montserrat ExtraBold" pitchFamily="2" charset="0"/>
              </a:endParaRPr>
            </a:p>
          </p:txBody>
        </p:sp>
        <p:grpSp>
          <p:nvGrpSpPr>
            <p:cNvPr id="18" name="Group 17">
              <a:extLst>
                <a:ext uri="{FF2B5EF4-FFF2-40B4-BE49-F238E27FC236}">
                  <a16:creationId xmlns:a16="http://schemas.microsoft.com/office/drawing/2014/main" id="{297A204F-39CC-1450-C9EB-A55BDA973631}"/>
                </a:ext>
              </a:extLst>
            </p:cNvPr>
            <p:cNvGrpSpPr/>
            <p:nvPr/>
          </p:nvGrpSpPr>
          <p:grpSpPr>
            <a:xfrm>
              <a:off x="527669" y="1683783"/>
              <a:ext cx="11289319" cy="3726594"/>
              <a:chOff x="520786" y="2001220"/>
              <a:chExt cx="11289319" cy="3726594"/>
            </a:xfrm>
          </p:grpSpPr>
          <p:sp>
            <p:nvSpPr>
              <p:cNvPr id="26" name="Rounded Rectangle 25"/>
              <p:cNvSpPr/>
              <p:nvPr/>
            </p:nvSpPr>
            <p:spPr>
              <a:xfrm>
                <a:off x="8207369" y="2308638"/>
                <a:ext cx="3602736" cy="3401568"/>
              </a:xfrm>
              <a:prstGeom prst="roundRect">
                <a:avLst/>
              </a:prstGeom>
              <a:solidFill>
                <a:srgbClr val="FFFFFF"/>
              </a:solidFill>
              <a:ln w="28575">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9" name="Rounded Rectangle 6">
                <a:extLst>
                  <a:ext uri="{FF2B5EF4-FFF2-40B4-BE49-F238E27FC236}">
                    <a16:creationId xmlns:a16="http://schemas.microsoft.com/office/drawing/2014/main" id="{066B193C-4CDD-F5BF-E98F-A84AFE875565}"/>
                  </a:ext>
                </a:extLst>
              </p:cNvPr>
              <p:cNvSpPr/>
              <p:nvPr/>
            </p:nvSpPr>
            <p:spPr>
              <a:xfrm>
                <a:off x="520786" y="2308638"/>
                <a:ext cx="3602736" cy="3401568"/>
              </a:xfrm>
              <a:prstGeom prst="roundRect">
                <a:avLst/>
              </a:prstGeom>
              <a:solidFill>
                <a:srgbClr val="FFFFFF"/>
              </a:solidFill>
              <a:ln w="28575">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4" name="Rectangle 33"/>
              <p:cNvSpPr/>
              <p:nvPr/>
            </p:nvSpPr>
            <p:spPr>
              <a:xfrm>
                <a:off x="4612727" y="4274598"/>
                <a:ext cx="3054095"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4" name="Oval 103">
                <a:extLst>
                  <a:ext uri="{FF2B5EF4-FFF2-40B4-BE49-F238E27FC236}">
                    <a16:creationId xmlns:a16="http://schemas.microsoft.com/office/drawing/2014/main" id="{68182180-3427-E9C4-31EB-DFBBE77E7348}"/>
                  </a:ext>
                </a:extLst>
              </p:cNvPr>
              <p:cNvSpPr/>
              <p:nvPr/>
            </p:nvSpPr>
            <p:spPr>
              <a:xfrm>
                <a:off x="4612727" y="4471498"/>
                <a:ext cx="237744" cy="237744"/>
              </a:xfrm>
              <a:prstGeom prst="ellipse">
                <a:avLst/>
              </a:prstGeom>
              <a:solidFill>
                <a:srgbClr val="E1CBA8"/>
              </a:solidFill>
              <a:ln>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105" name="Graphic 104" descr="Checkmark with solid fill">
                <a:extLst>
                  <a:ext uri="{FF2B5EF4-FFF2-40B4-BE49-F238E27FC236}">
                    <a16:creationId xmlns:a16="http://schemas.microsoft.com/office/drawing/2014/main" id="{86BB9029-2CC0-780F-D375-3D5A31A63C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69761" y="4528532"/>
                <a:ext cx="123676" cy="123676"/>
              </a:xfrm>
              <a:prstGeom prst="rect">
                <a:avLst/>
              </a:prstGeom>
            </p:spPr>
          </p:pic>
          <p:sp>
            <p:nvSpPr>
              <p:cNvPr id="102" name="Oval 101">
                <a:extLst>
                  <a:ext uri="{FF2B5EF4-FFF2-40B4-BE49-F238E27FC236}">
                    <a16:creationId xmlns:a16="http://schemas.microsoft.com/office/drawing/2014/main" id="{0F7D3D31-D187-51B5-FE95-2430140A9C26}"/>
                  </a:ext>
                </a:extLst>
              </p:cNvPr>
              <p:cNvSpPr/>
              <p:nvPr/>
            </p:nvSpPr>
            <p:spPr>
              <a:xfrm>
                <a:off x="4624634" y="4837895"/>
                <a:ext cx="237744" cy="237744"/>
              </a:xfrm>
              <a:prstGeom prst="ellipse">
                <a:avLst/>
              </a:prstGeom>
              <a:solidFill>
                <a:srgbClr val="E1CBA8"/>
              </a:solidFill>
              <a:ln>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103" name="Graphic 102" descr="Checkmark with solid fill">
                <a:extLst>
                  <a:ext uri="{FF2B5EF4-FFF2-40B4-BE49-F238E27FC236}">
                    <a16:creationId xmlns:a16="http://schemas.microsoft.com/office/drawing/2014/main" id="{6DF6BF1C-5B33-AD83-3099-4EF983AE36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81668" y="4894929"/>
                <a:ext cx="123676" cy="123676"/>
              </a:xfrm>
              <a:prstGeom prst="rect">
                <a:avLst/>
              </a:prstGeom>
            </p:spPr>
          </p:pic>
          <p:sp>
            <p:nvSpPr>
              <p:cNvPr id="100" name="Oval 99">
                <a:extLst>
                  <a:ext uri="{FF2B5EF4-FFF2-40B4-BE49-F238E27FC236}">
                    <a16:creationId xmlns:a16="http://schemas.microsoft.com/office/drawing/2014/main" id="{E6BF3EDF-B92D-078A-88DA-3AB3B18EB1D6}"/>
                  </a:ext>
                </a:extLst>
              </p:cNvPr>
              <p:cNvSpPr/>
              <p:nvPr/>
            </p:nvSpPr>
            <p:spPr>
              <a:xfrm>
                <a:off x="4624634" y="5220650"/>
                <a:ext cx="237744" cy="237744"/>
              </a:xfrm>
              <a:prstGeom prst="ellipse">
                <a:avLst/>
              </a:prstGeom>
              <a:solidFill>
                <a:srgbClr val="E1CBA8"/>
              </a:solidFill>
              <a:ln>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101" name="Graphic 100" descr="Checkmark with solid fill">
                <a:extLst>
                  <a:ext uri="{FF2B5EF4-FFF2-40B4-BE49-F238E27FC236}">
                    <a16:creationId xmlns:a16="http://schemas.microsoft.com/office/drawing/2014/main" id="{820A6D3C-3009-6CB5-E653-3B99EB3FDF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81668" y="5277684"/>
                <a:ext cx="123676" cy="123676"/>
              </a:xfrm>
              <a:prstGeom prst="rect">
                <a:avLst/>
              </a:prstGeom>
            </p:spPr>
          </p:pic>
          <p:sp>
            <p:nvSpPr>
              <p:cNvPr id="134" name="Rounded Rectangle 6">
                <a:extLst>
                  <a:ext uri="{FF2B5EF4-FFF2-40B4-BE49-F238E27FC236}">
                    <a16:creationId xmlns:a16="http://schemas.microsoft.com/office/drawing/2014/main" id="{98CA7C5E-A997-7E85-1164-9A2459F22CC7}"/>
                  </a:ext>
                </a:extLst>
              </p:cNvPr>
              <p:cNvSpPr/>
              <p:nvPr/>
            </p:nvSpPr>
            <p:spPr>
              <a:xfrm>
                <a:off x="4365839" y="2326246"/>
                <a:ext cx="3602736" cy="3401568"/>
              </a:xfrm>
              <a:prstGeom prst="roundRect">
                <a:avLst/>
              </a:prstGeom>
              <a:solidFill>
                <a:schemeClr val="bg1"/>
              </a:solidFill>
              <a:ln w="28575">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2" name="Rectangle 151">
                <a:extLst>
                  <a:ext uri="{FF2B5EF4-FFF2-40B4-BE49-F238E27FC236}">
                    <a16:creationId xmlns:a16="http://schemas.microsoft.com/office/drawing/2014/main" id="{82A86727-5548-B9F2-E850-BEED23DDA8A5}"/>
                  </a:ext>
                </a:extLst>
              </p:cNvPr>
              <p:cNvSpPr/>
              <p:nvPr/>
            </p:nvSpPr>
            <p:spPr>
              <a:xfrm>
                <a:off x="4727205" y="4283011"/>
                <a:ext cx="3054096" cy="9144"/>
              </a:xfrm>
              <a:prstGeom prst="rect">
                <a:avLst/>
              </a:prstGeom>
              <a:solidFill>
                <a:srgbClr val="C8C8C8"/>
              </a:solidFill>
              <a:ln>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62" name="Rectangle 161">
                <a:extLst>
                  <a:ext uri="{FF2B5EF4-FFF2-40B4-BE49-F238E27FC236}">
                    <a16:creationId xmlns:a16="http://schemas.microsoft.com/office/drawing/2014/main" id="{171DB1F3-13FD-B667-28C4-F0C30D1862EE}"/>
                  </a:ext>
                </a:extLst>
              </p:cNvPr>
              <p:cNvSpPr/>
              <p:nvPr/>
            </p:nvSpPr>
            <p:spPr>
              <a:xfrm>
                <a:off x="8471495" y="4278715"/>
                <a:ext cx="3054096" cy="9144"/>
              </a:xfrm>
              <a:prstGeom prst="rect">
                <a:avLst/>
              </a:prstGeom>
              <a:solidFill>
                <a:srgbClr val="C8C8C8"/>
              </a:solidFill>
              <a:ln>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78" name="TextBox 377">
                <a:extLst>
                  <a:ext uri="{FF2B5EF4-FFF2-40B4-BE49-F238E27FC236}">
                    <a16:creationId xmlns:a16="http://schemas.microsoft.com/office/drawing/2014/main" id="{30F7CD05-4AF5-CBD6-FAA3-9BBAC9DCBDCB}"/>
                  </a:ext>
                </a:extLst>
              </p:cNvPr>
              <p:cNvSpPr txBox="1"/>
              <p:nvPr/>
            </p:nvSpPr>
            <p:spPr>
              <a:xfrm>
                <a:off x="8680032" y="4471498"/>
                <a:ext cx="3054096" cy="276999"/>
              </a:xfrm>
              <a:prstGeom prst="rect">
                <a:avLst/>
              </a:prstGeom>
              <a:noFill/>
            </p:spPr>
            <p:txBody>
              <a:bodyPr wrap="square">
                <a:spAutoFit/>
              </a:bodyPr>
              <a:lstStyle/>
              <a:p>
                <a:pPr>
                  <a:buNone/>
                </a:pPr>
                <a:endParaRPr lang="en-ZA" sz="1200" dirty="0">
                  <a:solidFill>
                    <a:srgbClr val="1E2C55"/>
                  </a:solidFill>
                  <a:latin typeface="Aptos"/>
                </a:endParaRPr>
              </a:p>
            </p:txBody>
          </p:sp>
          <p:grpSp>
            <p:nvGrpSpPr>
              <p:cNvPr id="17" name="Group 16">
                <a:extLst>
                  <a:ext uri="{FF2B5EF4-FFF2-40B4-BE49-F238E27FC236}">
                    <a16:creationId xmlns:a16="http://schemas.microsoft.com/office/drawing/2014/main" id="{9C8E99A6-A424-ACE1-7F2D-F495DE240552}"/>
                  </a:ext>
                </a:extLst>
              </p:cNvPr>
              <p:cNvGrpSpPr/>
              <p:nvPr/>
            </p:nvGrpSpPr>
            <p:grpSpPr>
              <a:xfrm>
                <a:off x="520786" y="2001220"/>
                <a:ext cx="3602736" cy="3416899"/>
                <a:chOff x="520786" y="2001220"/>
                <a:chExt cx="3602736" cy="3416899"/>
              </a:xfrm>
            </p:grpSpPr>
            <p:sp>
              <p:nvSpPr>
                <p:cNvPr id="16" name="Rectangle 15"/>
                <p:cNvSpPr/>
                <p:nvPr/>
              </p:nvSpPr>
              <p:spPr>
                <a:xfrm>
                  <a:off x="795106" y="4321111"/>
                  <a:ext cx="3054096" cy="9144"/>
                </a:xfrm>
                <a:prstGeom prst="rect">
                  <a:avLst/>
                </a:prstGeom>
                <a:solidFill>
                  <a:srgbClr val="C8C8C8"/>
                </a:solidFill>
                <a:ln>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nvGrpSpPr>
                <p:cNvPr id="12" name="Group 11">
                  <a:extLst>
                    <a:ext uri="{FF2B5EF4-FFF2-40B4-BE49-F238E27FC236}">
                      <a16:creationId xmlns:a16="http://schemas.microsoft.com/office/drawing/2014/main" id="{965FABC4-0B9D-E43B-910C-E7F7D132028A}"/>
                    </a:ext>
                  </a:extLst>
                </p:cNvPr>
                <p:cNvGrpSpPr/>
                <p:nvPr/>
              </p:nvGrpSpPr>
              <p:grpSpPr>
                <a:xfrm>
                  <a:off x="520786" y="2001220"/>
                  <a:ext cx="3602736" cy="3416899"/>
                  <a:chOff x="520786" y="2001220"/>
                  <a:chExt cx="3602736" cy="3416899"/>
                </a:xfrm>
              </p:grpSpPr>
              <p:sp>
                <p:nvSpPr>
                  <p:cNvPr id="13" name="TextBox 12"/>
                  <p:cNvSpPr txBox="1"/>
                  <p:nvPr/>
                </p:nvSpPr>
                <p:spPr>
                  <a:xfrm>
                    <a:off x="520786" y="2725296"/>
                    <a:ext cx="3593593" cy="400110"/>
                  </a:xfrm>
                  <a:prstGeom prst="rect">
                    <a:avLst/>
                  </a:prstGeom>
                  <a:noFill/>
                </p:spPr>
                <p:txBody>
                  <a:bodyPr wrap="square" anchor="ctr">
                    <a:spAutoFit/>
                  </a:bodyPr>
                  <a:lstStyle/>
                  <a:p>
                    <a:pPr algn="ctr"/>
                    <a:r>
                      <a:rPr sz="2000" b="1" dirty="0">
                        <a:solidFill>
                          <a:srgbClr val="1E2C55"/>
                        </a:solidFill>
                        <a:latin typeface="Montserrat SemiBold" pitchFamily="2" charset="0"/>
                      </a:rPr>
                      <a:t>CORE</a:t>
                    </a:r>
                  </a:p>
                </p:txBody>
              </p:sp>
              <p:sp>
                <p:nvSpPr>
                  <p:cNvPr id="14" name="TextBox 13"/>
                  <p:cNvSpPr txBox="1"/>
                  <p:nvPr/>
                </p:nvSpPr>
                <p:spPr>
                  <a:xfrm>
                    <a:off x="525358" y="3046338"/>
                    <a:ext cx="3584449" cy="400110"/>
                  </a:xfrm>
                  <a:prstGeom prst="rect">
                    <a:avLst/>
                  </a:prstGeom>
                  <a:noFill/>
                </p:spPr>
                <p:txBody>
                  <a:bodyPr wrap="square" anchor="ctr">
                    <a:spAutoFit/>
                  </a:bodyPr>
                  <a:lstStyle/>
                  <a:p>
                    <a:pPr algn="ctr"/>
                    <a:r>
                      <a:rPr sz="2000" dirty="0">
                        <a:solidFill>
                          <a:srgbClr val="C7A36F"/>
                        </a:solidFill>
                        <a:latin typeface="Aptos" panose="020B0004020202020204" pitchFamily="34" charset="0"/>
                      </a:rPr>
                      <a:t>From R450</a:t>
                    </a:r>
                  </a:p>
                </p:txBody>
              </p:sp>
              <p:sp>
                <p:nvSpPr>
                  <p:cNvPr id="15" name="TextBox 14"/>
                  <p:cNvSpPr txBox="1"/>
                  <p:nvPr/>
                </p:nvSpPr>
                <p:spPr>
                  <a:xfrm>
                    <a:off x="520786" y="3454209"/>
                    <a:ext cx="3602736" cy="830997"/>
                  </a:xfrm>
                  <a:prstGeom prst="rect">
                    <a:avLst/>
                  </a:prstGeom>
                  <a:noFill/>
                </p:spPr>
                <p:txBody>
                  <a:bodyPr wrap="square" anchor="ctr">
                    <a:spAutoFit/>
                  </a:bodyPr>
                  <a:lstStyle/>
                  <a:p>
                    <a:pPr algn="ctr"/>
                    <a:r>
                      <a:rPr sz="1600" b="0" dirty="0">
                        <a:solidFill>
                          <a:srgbClr val="1E2C55"/>
                        </a:solidFill>
                        <a:latin typeface="Aptos"/>
                      </a:rPr>
                      <a:t>Focused, relatively straightforward
purchasing decisions requiring
targeted research </a:t>
                    </a:r>
                    <a:r>
                      <a:rPr sz="1600" dirty="0">
                        <a:solidFill>
                          <a:srgbClr val="1E2C55"/>
                        </a:solidFill>
                        <a:latin typeface="Aptos"/>
                      </a:rPr>
                      <a:t>and comparison</a:t>
                    </a:r>
                    <a:r>
                      <a:rPr sz="1600" b="0" dirty="0">
                        <a:solidFill>
                          <a:srgbClr val="1E2C55"/>
                        </a:solidFill>
                        <a:latin typeface="Aptos"/>
                      </a:rPr>
                      <a:t>.</a:t>
                    </a:r>
                  </a:p>
                </p:txBody>
              </p:sp>
              <p:sp>
                <p:nvSpPr>
                  <p:cNvPr id="42" name="Oval 41">
                    <a:extLst>
                      <a:ext uri="{FF2B5EF4-FFF2-40B4-BE49-F238E27FC236}">
                        <a16:creationId xmlns:a16="http://schemas.microsoft.com/office/drawing/2014/main" id="{F0B3F0C0-E11A-5B0B-1BA8-02AE0794EA64}"/>
                      </a:ext>
                    </a:extLst>
                  </p:cNvPr>
                  <p:cNvSpPr/>
                  <p:nvPr/>
                </p:nvSpPr>
                <p:spPr>
                  <a:xfrm>
                    <a:off x="1979745" y="2001220"/>
                    <a:ext cx="684818" cy="684818"/>
                  </a:xfrm>
                  <a:prstGeom prst="ellipse">
                    <a:avLst/>
                  </a:prstGeom>
                  <a:solidFill>
                    <a:srgbClr val="1E2C55"/>
                  </a:solidFill>
                  <a:ln w="15875">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solidFill>
                        <a:srgbClr val="1E2C55"/>
                      </a:solidFill>
                    </a:endParaRPr>
                  </a:p>
                </p:txBody>
              </p:sp>
              <p:pic>
                <p:nvPicPr>
                  <p:cNvPr id="20" name="Graphic 19" descr="Flower with solid fill">
                    <a:extLst>
                      <a:ext uri="{FF2B5EF4-FFF2-40B4-BE49-F238E27FC236}">
                        <a16:creationId xmlns:a16="http://schemas.microsoft.com/office/drawing/2014/main" id="{1CDB4FBC-1E50-85F1-F51A-112801AE272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101408" y="2115263"/>
                    <a:ext cx="456732" cy="456732"/>
                  </a:xfrm>
                  <a:prstGeom prst="rect">
                    <a:avLst/>
                  </a:prstGeom>
                </p:spPr>
              </p:pic>
              <p:grpSp>
                <p:nvGrpSpPr>
                  <p:cNvPr id="290" name="Group 289">
                    <a:extLst>
                      <a:ext uri="{FF2B5EF4-FFF2-40B4-BE49-F238E27FC236}">
                        <a16:creationId xmlns:a16="http://schemas.microsoft.com/office/drawing/2014/main" id="{ACF1341C-FEA2-6ADC-A919-BDC2ADAF4915}"/>
                      </a:ext>
                    </a:extLst>
                  </p:cNvPr>
                  <p:cNvGrpSpPr/>
                  <p:nvPr/>
                </p:nvGrpSpPr>
                <p:grpSpPr>
                  <a:xfrm>
                    <a:off x="795106" y="4405240"/>
                    <a:ext cx="230520" cy="973624"/>
                    <a:chOff x="795106" y="4417769"/>
                    <a:chExt cx="230520" cy="973624"/>
                  </a:xfrm>
                </p:grpSpPr>
                <p:grpSp>
                  <p:nvGrpSpPr>
                    <p:cNvPr id="285" name="Group 284">
                      <a:extLst>
                        <a:ext uri="{FF2B5EF4-FFF2-40B4-BE49-F238E27FC236}">
                          <a16:creationId xmlns:a16="http://schemas.microsoft.com/office/drawing/2014/main" id="{8B9AE2F5-F796-4BF6-960E-A23FD40990F3}"/>
                        </a:ext>
                      </a:extLst>
                    </p:cNvPr>
                    <p:cNvGrpSpPr/>
                    <p:nvPr/>
                  </p:nvGrpSpPr>
                  <p:grpSpPr>
                    <a:xfrm>
                      <a:off x="795106" y="4417769"/>
                      <a:ext cx="219525" cy="237744"/>
                      <a:chOff x="795106" y="4417769"/>
                      <a:chExt cx="219525" cy="237744"/>
                    </a:xfrm>
                  </p:grpSpPr>
                  <p:sp>
                    <p:nvSpPr>
                      <p:cNvPr id="233" name="Oval 232">
                        <a:extLst>
                          <a:ext uri="{FF2B5EF4-FFF2-40B4-BE49-F238E27FC236}">
                            <a16:creationId xmlns:a16="http://schemas.microsoft.com/office/drawing/2014/main" id="{B97ADB08-B7CB-FA4A-E9D4-1EFD45C44521}"/>
                          </a:ext>
                        </a:extLst>
                      </p:cNvPr>
                      <p:cNvSpPr/>
                      <p:nvPr/>
                    </p:nvSpPr>
                    <p:spPr>
                      <a:xfrm>
                        <a:off x="795106" y="4417769"/>
                        <a:ext cx="219525" cy="237744"/>
                      </a:xfrm>
                      <a:prstGeom prst="ellipse">
                        <a:avLst/>
                      </a:prstGeom>
                      <a:solidFill>
                        <a:srgbClr val="E1CBA8"/>
                      </a:solidFill>
                      <a:ln>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69" name="Graphic 68" descr="Checkmark with solid fill">
                        <a:extLst>
                          <a:ext uri="{FF2B5EF4-FFF2-40B4-BE49-F238E27FC236}">
                            <a16:creationId xmlns:a16="http://schemas.microsoft.com/office/drawing/2014/main" id="{B4F6CD21-274A-971E-EF4F-B8CC9F24FD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7769" y="4474803"/>
                        <a:ext cx="114198" cy="123676"/>
                      </a:xfrm>
                      <a:prstGeom prst="rect">
                        <a:avLst/>
                      </a:prstGeom>
                    </p:spPr>
                  </p:pic>
                </p:grpSp>
                <p:sp>
                  <p:nvSpPr>
                    <p:cNvPr id="234" name="Oval 233">
                      <a:extLst>
                        <a:ext uri="{FF2B5EF4-FFF2-40B4-BE49-F238E27FC236}">
                          <a16:creationId xmlns:a16="http://schemas.microsoft.com/office/drawing/2014/main" id="{2325E0AE-7E6C-4421-4DA3-64CFF69EEE97}"/>
                        </a:ext>
                      </a:extLst>
                    </p:cNvPr>
                    <p:cNvSpPr/>
                    <p:nvPr/>
                  </p:nvSpPr>
                  <p:spPr>
                    <a:xfrm>
                      <a:off x="806101" y="4785709"/>
                      <a:ext cx="219525" cy="237744"/>
                    </a:xfrm>
                    <a:prstGeom prst="ellipse">
                      <a:avLst/>
                    </a:prstGeom>
                    <a:solidFill>
                      <a:srgbClr val="E1CBA8"/>
                    </a:solidFill>
                    <a:ln>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79" name="Graphic 78" descr="Checkmark with solid fill">
                      <a:extLst>
                        <a:ext uri="{FF2B5EF4-FFF2-40B4-BE49-F238E27FC236}">
                          <a16:creationId xmlns:a16="http://schemas.microsoft.com/office/drawing/2014/main" id="{12B420AE-7506-EE9F-C69A-CF7683A6F7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8764" y="4842743"/>
                      <a:ext cx="114198" cy="123676"/>
                    </a:xfrm>
                    <a:prstGeom prst="rect">
                      <a:avLst/>
                    </a:prstGeom>
                  </p:spPr>
                </p:pic>
                <p:grpSp>
                  <p:nvGrpSpPr>
                    <p:cNvPr id="286" name="Group 285">
                      <a:extLst>
                        <a:ext uri="{FF2B5EF4-FFF2-40B4-BE49-F238E27FC236}">
                          <a16:creationId xmlns:a16="http://schemas.microsoft.com/office/drawing/2014/main" id="{5594D3C9-7692-3329-3D7B-FD633753C399}"/>
                        </a:ext>
                      </a:extLst>
                    </p:cNvPr>
                    <p:cNvGrpSpPr/>
                    <p:nvPr/>
                  </p:nvGrpSpPr>
                  <p:grpSpPr>
                    <a:xfrm>
                      <a:off x="806101" y="5153649"/>
                      <a:ext cx="219525" cy="237744"/>
                      <a:chOff x="806101" y="5153649"/>
                      <a:chExt cx="219525" cy="237744"/>
                    </a:xfrm>
                  </p:grpSpPr>
                  <p:sp>
                    <p:nvSpPr>
                      <p:cNvPr id="235" name="Oval 234">
                        <a:extLst>
                          <a:ext uri="{FF2B5EF4-FFF2-40B4-BE49-F238E27FC236}">
                            <a16:creationId xmlns:a16="http://schemas.microsoft.com/office/drawing/2014/main" id="{9FAC70AB-2669-1AFD-E745-1CC1C265936A}"/>
                          </a:ext>
                        </a:extLst>
                      </p:cNvPr>
                      <p:cNvSpPr/>
                      <p:nvPr/>
                    </p:nvSpPr>
                    <p:spPr>
                      <a:xfrm>
                        <a:off x="806101" y="5153649"/>
                        <a:ext cx="219525" cy="237744"/>
                      </a:xfrm>
                      <a:prstGeom prst="ellipse">
                        <a:avLst/>
                      </a:prstGeom>
                      <a:solidFill>
                        <a:srgbClr val="E1CBA8"/>
                      </a:solidFill>
                      <a:ln>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81" name="Graphic 80" descr="Checkmark with solid fill">
                        <a:extLst>
                          <a:ext uri="{FF2B5EF4-FFF2-40B4-BE49-F238E27FC236}">
                            <a16:creationId xmlns:a16="http://schemas.microsoft.com/office/drawing/2014/main" id="{61EE63CA-1791-3BCF-0A5F-4651A5FFC1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8764" y="5210683"/>
                        <a:ext cx="114198" cy="123676"/>
                      </a:xfrm>
                      <a:prstGeom prst="rect">
                        <a:avLst/>
                      </a:prstGeom>
                    </p:spPr>
                  </p:pic>
                </p:grpSp>
              </p:grpSp>
              <p:grpSp>
                <p:nvGrpSpPr>
                  <p:cNvPr id="306" name="Group 305">
                    <a:extLst>
                      <a:ext uri="{FF2B5EF4-FFF2-40B4-BE49-F238E27FC236}">
                        <a16:creationId xmlns:a16="http://schemas.microsoft.com/office/drawing/2014/main" id="{4983A0AD-2566-21BD-9BBB-0AE26E005D01}"/>
                      </a:ext>
                    </a:extLst>
                  </p:cNvPr>
                  <p:cNvGrpSpPr/>
                  <p:nvPr/>
                </p:nvGrpSpPr>
                <p:grpSpPr>
                  <a:xfrm>
                    <a:off x="1088967" y="4405240"/>
                    <a:ext cx="2811616" cy="1012879"/>
                    <a:chOff x="1038167" y="4398142"/>
                    <a:chExt cx="2811616" cy="1012879"/>
                  </a:xfrm>
                </p:grpSpPr>
                <p:sp>
                  <p:nvSpPr>
                    <p:cNvPr id="19" name="TextBox 18"/>
                    <p:cNvSpPr txBox="1"/>
                    <p:nvPr/>
                  </p:nvSpPr>
                  <p:spPr>
                    <a:xfrm>
                      <a:off x="1038167" y="4398142"/>
                      <a:ext cx="2811616" cy="276999"/>
                    </a:xfrm>
                    <a:prstGeom prst="rect">
                      <a:avLst/>
                    </a:prstGeom>
                    <a:noFill/>
                  </p:spPr>
                  <p:txBody>
                    <a:bodyPr wrap="square" anchor="ctr">
                      <a:spAutoFit/>
                    </a:bodyPr>
                    <a:lstStyle/>
                    <a:p>
                      <a:r>
                        <a:rPr sz="1200" dirty="0">
                          <a:solidFill>
                            <a:srgbClr val="1E2C55"/>
                          </a:solidFill>
                          <a:latin typeface="Aptos"/>
                        </a:rPr>
                        <a:t>Targeted research and comparison</a:t>
                      </a:r>
                    </a:p>
                  </p:txBody>
                </p:sp>
                <p:sp>
                  <p:nvSpPr>
                    <p:cNvPr id="22" name="TextBox 21"/>
                    <p:cNvSpPr txBox="1"/>
                    <p:nvPr/>
                  </p:nvSpPr>
                  <p:spPr>
                    <a:xfrm>
                      <a:off x="1038167" y="4766082"/>
                      <a:ext cx="2811616" cy="276999"/>
                    </a:xfrm>
                    <a:prstGeom prst="rect">
                      <a:avLst/>
                    </a:prstGeom>
                    <a:noFill/>
                  </p:spPr>
                  <p:txBody>
                    <a:bodyPr wrap="square" anchor="ctr">
                      <a:spAutoFit/>
                    </a:bodyPr>
                    <a:lstStyle/>
                    <a:p>
                      <a:r>
                        <a:rPr sz="1200" dirty="0">
                          <a:solidFill>
                            <a:srgbClr val="1E2C55"/>
                          </a:solidFill>
                          <a:latin typeface="Aptos"/>
                        </a:rPr>
                        <a:t>Clear, practical recommendations</a:t>
                      </a:r>
                    </a:p>
                  </p:txBody>
                </p:sp>
                <p:sp>
                  <p:nvSpPr>
                    <p:cNvPr id="25" name="TextBox 24"/>
                    <p:cNvSpPr txBox="1"/>
                    <p:nvPr/>
                  </p:nvSpPr>
                  <p:spPr>
                    <a:xfrm>
                      <a:off x="1038167" y="5134022"/>
                      <a:ext cx="2811616" cy="276999"/>
                    </a:xfrm>
                    <a:prstGeom prst="rect">
                      <a:avLst/>
                    </a:prstGeom>
                    <a:noFill/>
                  </p:spPr>
                  <p:txBody>
                    <a:bodyPr wrap="square" anchor="ctr">
                      <a:spAutoFit/>
                    </a:bodyPr>
                    <a:lstStyle/>
                    <a:p>
                      <a:r>
                        <a:rPr sz="1200" dirty="0">
                          <a:solidFill>
                            <a:srgbClr val="1E2C55"/>
                          </a:solidFill>
                          <a:latin typeface="Aptos"/>
                        </a:rPr>
                        <a:t>Ideal for focused decisions</a:t>
                      </a:r>
                    </a:p>
                  </p:txBody>
                </p:sp>
              </p:grpSp>
            </p:grpSp>
          </p:grpSp>
          <p:grpSp>
            <p:nvGrpSpPr>
              <p:cNvPr id="10" name="Group 9">
                <a:extLst>
                  <a:ext uri="{FF2B5EF4-FFF2-40B4-BE49-F238E27FC236}">
                    <a16:creationId xmlns:a16="http://schemas.microsoft.com/office/drawing/2014/main" id="{B533E2BA-7521-C581-8E4C-BB6C391392DC}"/>
                  </a:ext>
                </a:extLst>
              </p:cNvPr>
              <p:cNvGrpSpPr/>
              <p:nvPr/>
            </p:nvGrpSpPr>
            <p:grpSpPr>
              <a:xfrm>
                <a:off x="4347550" y="2001220"/>
                <a:ext cx="3575305" cy="3447569"/>
                <a:chOff x="4347550" y="2001220"/>
                <a:chExt cx="3575305" cy="3447569"/>
              </a:xfrm>
            </p:grpSpPr>
            <p:sp>
              <p:nvSpPr>
                <p:cNvPr id="31" name="TextBox 30"/>
                <p:cNvSpPr txBox="1"/>
                <p:nvPr/>
              </p:nvSpPr>
              <p:spPr>
                <a:xfrm>
                  <a:off x="4554324" y="2725296"/>
                  <a:ext cx="3145536" cy="400110"/>
                </a:xfrm>
                <a:prstGeom prst="rect">
                  <a:avLst/>
                </a:prstGeom>
                <a:noFill/>
              </p:spPr>
              <p:txBody>
                <a:bodyPr wrap="square" anchor="ctr">
                  <a:spAutoFit/>
                </a:bodyPr>
                <a:lstStyle/>
                <a:p>
                  <a:pPr algn="ctr"/>
                  <a:r>
                    <a:rPr sz="2000" b="1" dirty="0">
                      <a:solidFill>
                        <a:srgbClr val="1E2C55"/>
                      </a:solidFill>
                      <a:latin typeface="Montserrat SemiBold" pitchFamily="2" charset="0"/>
                    </a:rPr>
                    <a:t>PREMIUM</a:t>
                  </a:r>
                </a:p>
              </p:txBody>
            </p:sp>
            <p:sp>
              <p:nvSpPr>
                <p:cNvPr id="32" name="TextBox 31"/>
                <p:cNvSpPr txBox="1"/>
                <p:nvPr/>
              </p:nvSpPr>
              <p:spPr>
                <a:xfrm>
                  <a:off x="4554324" y="3046338"/>
                  <a:ext cx="3145536" cy="400110"/>
                </a:xfrm>
                <a:prstGeom prst="rect">
                  <a:avLst/>
                </a:prstGeom>
                <a:noFill/>
              </p:spPr>
              <p:txBody>
                <a:bodyPr wrap="square" anchor="ctr">
                  <a:spAutoFit/>
                </a:bodyPr>
                <a:lstStyle/>
                <a:p>
                  <a:pPr algn="ctr"/>
                  <a:r>
                    <a:rPr sz="2000" dirty="0">
                      <a:solidFill>
                        <a:srgbClr val="C7A36F"/>
                      </a:solidFill>
                      <a:latin typeface="Aptos" panose="020B0004020202020204" pitchFamily="34" charset="0"/>
                    </a:rPr>
                    <a:t>From R950</a:t>
                  </a:r>
                </a:p>
              </p:txBody>
            </p:sp>
            <p:sp>
              <p:nvSpPr>
                <p:cNvPr id="33" name="TextBox 32"/>
                <p:cNvSpPr txBox="1"/>
                <p:nvPr/>
              </p:nvSpPr>
              <p:spPr>
                <a:xfrm>
                  <a:off x="4347550" y="3416109"/>
                  <a:ext cx="3575305" cy="830997"/>
                </a:xfrm>
                <a:prstGeom prst="rect">
                  <a:avLst/>
                </a:prstGeom>
                <a:noFill/>
              </p:spPr>
              <p:txBody>
                <a:bodyPr wrap="square" anchor="ctr">
                  <a:spAutoFit/>
                </a:bodyPr>
                <a:lstStyle/>
                <a:p>
                  <a:pPr algn="ctr"/>
                  <a:r>
                    <a:rPr sz="1600" dirty="0">
                      <a:solidFill>
                        <a:srgbClr val="1E2C55"/>
                      </a:solidFill>
                      <a:latin typeface="Aptos"/>
                    </a:rPr>
                    <a:t>More involved decisions requiring
greater depth, broader comparison
and additional verification.</a:t>
                  </a:r>
                </a:p>
              </p:txBody>
            </p:sp>
            <p:grpSp>
              <p:nvGrpSpPr>
                <p:cNvPr id="371" name="Group 370">
                  <a:extLst>
                    <a:ext uri="{FF2B5EF4-FFF2-40B4-BE49-F238E27FC236}">
                      <a16:creationId xmlns:a16="http://schemas.microsoft.com/office/drawing/2014/main" id="{BCAA79EE-4CDB-FD61-94E7-1C7DF4100ADE}"/>
                    </a:ext>
                  </a:extLst>
                </p:cNvPr>
                <p:cNvGrpSpPr/>
                <p:nvPr/>
              </p:nvGrpSpPr>
              <p:grpSpPr>
                <a:xfrm>
                  <a:off x="5772000" y="2001220"/>
                  <a:ext cx="684818" cy="684818"/>
                  <a:chOff x="5772000" y="2017773"/>
                  <a:chExt cx="684818" cy="684818"/>
                </a:xfrm>
              </p:grpSpPr>
              <p:sp>
                <p:nvSpPr>
                  <p:cNvPr id="27" name="Oval 26"/>
                  <p:cNvSpPr/>
                  <p:nvPr/>
                </p:nvSpPr>
                <p:spPr>
                  <a:xfrm>
                    <a:off x="5772000" y="2017773"/>
                    <a:ext cx="684818" cy="684818"/>
                  </a:xfrm>
                  <a:prstGeom prst="ellipse">
                    <a:avLst/>
                  </a:prstGeom>
                  <a:solidFill>
                    <a:srgbClr val="1E2C55"/>
                  </a:solidFill>
                  <a:ln w="15875">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24" name="Graphic 23" descr="Frangipani with solid fill">
                    <a:extLst>
                      <a:ext uri="{FF2B5EF4-FFF2-40B4-BE49-F238E27FC236}">
                        <a16:creationId xmlns:a16="http://schemas.microsoft.com/office/drawing/2014/main" id="{08CE3B27-E4FB-2AD2-E259-02BC9525A59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5862526" y="2108299"/>
                    <a:ext cx="503766" cy="503766"/>
                  </a:xfrm>
                  <a:prstGeom prst="rect">
                    <a:avLst/>
                  </a:prstGeom>
                </p:spPr>
              </p:pic>
            </p:grpSp>
            <p:grpSp>
              <p:nvGrpSpPr>
                <p:cNvPr id="406" name="Group 405">
                  <a:extLst>
                    <a:ext uri="{FF2B5EF4-FFF2-40B4-BE49-F238E27FC236}">
                      <a16:creationId xmlns:a16="http://schemas.microsoft.com/office/drawing/2014/main" id="{215FA683-CF24-CAAA-2CC2-DACDFBAAB512}"/>
                    </a:ext>
                  </a:extLst>
                </p:cNvPr>
                <p:cNvGrpSpPr/>
                <p:nvPr/>
              </p:nvGrpSpPr>
              <p:grpSpPr>
                <a:xfrm>
                  <a:off x="4808668" y="4414237"/>
                  <a:ext cx="3044594" cy="1034552"/>
                  <a:chOff x="4735008" y="4444717"/>
                  <a:chExt cx="3044594" cy="1034552"/>
                </a:xfrm>
              </p:grpSpPr>
              <p:sp>
                <p:nvSpPr>
                  <p:cNvPr id="37" name="TextBox 36"/>
                  <p:cNvSpPr txBox="1"/>
                  <p:nvPr/>
                </p:nvSpPr>
                <p:spPr>
                  <a:xfrm>
                    <a:off x="4735008" y="4444717"/>
                    <a:ext cx="3044594" cy="276999"/>
                  </a:xfrm>
                  <a:prstGeom prst="rect">
                    <a:avLst/>
                  </a:prstGeom>
                  <a:noFill/>
                </p:spPr>
                <p:txBody>
                  <a:bodyPr wrap="square" anchor="ctr">
                    <a:spAutoFit/>
                  </a:bodyPr>
                  <a:lstStyle/>
                  <a:p>
                    <a:r>
                      <a:rPr sz="1200" dirty="0">
                        <a:solidFill>
                          <a:srgbClr val="1E2C55"/>
                        </a:solidFill>
                        <a:latin typeface="Aptos"/>
                      </a:rPr>
                      <a:t>In-depth</a:t>
                    </a:r>
                    <a:r>
                      <a:rPr lang="en-ZA" sz="1200" dirty="0">
                        <a:solidFill>
                          <a:srgbClr val="1E2C55"/>
                        </a:solidFill>
                        <a:latin typeface="Aptos"/>
                      </a:rPr>
                      <a:t> research &amp; broader comparison</a:t>
                    </a:r>
                    <a:endParaRPr sz="1200" dirty="0">
                      <a:solidFill>
                        <a:srgbClr val="1E2C55"/>
                      </a:solidFill>
                      <a:latin typeface="Aptos"/>
                    </a:endParaRPr>
                  </a:p>
                </p:txBody>
              </p:sp>
              <p:sp>
                <p:nvSpPr>
                  <p:cNvPr id="40" name="TextBox 39"/>
                  <p:cNvSpPr txBox="1"/>
                  <p:nvPr/>
                </p:nvSpPr>
                <p:spPr>
                  <a:xfrm>
                    <a:off x="4735008" y="4836511"/>
                    <a:ext cx="2688336" cy="276999"/>
                  </a:xfrm>
                  <a:prstGeom prst="rect">
                    <a:avLst/>
                  </a:prstGeom>
                  <a:noFill/>
                </p:spPr>
                <p:txBody>
                  <a:bodyPr wrap="square" anchor="ctr">
                    <a:spAutoFit/>
                  </a:bodyPr>
                  <a:lstStyle/>
                  <a:p>
                    <a:r>
                      <a:rPr sz="1200" dirty="0">
                        <a:solidFill>
                          <a:srgbClr val="1E2C55"/>
                        </a:solidFill>
                        <a:latin typeface="Aptos"/>
                      </a:rPr>
                      <a:t>Additional verification and analysis</a:t>
                    </a:r>
                  </a:p>
                </p:txBody>
              </p:sp>
              <p:sp>
                <p:nvSpPr>
                  <p:cNvPr id="43" name="TextBox 42"/>
                  <p:cNvSpPr txBox="1"/>
                  <p:nvPr/>
                </p:nvSpPr>
                <p:spPr>
                  <a:xfrm>
                    <a:off x="4735008" y="5202270"/>
                    <a:ext cx="2688336" cy="276999"/>
                  </a:xfrm>
                  <a:prstGeom prst="rect">
                    <a:avLst/>
                  </a:prstGeom>
                  <a:noFill/>
                </p:spPr>
                <p:txBody>
                  <a:bodyPr wrap="square" anchor="ctr">
                    <a:spAutoFit/>
                  </a:bodyPr>
                  <a:lstStyle/>
                  <a:p>
                    <a:r>
                      <a:rPr sz="1200" dirty="0">
                        <a:solidFill>
                          <a:srgbClr val="1E2C55"/>
                        </a:solidFill>
                        <a:latin typeface="Aptos"/>
                      </a:rPr>
                      <a:t>Suitable for complex decisions</a:t>
                    </a:r>
                  </a:p>
                </p:txBody>
              </p:sp>
            </p:grpSp>
            <p:grpSp>
              <p:nvGrpSpPr>
                <p:cNvPr id="388" name="Group 387">
                  <a:extLst>
                    <a:ext uri="{FF2B5EF4-FFF2-40B4-BE49-F238E27FC236}">
                      <a16:creationId xmlns:a16="http://schemas.microsoft.com/office/drawing/2014/main" id="{E10CBFC6-110E-8E86-6AFC-7F81D1948341}"/>
                    </a:ext>
                  </a:extLst>
                </p:cNvPr>
                <p:cNvGrpSpPr/>
                <p:nvPr/>
              </p:nvGrpSpPr>
              <p:grpSpPr>
                <a:xfrm>
                  <a:off x="4551128" y="4458597"/>
                  <a:ext cx="230520" cy="973624"/>
                  <a:chOff x="795106" y="4417769"/>
                  <a:chExt cx="230520" cy="973624"/>
                </a:xfrm>
              </p:grpSpPr>
              <p:grpSp>
                <p:nvGrpSpPr>
                  <p:cNvPr id="389" name="Group 388">
                    <a:extLst>
                      <a:ext uri="{FF2B5EF4-FFF2-40B4-BE49-F238E27FC236}">
                        <a16:creationId xmlns:a16="http://schemas.microsoft.com/office/drawing/2014/main" id="{94671A3C-0008-EA17-03B8-F326BBF77FBC}"/>
                      </a:ext>
                    </a:extLst>
                  </p:cNvPr>
                  <p:cNvGrpSpPr/>
                  <p:nvPr/>
                </p:nvGrpSpPr>
                <p:grpSpPr>
                  <a:xfrm>
                    <a:off x="795106" y="4417769"/>
                    <a:ext cx="219525" cy="237744"/>
                    <a:chOff x="795106" y="4417769"/>
                    <a:chExt cx="219525" cy="237744"/>
                  </a:xfrm>
                </p:grpSpPr>
                <p:sp>
                  <p:nvSpPr>
                    <p:cNvPr id="395" name="Oval 394">
                      <a:extLst>
                        <a:ext uri="{FF2B5EF4-FFF2-40B4-BE49-F238E27FC236}">
                          <a16:creationId xmlns:a16="http://schemas.microsoft.com/office/drawing/2014/main" id="{3BA137B2-D66A-AB18-F7A6-D6690FC76A5A}"/>
                        </a:ext>
                      </a:extLst>
                    </p:cNvPr>
                    <p:cNvSpPr/>
                    <p:nvPr/>
                  </p:nvSpPr>
                  <p:spPr>
                    <a:xfrm>
                      <a:off x="795106" y="4417769"/>
                      <a:ext cx="219525" cy="237744"/>
                    </a:xfrm>
                    <a:prstGeom prst="ellipse">
                      <a:avLst/>
                    </a:prstGeom>
                    <a:solidFill>
                      <a:srgbClr val="E1CBA8"/>
                    </a:solidFill>
                    <a:ln>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396" name="Graphic 395" descr="Checkmark with solid fill">
                      <a:extLst>
                        <a:ext uri="{FF2B5EF4-FFF2-40B4-BE49-F238E27FC236}">
                          <a16:creationId xmlns:a16="http://schemas.microsoft.com/office/drawing/2014/main" id="{D1366F6A-E8D5-CF53-FFD2-D1FB90FB03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7769" y="4474803"/>
                      <a:ext cx="114198" cy="123676"/>
                    </a:xfrm>
                    <a:prstGeom prst="rect">
                      <a:avLst/>
                    </a:prstGeom>
                  </p:spPr>
                </p:pic>
              </p:grpSp>
              <p:sp>
                <p:nvSpPr>
                  <p:cNvPr id="390" name="Oval 389">
                    <a:extLst>
                      <a:ext uri="{FF2B5EF4-FFF2-40B4-BE49-F238E27FC236}">
                        <a16:creationId xmlns:a16="http://schemas.microsoft.com/office/drawing/2014/main" id="{8AA82BC1-0CC8-2A19-85DC-7AB708364991}"/>
                      </a:ext>
                    </a:extLst>
                  </p:cNvPr>
                  <p:cNvSpPr/>
                  <p:nvPr/>
                </p:nvSpPr>
                <p:spPr>
                  <a:xfrm>
                    <a:off x="806101" y="4785709"/>
                    <a:ext cx="219525" cy="237744"/>
                  </a:xfrm>
                  <a:prstGeom prst="ellipse">
                    <a:avLst/>
                  </a:prstGeom>
                  <a:solidFill>
                    <a:srgbClr val="E1CBA8"/>
                  </a:solidFill>
                  <a:ln>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391" name="Graphic 390" descr="Checkmark with solid fill">
                    <a:extLst>
                      <a:ext uri="{FF2B5EF4-FFF2-40B4-BE49-F238E27FC236}">
                        <a16:creationId xmlns:a16="http://schemas.microsoft.com/office/drawing/2014/main" id="{2DF7C52D-AAD3-E203-DB5F-B1D1828931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8764" y="4842743"/>
                    <a:ext cx="114198" cy="123676"/>
                  </a:xfrm>
                  <a:prstGeom prst="rect">
                    <a:avLst/>
                  </a:prstGeom>
                </p:spPr>
              </p:pic>
              <p:grpSp>
                <p:nvGrpSpPr>
                  <p:cNvPr id="392" name="Group 391">
                    <a:extLst>
                      <a:ext uri="{FF2B5EF4-FFF2-40B4-BE49-F238E27FC236}">
                        <a16:creationId xmlns:a16="http://schemas.microsoft.com/office/drawing/2014/main" id="{FF9DCCD9-74FF-024C-002B-1D7862C332FD}"/>
                      </a:ext>
                    </a:extLst>
                  </p:cNvPr>
                  <p:cNvGrpSpPr/>
                  <p:nvPr/>
                </p:nvGrpSpPr>
                <p:grpSpPr>
                  <a:xfrm>
                    <a:off x="806101" y="5153649"/>
                    <a:ext cx="219525" cy="237744"/>
                    <a:chOff x="806101" y="5153649"/>
                    <a:chExt cx="219525" cy="237744"/>
                  </a:xfrm>
                </p:grpSpPr>
                <p:sp>
                  <p:nvSpPr>
                    <p:cNvPr id="393" name="Oval 392">
                      <a:extLst>
                        <a:ext uri="{FF2B5EF4-FFF2-40B4-BE49-F238E27FC236}">
                          <a16:creationId xmlns:a16="http://schemas.microsoft.com/office/drawing/2014/main" id="{45A86EB6-154A-C384-ECF4-AE2931DE22AA}"/>
                        </a:ext>
                      </a:extLst>
                    </p:cNvPr>
                    <p:cNvSpPr/>
                    <p:nvPr/>
                  </p:nvSpPr>
                  <p:spPr>
                    <a:xfrm>
                      <a:off x="806101" y="5153649"/>
                      <a:ext cx="219525" cy="237744"/>
                    </a:xfrm>
                    <a:prstGeom prst="ellipse">
                      <a:avLst/>
                    </a:prstGeom>
                    <a:solidFill>
                      <a:srgbClr val="E1CBA8"/>
                    </a:solidFill>
                    <a:ln>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394" name="Graphic 393" descr="Checkmark with solid fill">
                      <a:extLst>
                        <a:ext uri="{FF2B5EF4-FFF2-40B4-BE49-F238E27FC236}">
                          <a16:creationId xmlns:a16="http://schemas.microsoft.com/office/drawing/2014/main" id="{F8645325-BBD3-83E6-9438-CCDA48E1EB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8764" y="5210683"/>
                      <a:ext cx="114198" cy="123676"/>
                    </a:xfrm>
                    <a:prstGeom prst="rect">
                      <a:avLst/>
                    </a:prstGeom>
                  </p:spPr>
                </p:pic>
              </p:grpSp>
            </p:grpSp>
          </p:grpSp>
          <p:grpSp>
            <p:nvGrpSpPr>
              <p:cNvPr id="11" name="Group 10">
                <a:extLst>
                  <a:ext uri="{FF2B5EF4-FFF2-40B4-BE49-F238E27FC236}">
                    <a16:creationId xmlns:a16="http://schemas.microsoft.com/office/drawing/2014/main" id="{1049A684-2B3F-D55D-2550-F6FBEF08DB49}"/>
                  </a:ext>
                </a:extLst>
              </p:cNvPr>
              <p:cNvGrpSpPr/>
              <p:nvPr/>
            </p:nvGrpSpPr>
            <p:grpSpPr>
              <a:xfrm>
                <a:off x="8206319" y="2001220"/>
                <a:ext cx="3584448" cy="3443408"/>
                <a:chOff x="8206319" y="2001220"/>
                <a:chExt cx="3584448" cy="3443408"/>
              </a:xfrm>
            </p:grpSpPr>
            <p:sp>
              <p:nvSpPr>
                <p:cNvPr id="47" name="TextBox 46"/>
                <p:cNvSpPr txBox="1"/>
                <p:nvPr/>
              </p:nvSpPr>
              <p:spPr>
                <a:xfrm>
                  <a:off x="8425775" y="2725296"/>
                  <a:ext cx="3145536" cy="400110"/>
                </a:xfrm>
                <a:prstGeom prst="rect">
                  <a:avLst/>
                </a:prstGeom>
                <a:noFill/>
              </p:spPr>
              <p:txBody>
                <a:bodyPr wrap="square" anchor="ctr">
                  <a:spAutoFit/>
                </a:bodyPr>
                <a:lstStyle/>
                <a:p>
                  <a:pPr algn="ctr"/>
                  <a:r>
                    <a:rPr sz="2000" b="1" dirty="0">
                      <a:solidFill>
                        <a:srgbClr val="1E2C55"/>
                      </a:solidFill>
                      <a:latin typeface="Montserrat SemiBold" pitchFamily="2" charset="0"/>
                    </a:rPr>
                    <a:t>SIGNATURE</a:t>
                  </a:r>
                </a:p>
              </p:txBody>
            </p:sp>
            <p:sp>
              <p:nvSpPr>
                <p:cNvPr id="48" name="TextBox 47"/>
                <p:cNvSpPr txBox="1"/>
                <p:nvPr/>
              </p:nvSpPr>
              <p:spPr>
                <a:xfrm>
                  <a:off x="8425774" y="3028729"/>
                  <a:ext cx="3240867" cy="400110"/>
                </a:xfrm>
                <a:prstGeom prst="rect">
                  <a:avLst/>
                </a:prstGeom>
                <a:noFill/>
              </p:spPr>
              <p:txBody>
                <a:bodyPr wrap="square" anchor="ctr">
                  <a:spAutoFit/>
                </a:bodyPr>
                <a:lstStyle/>
                <a:p>
                  <a:pPr algn="ctr"/>
                  <a:r>
                    <a:rPr sz="2000" dirty="0">
                      <a:solidFill>
                        <a:srgbClr val="C7A36F"/>
                      </a:solidFill>
                      <a:latin typeface="Aptos" panose="020B0004020202020204" pitchFamily="34" charset="0"/>
                    </a:rPr>
                    <a:t>From R1,450</a:t>
                  </a:r>
                </a:p>
              </p:txBody>
            </p:sp>
            <p:sp>
              <p:nvSpPr>
                <p:cNvPr id="49" name="TextBox 48"/>
                <p:cNvSpPr txBox="1"/>
                <p:nvPr/>
              </p:nvSpPr>
              <p:spPr>
                <a:xfrm>
                  <a:off x="8206319" y="3435159"/>
                  <a:ext cx="3584448" cy="830997"/>
                </a:xfrm>
                <a:prstGeom prst="rect">
                  <a:avLst/>
                </a:prstGeom>
                <a:noFill/>
              </p:spPr>
              <p:txBody>
                <a:bodyPr wrap="square" anchor="ctr">
                  <a:spAutoFit/>
                </a:bodyPr>
                <a:lstStyle/>
                <a:p>
                  <a:pPr algn="ctr"/>
                  <a:r>
                    <a:rPr sz="1600" dirty="0">
                      <a:solidFill>
                        <a:srgbClr val="1E2C55"/>
                      </a:solidFill>
                      <a:latin typeface="Aptos"/>
                    </a:rPr>
                    <a:t>Comprehensive research for
substantial, complex or multi-product
purchasing decisions.</a:t>
                  </a:r>
                </a:p>
              </p:txBody>
            </p:sp>
            <p:grpSp>
              <p:nvGrpSpPr>
                <p:cNvPr id="370" name="Group 369">
                  <a:extLst>
                    <a:ext uri="{FF2B5EF4-FFF2-40B4-BE49-F238E27FC236}">
                      <a16:creationId xmlns:a16="http://schemas.microsoft.com/office/drawing/2014/main" id="{25D561CE-3A01-392E-B41A-757D74D21E7C}"/>
                    </a:ext>
                  </a:extLst>
                </p:cNvPr>
                <p:cNvGrpSpPr/>
                <p:nvPr/>
              </p:nvGrpSpPr>
              <p:grpSpPr>
                <a:xfrm>
                  <a:off x="9666328" y="2001220"/>
                  <a:ext cx="684818" cy="684818"/>
                  <a:chOff x="9572498" y="2001220"/>
                  <a:chExt cx="684818" cy="684818"/>
                </a:xfrm>
              </p:grpSpPr>
              <p:sp>
                <p:nvSpPr>
                  <p:cNvPr id="369" name="Oval 368">
                    <a:extLst>
                      <a:ext uri="{FF2B5EF4-FFF2-40B4-BE49-F238E27FC236}">
                        <a16:creationId xmlns:a16="http://schemas.microsoft.com/office/drawing/2014/main" id="{5C3C2D03-47D5-9757-1B2A-E41259AF0E68}"/>
                      </a:ext>
                    </a:extLst>
                  </p:cNvPr>
                  <p:cNvSpPr/>
                  <p:nvPr/>
                </p:nvSpPr>
                <p:spPr>
                  <a:xfrm>
                    <a:off x="9572498" y="2001220"/>
                    <a:ext cx="684818" cy="684818"/>
                  </a:xfrm>
                  <a:prstGeom prst="ellipse">
                    <a:avLst/>
                  </a:prstGeom>
                  <a:solidFill>
                    <a:srgbClr val="1E2C55"/>
                  </a:solidFill>
                  <a:ln w="15875">
                    <a:solidFill>
                      <a:srgbClr val="E1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46" name="Graphic 45" descr="Lotus Flower with solid fill">
                    <a:extLst>
                      <a:ext uri="{FF2B5EF4-FFF2-40B4-BE49-F238E27FC236}">
                        <a16:creationId xmlns:a16="http://schemas.microsoft.com/office/drawing/2014/main" id="{EA50E2E8-5198-40A2-A7EB-2113D5DFD07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56135" y="2084857"/>
                    <a:ext cx="517545" cy="517545"/>
                  </a:xfrm>
                  <a:prstGeom prst="rect">
                    <a:avLst/>
                  </a:prstGeom>
                </p:spPr>
              </p:pic>
            </p:grpSp>
            <p:grpSp>
              <p:nvGrpSpPr>
                <p:cNvPr id="397" name="Group 396">
                  <a:extLst>
                    <a:ext uri="{FF2B5EF4-FFF2-40B4-BE49-F238E27FC236}">
                      <a16:creationId xmlns:a16="http://schemas.microsoft.com/office/drawing/2014/main" id="{7DC82322-0A0C-9D56-1111-ECCC8EF191F7}"/>
                    </a:ext>
                  </a:extLst>
                </p:cNvPr>
                <p:cNvGrpSpPr/>
                <p:nvPr/>
              </p:nvGrpSpPr>
              <p:grpSpPr>
                <a:xfrm>
                  <a:off x="8422738" y="4414237"/>
                  <a:ext cx="230520" cy="973624"/>
                  <a:chOff x="795106" y="4417769"/>
                  <a:chExt cx="230520" cy="973624"/>
                </a:xfrm>
              </p:grpSpPr>
              <p:grpSp>
                <p:nvGrpSpPr>
                  <p:cNvPr id="398" name="Group 397">
                    <a:extLst>
                      <a:ext uri="{FF2B5EF4-FFF2-40B4-BE49-F238E27FC236}">
                        <a16:creationId xmlns:a16="http://schemas.microsoft.com/office/drawing/2014/main" id="{CD9EF75F-4F3F-CC17-7083-17C0C494F848}"/>
                      </a:ext>
                    </a:extLst>
                  </p:cNvPr>
                  <p:cNvGrpSpPr/>
                  <p:nvPr/>
                </p:nvGrpSpPr>
                <p:grpSpPr>
                  <a:xfrm>
                    <a:off x="795106" y="4417769"/>
                    <a:ext cx="219525" cy="237744"/>
                    <a:chOff x="795106" y="4417769"/>
                    <a:chExt cx="219525" cy="237744"/>
                  </a:xfrm>
                </p:grpSpPr>
                <p:sp>
                  <p:nvSpPr>
                    <p:cNvPr id="404" name="Oval 403">
                      <a:extLst>
                        <a:ext uri="{FF2B5EF4-FFF2-40B4-BE49-F238E27FC236}">
                          <a16:creationId xmlns:a16="http://schemas.microsoft.com/office/drawing/2014/main" id="{A22C2618-2EC4-E4D5-0FCC-82119BCFC920}"/>
                        </a:ext>
                      </a:extLst>
                    </p:cNvPr>
                    <p:cNvSpPr/>
                    <p:nvPr/>
                  </p:nvSpPr>
                  <p:spPr>
                    <a:xfrm>
                      <a:off x="795106" y="4417769"/>
                      <a:ext cx="219525" cy="237744"/>
                    </a:xfrm>
                    <a:prstGeom prst="ellipse">
                      <a:avLst/>
                    </a:prstGeom>
                    <a:solidFill>
                      <a:srgbClr val="E1CBA8"/>
                    </a:solidFill>
                    <a:ln>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405" name="Graphic 404" descr="Checkmark with solid fill">
                      <a:extLst>
                        <a:ext uri="{FF2B5EF4-FFF2-40B4-BE49-F238E27FC236}">
                          <a16:creationId xmlns:a16="http://schemas.microsoft.com/office/drawing/2014/main" id="{B27CA55E-0914-599C-6653-758CF5AB4E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7769" y="4474803"/>
                      <a:ext cx="114198" cy="123676"/>
                    </a:xfrm>
                    <a:prstGeom prst="rect">
                      <a:avLst/>
                    </a:prstGeom>
                  </p:spPr>
                </p:pic>
              </p:grpSp>
              <p:sp>
                <p:nvSpPr>
                  <p:cNvPr id="399" name="Oval 398">
                    <a:extLst>
                      <a:ext uri="{FF2B5EF4-FFF2-40B4-BE49-F238E27FC236}">
                        <a16:creationId xmlns:a16="http://schemas.microsoft.com/office/drawing/2014/main" id="{F8616ABB-AF6F-D540-D0A1-FB32A0AC38ED}"/>
                      </a:ext>
                    </a:extLst>
                  </p:cNvPr>
                  <p:cNvSpPr/>
                  <p:nvPr/>
                </p:nvSpPr>
                <p:spPr>
                  <a:xfrm>
                    <a:off x="806101" y="4785709"/>
                    <a:ext cx="219525" cy="237744"/>
                  </a:xfrm>
                  <a:prstGeom prst="ellipse">
                    <a:avLst/>
                  </a:prstGeom>
                  <a:solidFill>
                    <a:srgbClr val="E1CBA8"/>
                  </a:solidFill>
                  <a:ln>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400" name="Graphic 399" descr="Checkmark with solid fill">
                    <a:extLst>
                      <a:ext uri="{FF2B5EF4-FFF2-40B4-BE49-F238E27FC236}">
                        <a16:creationId xmlns:a16="http://schemas.microsoft.com/office/drawing/2014/main" id="{35D0B581-1AC5-88C8-8C38-E50184BF96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8764" y="4842743"/>
                    <a:ext cx="114198" cy="123676"/>
                  </a:xfrm>
                  <a:prstGeom prst="rect">
                    <a:avLst/>
                  </a:prstGeom>
                </p:spPr>
              </p:pic>
              <p:grpSp>
                <p:nvGrpSpPr>
                  <p:cNvPr id="401" name="Group 400">
                    <a:extLst>
                      <a:ext uri="{FF2B5EF4-FFF2-40B4-BE49-F238E27FC236}">
                        <a16:creationId xmlns:a16="http://schemas.microsoft.com/office/drawing/2014/main" id="{E4CAEBB7-5BA6-FE9B-E279-6963690CC1C2}"/>
                      </a:ext>
                    </a:extLst>
                  </p:cNvPr>
                  <p:cNvGrpSpPr/>
                  <p:nvPr/>
                </p:nvGrpSpPr>
                <p:grpSpPr>
                  <a:xfrm>
                    <a:off x="806101" y="5153649"/>
                    <a:ext cx="219525" cy="237744"/>
                    <a:chOff x="806101" y="5153649"/>
                    <a:chExt cx="219525" cy="237744"/>
                  </a:xfrm>
                </p:grpSpPr>
                <p:sp>
                  <p:nvSpPr>
                    <p:cNvPr id="402" name="Oval 401">
                      <a:extLst>
                        <a:ext uri="{FF2B5EF4-FFF2-40B4-BE49-F238E27FC236}">
                          <a16:creationId xmlns:a16="http://schemas.microsoft.com/office/drawing/2014/main" id="{2535A667-7075-718F-6D58-9A1C3FA0FE1C}"/>
                        </a:ext>
                      </a:extLst>
                    </p:cNvPr>
                    <p:cNvSpPr/>
                    <p:nvPr/>
                  </p:nvSpPr>
                  <p:spPr>
                    <a:xfrm>
                      <a:off x="806101" y="5153649"/>
                      <a:ext cx="219525" cy="237744"/>
                    </a:xfrm>
                    <a:prstGeom prst="ellipse">
                      <a:avLst/>
                    </a:prstGeom>
                    <a:solidFill>
                      <a:srgbClr val="E1CBA8"/>
                    </a:solidFill>
                    <a:ln>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403" name="Graphic 402" descr="Checkmark with solid fill">
                      <a:extLst>
                        <a:ext uri="{FF2B5EF4-FFF2-40B4-BE49-F238E27FC236}">
                          <a16:creationId xmlns:a16="http://schemas.microsoft.com/office/drawing/2014/main" id="{ED038F43-1509-FB35-D304-5C3D216AF9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8764" y="5210683"/>
                      <a:ext cx="114198" cy="123676"/>
                    </a:xfrm>
                    <a:prstGeom prst="rect">
                      <a:avLst/>
                    </a:prstGeom>
                  </p:spPr>
                </p:pic>
              </p:grpSp>
            </p:grpSp>
            <p:grpSp>
              <p:nvGrpSpPr>
                <p:cNvPr id="407" name="Group 406">
                  <a:extLst>
                    <a:ext uri="{FF2B5EF4-FFF2-40B4-BE49-F238E27FC236}">
                      <a16:creationId xmlns:a16="http://schemas.microsoft.com/office/drawing/2014/main" id="{8A5E473B-0F38-9550-1018-B8AA5F91CC5B}"/>
                    </a:ext>
                  </a:extLst>
                </p:cNvPr>
                <p:cNvGrpSpPr/>
                <p:nvPr/>
              </p:nvGrpSpPr>
              <p:grpSpPr>
                <a:xfrm>
                  <a:off x="8716598" y="4387614"/>
                  <a:ext cx="3044595" cy="1057014"/>
                  <a:chOff x="4164358" y="3187329"/>
                  <a:chExt cx="3044595" cy="1057014"/>
                </a:xfrm>
              </p:grpSpPr>
              <p:sp>
                <p:nvSpPr>
                  <p:cNvPr id="410" name="TextBox 409">
                    <a:extLst>
                      <a:ext uri="{FF2B5EF4-FFF2-40B4-BE49-F238E27FC236}">
                        <a16:creationId xmlns:a16="http://schemas.microsoft.com/office/drawing/2014/main" id="{C99D0545-EC1B-C7E5-7212-E50C118D2F96}"/>
                      </a:ext>
                    </a:extLst>
                  </p:cNvPr>
                  <p:cNvSpPr txBox="1"/>
                  <p:nvPr/>
                </p:nvSpPr>
                <p:spPr>
                  <a:xfrm>
                    <a:off x="4164358" y="3967344"/>
                    <a:ext cx="2999835" cy="276999"/>
                  </a:xfrm>
                  <a:prstGeom prst="rect">
                    <a:avLst/>
                  </a:prstGeom>
                  <a:noFill/>
                </p:spPr>
                <p:txBody>
                  <a:bodyPr wrap="square" anchor="ctr">
                    <a:spAutoFit/>
                  </a:bodyPr>
                  <a:lstStyle/>
                  <a:p>
                    <a:r>
                      <a:rPr lang="en-US" sz="1200" dirty="0">
                        <a:solidFill>
                          <a:srgbClr val="1E2C55"/>
                        </a:solidFill>
                        <a:latin typeface="Aptos"/>
                      </a:rPr>
                      <a:t>Ideal</a:t>
                    </a:r>
                    <a:r>
                      <a:rPr lang="en-ZA" sz="1200" dirty="0">
                        <a:solidFill>
                          <a:srgbClr val="1E2C55"/>
                        </a:solidFill>
                        <a:latin typeface="Aptos"/>
                      </a:rPr>
                      <a:t> for complex or multi-product projects</a:t>
                    </a:r>
                  </a:p>
                </p:txBody>
              </p:sp>
              <p:sp>
                <p:nvSpPr>
                  <p:cNvPr id="411" name="TextBox 410">
                    <a:extLst>
                      <a:ext uri="{FF2B5EF4-FFF2-40B4-BE49-F238E27FC236}">
                        <a16:creationId xmlns:a16="http://schemas.microsoft.com/office/drawing/2014/main" id="{A331284D-8C7C-5604-20C2-A820172FAEFE}"/>
                      </a:ext>
                    </a:extLst>
                  </p:cNvPr>
                  <p:cNvSpPr txBox="1"/>
                  <p:nvPr/>
                </p:nvSpPr>
                <p:spPr>
                  <a:xfrm>
                    <a:off x="4164359" y="3187329"/>
                    <a:ext cx="3044594" cy="276999"/>
                  </a:xfrm>
                  <a:prstGeom prst="rect">
                    <a:avLst/>
                  </a:prstGeom>
                  <a:noFill/>
                </p:spPr>
                <p:txBody>
                  <a:bodyPr wrap="square" anchor="ctr">
                    <a:spAutoFit/>
                  </a:bodyPr>
                  <a:lstStyle/>
                  <a:p>
                    <a:pPr>
                      <a:buNone/>
                    </a:pPr>
                    <a:r>
                      <a:rPr lang="en-ZA" sz="1200" dirty="0">
                        <a:solidFill>
                          <a:srgbClr val="1E2C55"/>
                        </a:solidFill>
                        <a:latin typeface="Aptos"/>
                      </a:rPr>
                      <a:t>Most comprehensive level of support</a:t>
                    </a:r>
                  </a:p>
                </p:txBody>
              </p:sp>
              <p:sp>
                <p:nvSpPr>
                  <p:cNvPr id="412" name="TextBox 411">
                    <a:extLst>
                      <a:ext uri="{FF2B5EF4-FFF2-40B4-BE49-F238E27FC236}">
                        <a16:creationId xmlns:a16="http://schemas.microsoft.com/office/drawing/2014/main" id="{B97D1974-AB10-EBC3-506B-F688FC24EB7A}"/>
                      </a:ext>
                    </a:extLst>
                  </p:cNvPr>
                  <p:cNvSpPr txBox="1"/>
                  <p:nvPr/>
                </p:nvSpPr>
                <p:spPr>
                  <a:xfrm>
                    <a:off x="4164359" y="3486790"/>
                    <a:ext cx="2688336" cy="461665"/>
                  </a:xfrm>
                  <a:prstGeom prst="rect">
                    <a:avLst/>
                  </a:prstGeom>
                  <a:noFill/>
                </p:spPr>
                <p:txBody>
                  <a:bodyPr wrap="square" anchor="ctr">
                    <a:spAutoFit/>
                  </a:bodyPr>
                  <a:lstStyle/>
                  <a:p>
                    <a:pPr>
                      <a:buNone/>
                    </a:pPr>
                    <a:r>
                      <a:rPr lang="en-ZA" sz="1200" dirty="0">
                        <a:solidFill>
                          <a:srgbClr val="1E2C55"/>
                        </a:solidFill>
                        <a:latin typeface="Aptos"/>
                      </a:rPr>
                      <a:t>Broader research, deeper analysis and additional verification</a:t>
                    </a:r>
                  </a:p>
                </p:txBody>
              </p:sp>
            </p:grpSp>
          </p:grpSp>
        </p:grpSp>
        <p:grpSp>
          <p:nvGrpSpPr>
            <p:cNvPr id="470" name="Group 469">
              <a:extLst>
                <a:ext uri="{FF2B5EF4-FFF2-40B4-BE49-F238E27FC236}">
                  <a16:creationId xmlns:a16="http://schemas.microsoft.com/office/drawing/2014/main" id="{9B9D184C-FDE8-3EDF-F4BF-8E63D4E53D8D}"/>
                </a:ext>
              </a:extLst>
            </p:cNvPr>
            <p:cNvGrpSpPr/>
            <p:nvPr/>
          </p:nvGrpSpPr>
          <p:grpSpPr>
            <a:xfrm>
              <a:off x="1082286" y="5686925"/>
              <a:ext cx="10041195" cy="645295"/>
              <a:chOff x="1075403" y="5968865"/>
              <a:chExt cx="10041195" cy="645295"/>
            </a:xfrm>
          </p:grpSpPr>
          <p:sp>
            <p:nvSpPr>
              <p:cNvPr id="30" name="Rounded Rectangle 52">
                <a:extLst>
                  <a:ext uri="{FF2B5EF4-FFF2-40B4-BE49-F238E27FC236}">
                    <a16:creationId xmlns:a16="http://schemas.microsoft.com/office/drawing/2014/main" id="{F98CE499-252F-4825-1CE6-6C1B88C9D33E}"/>
                  </a:ext>
                </a:extLst>
              </p:cNvPr>
              <p:cNvSpPr/>
              <p:nvPr/>
            </p:nvSpPr>
            <p:spPr>
              <a:xfrm>
                <a:off x="1478281" y="5968865"/>
                <a:ext cx="9235439" cy="645295"/>
              </a:xfrm>
              <a:prstGeom prst="roundRect">
                <a:avLst/>
              </a:prstGeom>
              <a:solidFill>
                <a:srgbClr val="FDF8F2"/>
              </a:solidFill>
              <a:ln w="28575">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r>
                  <a:rPr lang="en-US" dirty="0">
                    <a:solidFill>
                      <a:prstClr val="white"/>
                    </a:solidFill>
                    <a:latin typeface="Calibri"/>
                  </a:rPr>
                  <a:t>`</a:t>
                </a:r>
                <a:endParaRPr dirty="0">
                  <a:solidFill>
                    <a:prstClr val="white"/>
                  </a:solidFill>
                  <a:latin typeface="Calibri"/>
                </a:endParaRPr>
              </a:p>
            </p:txBody>
          </p:sp>
          <p:sp>
            <p:nvSpPr>
              <p:cNvPr id="36" name="TextBox 35">
                <a:extLst>
                  <a:ext uri="{FF2B5EF4-FFF2-40B4-BE49-F238E27FC236}">
                    <a16:creationId xmlns:a16="http://schemas.microsoft.com/office/drawing/2014/main" id="{9F2D8A1E-0E1A-6A0E-982D-BC786198F7A7}"/>
                  </a:ext>
                </a:extLst>
              </p:cNvPr>
              <p:cNvSpPr txBox="1"/>
              <p:nvPr/>
            </p:nvSpPr>
            <p:spPr>
              <a:xfrm>
                <a:off x="1075403" y="6106846"/>
                <a:ext cx="10041195" cy="369332"/>
              </a:xfrm>
              <a:prstGeom prst="rect">
                <a:avLst/>
              </a:prstGeom>
              <a:noFill/>
            </p:spPr>
            <p:txBody>
              <a:bodyPr wrap="square">
                <a:spAutoFit/>
              </a:bodyPr>
              <a:lstStyle/>
              <a:p>
                <a:pPr lvl="0" algn="ctr">
                  <a:defRPr/>
                </a:pPr>
                <a:r>
                  <a:rPr lang="en-ZA" i="1" dirty="0">
                    <a:solidFill>
                      <a:srgbClr val="1E2C55"/>
                    </a:solidFill>
                    <a:latin typeface="Aptos"/>
                  </a:rPr>
                  <a:t>Priority Add-on available: +25% of the research fee (minimum R150). Subject to availability</a:t>
                </a: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A26F3-EBE1-AEB9-8488-0CB5AC402516}"/>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0DE863FF-50BF-D199-A42C-B4CE5672E718}"/>
              </a:ext>
            </a:extLst>
          </p:cNvPr>
          <p:cNvGrpSpPr/>
          <p:nvPr/>
        </p:nvGrpSpPr>
        <p:grpSpPr>
          <a:xfrm>
            <a:off x="-281555" y="16649"/>
            <a:ext cx="12440732" cy="6841351"/>
            <a:chOff x="-281555" y="16649"/>
            <a:chExt cx="12440732" cy="6841351"/>
          </a:xfrm>
        </p:grpSpPr>
        <p:pic>
          <p:nvPicPr>
            <p:cNvPr id="5" name="Picture 4" descr="Generated image 1">
              <a:extLst>
                <a:ext uri="{FF2B5EF4-FFF2-40B4-BE49-F238E27FC236}">
                  <a16:creationId xmlns:a16="http://schemas.microsoft.com/office/drawing/2014/main" id="{97A8DC91-4083-72AB-DCF3-A9ED628B3946}"/>
                </a:ext>
              </a:extLst>
            </p:cNvPr>
            <p:cNvPicPr>
              <a:picLocks noChangeAspect="1"/>
            </p:cNvPicPr>
            <p:nvPr/>
          </p:nvPicPr>
          <p:blipFill>
            <a:blip r:embed="rId2"/>
            <a:stretch>
              <a:fillRect/>
            </a:stretch>
          </p:blipFill>
          <p:spPr>
            <a:xfrm>
              <a:off x="3238" y="16649"/>
              <a:ext cx="12155939" cy="6841351"/>
            </a:xfrm>
            <a:prstGeom prst="rect">
              <a:avLst/>
            </a:prstGeom>
          </p:spPr>
        </p:pic>
        <p:sp>
          <p:nvSpPr>
            <p:cNvPr id="9" name="TextBox 8">
              <a:extLst>
                <a:ext uri="{FF2B5EF4-FFF2-40B4-BE49-F238E27FC236}">
                  <a16:creationId xmlns:a16="http://schemas.microsoft.com/office/drawing/2014/main" id="{4C190A91-D266-AE47-25EC-F9611C2E971C}"/>
                </a:ext>
              </a:extLst>
            </p:cNvPr>
            <p:cNvSpPr txBox="1"/>
            <p:nvPr/>
          </p:nvSpPr>
          <p:spPr>
            <a:xfrm>
              <a:off x="3908120" y="1076131"/>
              <a:ext cx="8001024" cy="4431983"/>
            </a:xfrm>
            <a:prstGeom prst="rect">
              <a:avLst/>
            </a:prstGeom>
            <a:noFill/>
          </p:spPr>
          <p:txBody>
            <a:bodyPr wrap="square" lIns="0" tIns="0" rIns="0" bIns="0">
              <a:spAutoFit/>
            </a:bodyPr>
            <a:lstStyle/>
            <a:p>
              <a:pPr algn="just">
                <a:buNone/>
              </a:pPr>
              <a:endParaRPr lang="en-ZA" dirty="0">
                <a:solidFill>
                  <a:srgbClr val="1E2C55"/>
                </a:solidFill>
                <a:latin typeface="Aptos" panose="020B0004020202020204" pitchFamily="34" charset="0"/>
              </a:endParaRPr>
            </a:p>
            <a:p>
              <a:pPr algn="just">
                <a:buNone/>
              </a:pPr>
              <a:r>
                <a:rPr lang="en-ZA" dirty="0">
                  <a:solidFill>
                    <a:srgbClr val="1E2C55"/>
                  </a:solidFill>
                  <a:latin typeface="Aptos" panose="020B0004020202020204" pitchFamily="34" charset="0"/>
                </a:rPr>
                <a:t>Before I research anything, I have a Discovery call with you to understand what you need, what matters most to you, your budget, preferences and anything practical that will help you reach your final buying decision</a:t>
              </a:r>
            </a:p>
            <a:p>
              <a:pPr algn="just">
                <a:buNone/>
              </a:pPr>
              <a:endParaRPr lang="en-ZA" dirty="0">
                <a:solidFill>
                  <a:srgbClr val="1E2C55"/>
                </a:solidFill>
                <a:latin typeface="Aptos" panose="020B0004020202020204" pitchFamily="34" charset="0"/>
              </a:endParaRPr>
            </a:p>
            <a:p>
              <a:pPr algn="just">
                <a:buNone/>
              </a:pPr>
              <a:r>
                <a:rPr lang="en-ZA" dirty="0">
                  <a:solidFill>
                    <a:srgbClr val="1E2C55"/>
                  </a:solidFill>
                  <a:latin typeface="Aptos" panose="020B0004020202020204" pitchFamily="34" charset="0"/>
                </a:rPr>
                <a:t>Then I research the market against that brief: comparing the details that matter, checking claims, specifications, reviews and availability, and eliminating products that don’t meet your requirements. Every bespoke report shows not only my recommendations, but also the options I considered and ruled out, so you can see the research I’ve undertaken and understand how I reached my recommendations</a:t>
              </a:r>
            </a:p>
            <a:p>
              <a:pPr algn="just">
                <a:buNone/>
              </a:pPr>
              <a:endParaRPr lang="en-ZA" dirty="0">
                <a:solidFill>
                  <a:srgbClr val="1E2C55"/>
                </a:solidFill>
                <a:latin typeface="Aptos" panose="020B0004020202020204" pitchFamily="34" charset="0"/>
              </a:endParaRPr>
            </a:p>
            <a:p>
              <a:pPr algn="just">
                <a:buNone/>
              </a:pPr>
              <a:r>
                <a:rPr lang="en-ZA" dirty="0">
                  <a:solidFill>
                    <a:srgbClr val="1E2C55"/>
                  </a:solidFill>
                  <a:latin typeface="Aptos" panose="020B0004020202020204" pitchFamily="34" charset="0"/>
                </a:rPr>
                <a:t>WeSearch is completely independent. I do not accept payment, commissions, incentives or sponsorship from brands, retailers or suppliers in exchange for recommendations. </a:t>
              </a:r>
              <a:r>
                <a:rPr lang="en-US" dirty="0">
                  <a:solidFill>
                    <a:srgbClr val="1E2C55"/>
                  </a:solidFill>
                  <a:latin typeface="Aptos" panose="020B0004020202020204" pitchFamily="34" charset="0"/>
                </a:rPr>
                <a:t>Because a good buying decision isn’t just about finding </a:t>
              </a:r>
            </a:p>
            <a:p>
              <a:pPr algn="just">
                <a:buNone/>
              </a:pPr>
              <a:r>
                <a:rPr lang="en-US" dirty="0">
                  <a:solidFill>
                    <a:srgbClr val="1E2C55"/>
                  </a:solidFill>
                  <a:latin typeface="Aptos" panose="020B0004020202020204" pitchFamily="34" charset="0"/>
                </a:rPr>
                <a:t>a good product. It’s about finding one that is right for </a:t>
              </a:r>
              <a:r>
                <a:rPr lang="en-US" b="1" dirty="0">
                  <a:solidFill>
                    <a:srgbClr val="1E2C55"/>
                  </a:solidFill>
                  <a:latin typeface="Aptos" panose="020B0004020202020204" pitchFamily="34" charset="0"/>
                </a:rPr>
                <a:t>YOU</a:t>
              </a:r>
            </a:p>
          </p:txBody>
        </p:sp>
        <p:pic>
          <p:nvPicPr>
            <p:cNvPr id="4" name="Picture 3">
              <a:extLst>
                <a:ext uri="{FF2B5EF4-FFF2-40B4-BE49-F238E27FC236}">
                  <a16:creationId xmlns:a16="http://schemas.microsoft.com/office/drawing/2014/main" id="{19328659-67EC-D692-608E-643C75FBF840}"/>
                </a:ext>
              </a:extLst>
            </p:cNvPr>
            <p:cNvPicPr>
              <a:picLocks noChangeAspect="1"/>
            </p:cNvPicPr>
            <p:nvPr/>
          </p:nvPicPr>
          <p:blipFill>
            <a:blip r:embed="rId3"/>
            <a:srcRect/>
            <a:stretch/>
          </p:blipFill>
          <p:spPr>
            <a:xfrm>
              <a:off x="-281555" y="1235103"/>
              <a:ext cx="4355844" cy="4387794"/>
            </a:xfrm>
            <a:prstGeom prst="rect">
              <a:avLst/>
            </a:prstGeom>
          </p:spPr>
        </p:pic>
        <p:sp>
          <p:nvSpPr>
            <p:cNvPr id="8" name="TextBox 7">
              <a:extLst>
                <a:ext uri="{FF2B5EF4-FFF2-40B4-BE49-F238E27FC236}">
                  <a16:creationId xmlns:a16="http://schemas.microsoft.com/office/drawing/2014/main" id="{1A65F128-05FE-56AF-DBFA-6B6C936562BF}"/>
                </a:ext>
              </a:extLst>
            </p:cNvPr>
            <p:cNvSpPr txBox="1"/>
            <p:nvPr/>
          </p:nvSpPr>
          <p:spPr>
            <a:xfrm>
              <a:off x="1053295" y="339110"/>
              <a:ext cx="10855849" cy="1277273"/>
            </a:xfrm>
            <a:prstGeom prst="rect">
              <a:avLst/>
            </a:prstGeom>
            <a:noFill/>
          </p:spPr>
          <p:txBody>
            <a:bodyPr wrap="square" lIns="0" tIns="0" rIns="0" bIns="0">
              <a:spAutoFit/>
            </a:bodyPr>
            <a:lstStyle/>
            <a:p>
              <a:pPr>
                <a:spcBef>
                  <a:spcPts val="600"/>
                </a:spcBef>
                <a:spcAft>
                  <a:spcPts val="600"/>
                </a:spcAft>
              </a:pPr>
              <a:r>
                <a:rPr sz="2400" b="1" dirty="0">
                  <a:solidFill>
                    <a:srgbClr val="1E2C55"/>
                  </a:solidFill>
                  <a:latin typeface="Montserrat ExtraBold" pitchFamily="2" charset="0"/>
                </a:rPr>
                <a:t>MEET</a:t>
              </a:r>
              <a:r>
                <a:rPr lang="en-US" sz="2400" b="1" dirty="0">
                  <a:solidFill>
                    <a:srgbClr val="1E2C55"/>
                  </a:solidFill>
                  <a:latin typeface="Montserrat ExtraBold" pitchFamily="2" charset="0"/>
                </a:rPr>
                <a:t> JODI    </a:t>
              </a:r>
              <a:r>
                <a:rPr lang="en-US" sz="2400" b="1" dirty="0">
                  <a:solidFill>
                    <a:srgbClr val="C7A36F"/>
                  </a:solidFill>
                  <a:latin typeface="Montserrat ExtraBold" pitchFamily="2" charset="0"/>
                </a:rPr>
                <a:t> FOUNDER &amp; INDEPENDENT PRODUCT RESEARCHER</a:t>
              </a:r>
            </a:p>
            <a:p>
              <a:pPr algn="r">
                <a:spcBef>
                  <a:spcPts val="600"/>
                </a:spcBef>
                <a:spcAft>
                  <a:spcPts val="600"/>
                </a:spcAft>
              </a:pPr>
              <a:r>
                <a:rPr lang="en-ZA" sz="2000" dirty="0">
                  <a:solidFill>
                    <a:srgbClr val="1E2C55"/>
                  </a:solidFill>
                  <a:latin typeface="Montserrat SemiBold" pitchFamily="2" charset="0"/>
                </a:rPr>
                <a:t>I don’t start by searching for products. I start by understanding you</a:t>
              </a:r>
              <a:r>
                <a:rPr lang="en-ZA" sz="2000" b="1" dirty="0">
                  <a:solidFill>
                    <a:srgbClr val="1E2C55"/>
                  </a:solidFill>
                  <a:latin typeface="Montserrat SemiBold" pitchFamily="2" charset="0"/>
                </a:rPr>
                <a:t>. </a:t>
              </a:r>
            </a:p>
            <a:p>
              <a:endParaRPr lang="en-US" sz="2400" b="1" dirty="0">
                <a:solidFill>
                  <a:srgbClr val="C7A36F"/>
                </a:solidFill>
                <a:latin typeface="Montserrat ExtraBold" pitchFamily="2" charset="0"/>
              </a:endParaRPr>
            </a:p>
          </p:txBody>
        </p:sp>
        <p:sp>
          <p:nvSpPr>
            <p:cNvPr id="3" name="Rounded Rectangle 52">
              <a:extLst>
                <a:ext uri="{FF2B5EF4-FFF2-40B4-BE49-F238E27FC236}">
                  <a16:creationId xmlns:a16="http://schemas.microsoft.com/office/drawing/2014/main" id="{7E80A432-C34E-3605-B0E5-088393AD146F}"/>
                </a:ext>
              </a:extLst>
            </p:cNvPr>
            <p:cNvSpPr/>
            <p:nvPr/>
          </p:nvSpPr>
          <p:spPr>
            <a:xfrm>
              <a:off x="1478281" y="5745029"/>
              <a:ext cx="9235439" cy="876056"/>
            </a:xfrm>
            <a:prstGeom prst="roundRect">
              <a:avLst/>
            </a:prstGeom>
            <a:solidFill>
              <a:srgbClr val="FDF8F2"/>
            </a:solidFill>
            <a:ln w="28575">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b="1" i="0" u="none" strike="noStrike" kern="1200" cap="none" spc="0" normalizeH="0" baseline="0" noProof="0" dirty="0">
                  <a:ln>
                    <a:noFill/>
                  </a:ln>
                  <a:solidFill>
                    <a:srgbClr val="1E2C55"/>
                  </a:solidFill>
                  <a:effectLst/>
                  <a:uLnTx/>
                  <a:uFillTx/>
                  <a:latin typeface="Montserrat SemiBold" pitchFamily="2" charset="0"/>
                </a:rPr>
                <a:t> That’s the difference with WeSearch: the research is done around you,</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b="1" i="0" u="none" strike="noStrike" kern="1200" cap="none" spc="0" normalizeH="0" baseline="0" noProof="0" dirty="0">
                  <a:ln>
                    <a:noFill/>
                  </a:ln>
                  <a:solidFill>
                    <a:srgbClr val="1E2C55"/>
                  </a:solidFill>
                  <a:effectLst/>
                  <a:uLnTx/>
                  <a:uFillTx/>
                  <a:latin typeface="Montserrat SemiBold" pitchFamily="2" charset="0"/>
                </a:rPr>
                <a:t>not around what happens to be popular, highly rated or easiest to find</a:t>
              </a:r>
              <a:endParaRPr kumimoji="0" lang="en-ZA" b="0" i="0" u="none" strike="noStrike" kern="1200" cap="none" spc="0" normalizeH="0" baseline="0" noProof="0" dirty="0">
                <a:ln>
                  <a:noFill/>
                </a:ln>
                <a:solidFill>
                  <a:srgbClr val="1E2C55"/>
                </a:solidFill>
                <a:effectLst/>
                <a:uLnTx/>
                <a:uFillTx/>
                <a:latin typeface="Montserrat SemiBold" pitchFamily="2" charset="0"/>
              </a:endParaRPr>
            </a:p>
          </p:txBody>
        </p:sp>
        <p:pic>
          <p:nvPicPr>
            <p:cNvPr id="33" name="Graphic 32" descr="Heart outline">
              <a:extLst>
                <a:ext uri="{FF2B5EF4-FFF2-40B4-BE49-F238E27FC236}">
                  <a16:creationId xmlns:a16="http://schemas.microsoft.com/office/drawing/2014/main" id="{25A12D5A-A469-54EB-6720-89CFC630FD4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902280" y="385474"/>
              <a:ext cx="261288" cy="261288"/>
            </a:xfrm>
            <a:prstGeom prst="rect">
              <a:avLst/>
            </a:prstGeom>
          </p:spPr>
        </p:pic>
      </p:grpSp>
    </p:spTree>
    <p:extLst>
      <p:ext uri="{BB962C8B-B14F-4D97-AF65-F5344CB8AC3E}">
        <p14:creationId xmlns:p14="http://schemas.microsoft.com/office/powerpoint/2010/main" val="608563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3BB9C-1B5E-DBF9-51E6-CDCE2C7D69B2}"/>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1DD0C9F7-2CF7-BD64-766E-BE3B916651D7}"/>
              </a:ext>
            </a:extLst>
          </p:cNvPr>
          <p:cNvGrpSpPr/>
          <p:nvPr/>
        </p:nvGrpSpPr>
        <p:grpSpPr>
          <a:xfrm>
            <a:off x="6883" y="0"/>
            <a:ext cx="12357988" cy="6858000"/>
            <a:chOff x="6883" y="0"/>
            <a:chExt cx="12357988" cy="6858000"/>
          </a:xfrm>
        </p:grpSpPr>
        <p:pic>
          <p:nvPicPr>
            <p:cNvPr id="3" name="Picture 2">
              <a:extLst>
                <a:ext uri="{FF2B5EF4-FFF2-40B4-BE49-F238E27FC236}">
                  <a16:creationId xmlns:a16="http://schemas.microsoft.com/office/drawing/2014/main" id="{7E6583FA-22F4-7804-F6B5-5F6CF3DAB81A}"/>
                </a:ext>
              </a:extLst>
            </p:cNvPr>
            <p:cNvPicPr>
              <a:picLocks noChangeAspect="1"/>
            </p:cNvPicPr>
            <p:nvPr/>
          </p:nvPicPr>
          <p:blipFill>
            <a:blip r:embed="rId2"/>
            <a:stretch>
              <a:fillRect/>
            </a:stretch>
          </p:blipFill>
          <p:spPr>
            <a:xfrm>
              <a:off x="6883" y="0"/>
              <a:ext cx="12178234" cy="6858000"/>
            </a:xfrm>
            <a:prstGeom prst="rect">
              <a:avLst/>
            </a:prstGeom>
          </p:spPr>
        </p:pic>
        <p:sp>
          <p:nvSpPr>
            <p:cNvPr id="8" name="TextBox 7">
              <a:extLst>
                <a:ext uri="{FF2B5EF4-FFF2-40B4-BE49-F238E27FC236}">
                  <a16:creationId xmlns:a16="http://schemas.microsoft.com/office/drawing/2014/main" id="{415516F8-1285-AE38-7160-C1858A7353E1}"/>
                </a:ext>
              </a:extLst>
            </p:cNvPr>
            <p:cNvSpPr txBox="1"/>
            <p:nvPr/>
          </p:nvSpPr>
          <p:spPr>
            <a:xfrm>
              <a:off x="821458" y="545279"/>
              <a:ext cx="11543413" cy="815608"/>
            </a:xfrm>
            <a:prstGeom prst="rect">
              <a:avLst/>
            </a:prstGeom>
            <a:noFill/>
          </p:spPr>
          <p:txBody>
            <a:bodyPr wrap="square" lIns="0" tIns="0" rIns="0" bIns="0" anchor="ctr">
              <a:spAutoFit/>
            </a:bodyPr>
            <a:lstStyle/>
            <a:p>
              <a:pPr marR="0" lvl="0" indent="0" fontAlgn="auto">
                <a:lnSpc>
                  <a:spcPct val="100000"/>
                </a:lnSpc>
                <a:spcBef>
                  <a:spcPts val="600"/>
                </a:spcBef>
                <a:buClrTx/>
                <a:buSzTx/>
                <a:buFontTx/>
                <a:buNone/>
                <a:tabLst/>
                <a:defRPr/>
              </a:pPr>
              <a:r>
                <a:rPr sz="2800" dirty="0">
                  <a:solidFill>
                    <a:srgbClr val="1E2C55"/>
                  </a:solidFill>
                  <a:latin typeface="Montserrat ExtraBold" pitchFamily="2" charset="0"/>
                </a:rPr>
                <a:t>Questions? We’ve Got You.</a:t>
              </a:r>
              <a:endParaRPr lang="en-US" sz="2800" dirty="0">
                <a:solidFill>
                  <a:srgbClr val="1E2C55"/>
                </a:solidFill>
                <a:latin typeface="Montserrat ExtraBold" pitchFamily="2" charset="0"/>
              </a:endParaRPr>
            </a:p>
            <a:p>
              <a:pPr>
                <a:spcBef>
                  <a:spcPts val="600"/>
                </a:spcBef>
                <a:spcAft>
                  <a:spcPts val="600"/>
                </a:spcAft>
                <a:defRPr/>
              </a:pPr>
              <a:r>
                <a:rPr lang="en-ZA" sz="2000" dirty="0">
                  <a:solidFill>
                    <a:srgbClr val="1E2C55"/>
                  </a:solidFill>
                  <a:latin typeface="Montserrat SemiBold" pitchFamily="2" charset="0"/>
                </a:rPr>
                <a:t>Everything you need to know about working with WeSearch.</a:t>
              </a:r>
              <a:endParaRPr lang="en-US" sz="2000" dirty="0">
                <a:solidFill>
                  <a:srgbClr val="1E2C55"/>
                </a:solidFill>
                <a:latin typeface="Montserrat SemiBold" pitchFamily="2" charset="0"/>
              </a:endParaRPr>
            </a:p>
          </p:txBody>
        </p:sp>
        <p:sp>
          <p:nvSpPr>
            <p:cNvPr id="11" name="TextBox 10">
              <a:extLst>
                <a:ext uri="{FF2B5EF4-FFF2-40B4-BE49-F238E27FC236}">
                  <a16:creationId xmlns:a16="http://schemas.microsoft.com/office/drawing/2014/main" id="{3D12FA73-6DD5-3201-F4F2-D1FBFE133E2B}"/>
                </a:ext>
              </a:extLst>
            </p:cNvPr>
            <p:cNvSpPr txBox="1"/>
            <p:nvPr/>
          </p:nvSpPr>
          <p:spPr>
            <a:xfrm>
              <a:off x="1307592" y="1774602"/>
              <a:ext cx="256032" cy="492443"/>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E1CBA8"/>
                  </a:solidFill>
                  <a:effectLst/>
                  <a:uLnTx/>
                  <a:uFillTx/>
                  <a:latin typeface="Aptos"/>
                  <a:ea typeface="+mn-ea"/>
                  <a:cs typeface="+mn-cs"/>
                </a:rPr>
                <a:t>›</a:t>
              </a:r>
            </a:p>
          </p:txBody>
        </p:sp>
        <p:grpSp>
          <p:nvGrpSpPr>
            <p:cNvPr id="4" name="Group 3">
              <a:extLst>
                <a:ext uri="{FF2B5EF4-FFF2-40B4-BE49-F238E27FC236}">
                  <a16:creationId xmlns:a16="http://schemas.microsoft.com/office/drawing/2014/main" id="{87725FC6-F74E-A4E5-B811-C70DA114EAB8}"/>
                </a:ext>
              </a:extLst>
            </p:cNvPr>
            <p:cNvGrpSpPr/>
            <p:nvPr/>
          </p:nvGrpSpPr>
          <p:grpSpPr>
            <a:xfrm>
              <a:off x="821458" y="1755648"/>
              <a:ext cx="9902952" cy="530352"/>
              <a:chOff x="1143000" y="1755648"/>
              <a:chExt cx="9902952" cy="530352"/>
            </a:xfrm>
          </p:grpSpPr>
          <p:sp>
            <p:nvSpPr>
              <p:cNvPr id="10" name="Rounded Rectangle 4">
                <a:extLst>
                  <a:ext uri="{FF2B5EF4-FFF2-40B4-BE49-F238E27FC236}">
                    <a16:creationId xmlns:a16="http://schemas.microsoft.com/office/drawing/2014/main" id="{18BDCA41-6198-34C4-6930-104034C6C957}"/>
                  </a:ext>
                </a:extLst>
              </p:cNvPr>
              <p:cNvSpPr/>
              <p:nvPr/>
            </p:nvSpPr>
            <p:spPr>
              <a:xfrm>
                <a:off x="1143000" y="1755648"/>
                <a:ext cx="9902952" cy="530352"/>
              </a:xfrm>
              <a:prstGeom prst="roundRect">
                <a:avLst/>
              </a:prstGeom>
              <a:solidFill>
                <a:srgbClr val="FFFCF8"/>
              </a:solidFill>
              <a:ln w="9525">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191466ED-2F18-6428-1146-E01C32BE6141}"/>
                  </a:ext>
                </a:extLst>
              </p:cNvPr>
              <p:cNvSpPr txBox="1"/>
              <p:nvPr/>
            </p:nvSpPr>
            <p:spPr>
              <a:xfrm>
                <a:off x="1645920" y="1836158"/>
                <a:ext cx="8805672" cy="3693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i="0" u="none" strike="noStrike" kern="1200" cap="none" spc="0" normalizeH="0" baseline="0" noProof="0" dirty="0">
                    <a:ln>
                      <a:noFill/>
                    </a:ln>
                    <a:solidFill>
                      <a:srgbClr val="1E2C55"/>
                    </a:solidFill>
                    <a:effectLst/>
                    <a:uLnTx/>
                    <a:uFillTx/>
                    <a:latin typeface="Aptos"/>
                    <a:ea typeface="+mn-ea"/>
                    <a:cs typeface="+mn-cs"/>
                  </a:rPr>
                  <a:t>What exactly does WeSearch do?</a:t>
                </a:r>
              </a:p>
            </p:txBody>
          </p:sp>
          <p:sp>
            <p:nvSpPr>
              <p:cNvPr id="13" name="TextBox 12">
                <a:extLst>
                  <a:ext uri="{FF2B5EF4-FFF2-40B4-BE49-F238E27FC236}">
                    <a16:creationId xmlns:a16="http://schemas.microsoft.com/office/drawing/2014/main" id="{CB8FBF9C-3E77-C9FC-4745-6DB646437011}"/>
                  </a:ext>
                </a:extLst>
              </p:cNvPr>
              <p:cNvSpPr txBox="1"/>
              <p:nvPr/>
            </p:nvSpPr>
            <p:spPr>
              <a:xfrm>
                <a:off x="10607040" y="1836157"/>
                <a:ext cx="256032" cy="369332"/>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dirty="0">
                    <a:ln>
                      <a:noFill/>
                    </a:ln>
                    <a:solidFill>
                      <a:srgbClr val="1E2C55"/>
                    </a:solidFill>
                    <a:effectLst/>
                    <a:uLnTx/>
                    <a:uFillTx/>
                    <a:latin typeface="Aptos"/>
                    <a:ea typeface="+mn-ea"/>
                    <a:cs typeface="+mn-cs"/>
                  </a:rPr>
                  <a:t>+</a:t>
                </a:r>
              </a:p>
            </p:txBody>
          </p:sp>
        </p:grpSp>
        <p:sp>
          <p:nvSpPr>
            <p:cNvPr id="14" name="Rounded Rectangle 8">
              <a:extLst>
                <a:ext uri="{FF2B5EF4-FFF2-40B4-BE49-F238E27FC236}">
                  <a16:creationId xmlns:a16="http://schemas.microsoft.com/office/drawing/2014/main" id="{BF50C906-29A8-34F2-78AF-19E7A0883139}"/>
                </a:ext>
              </a:extLst>
            </p:cNvPr>
            <p:cNvSpPr/>
            <p:nvPr/>
          </p:nvSpPr>
          <p:spPr>
            <a:xfrm>
              <a:off x="821458" y="2354579"/>
              <a:ext cx="9902952" cy="530352"/>
            </a:xfrm>
            <a:prstGeom prst="roundRect">
              <a:avLst/>
            </a:prstGeom>
            <a:solidFill>
              <a:srgbClr val="FFFCF8"/>
            </a:solidFill>
            <a:ln w="9525">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5" name="TextBox 14">
              <a:extLst>
                <a:ext uri="{FF2B5EF4-FFF2-40B4-BE49-F238E27FC236}">
                  <a16:creationId xmlns:a16="http://schemas.microsoft.com/office/drawing/2014/main" id="{731AD4DB-0DBF-A9C4-AC86-900EE967E011}"/>
                </a:ext>
              </a:extLst>
            </p:cNvPr>
            <p:cNvSpPr txBox="1"/>
            <p:nvPr/>
          </p:nvSpPr>
          <p:spPr>
            <a:xfrm>
              <a:off x="986050" y="2373534"/>
              <a:ext cx="256032" cy="492443"/>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E1CBA8"/>
                  </a:solidFill>
                  <a:effectLst/>
                  <a:uLnTx/>
                  <a:uFillTx/>
                  <a:latin typeface="Aptos"/>
                  <a:ea typeface="+mn-ea"/>
                  <a:cs typeface="+mn-cs"/>
                </a:rPr>
                <a:t>›</a:t>
              </a:r>
            </a:p>
          </p:txBody>
        </p:sp>
        <p:sp>
          <p:nvSpPr>
            <p:cNvPr id="16" name="TextBox 15">
              <a:extLst>
                <a:ext uri="{FF2B5EF4-FFF2-40B4-BE49-F238E27FC236}">
                  <a16:creationId xmlns:a16="http://schemas.microsoft.com/office/drawing/2014/main" id="{E58CD4B7-6BB5-98B3-BDF0-1DCDA1303FF2}"/>
                </a:ext>
              </a:extLst>
            </p:cNvPr>
            <p:cNvSpPr txBox="1"/>
            <p:nvPr/>
          </p:nvSpPr>
          <p:spPr>
            <a:xfrm>
              <a:off x="1324378" y="2435090"/>
              <a:ext cx="8805672" cy="3693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i="0" u="none" strike="noStrike" kern="1200" cap="none" spc="0" normalizeH="0" baseline="0" noProof="0" dirty="0">
                  <a:ln>
                    <a:noFill/>
                  </a:ln>
                  <a:solidFill>
                    <a:srgbClr val="1E2C55"/>
                  </a:solidFill>
                  <a:effectLst/>
                  <a:uLnTx/>
                  <a:uFillTx/>
                  <a:latin typeface="Aptos"/>
                  <a:ea typeface="+mn-ea"/>
                  <a:cs typeface="+mn-cs"/>
                </a:rPr>
                <a:t>Why wouldn't I just use Google or AI myself?</a:t>
              </a:r>
            </a:p>
          </p:txBody>
        </p:sp>
        <p:sp>
          <p:nvSpPr>
            <p:cNvPr id="17" name="TextBox 16">
              <a:extLst>
                <a:ext uri="{FF2B5EF4-FFF2-40B4-BE49-F238E27FC236}">
                  <a16:creationId xmlns:a16="http://schemas.microsoft.com/office/drawing/2014/main" id="{D6AC89DA-C44B-7055-A263-D44C6A175A4D}"/>
                </a:ext>
              </a:extLst>
            </p:cNvPr>
            <p:cNvSpPr txBox="1"/>
            <p:nvPr/>
          </p:nvSpPr>
          <p:spPr>
            <a:xfrm>
              <a:off x="10285498" y="2435089"/>
              <a:ext cx="256032" cy="369332"/>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dirty="0">
                  <a:ln>
                    <a:noFill/>
                  </a:ln>
                  <a:solidFill>
                    <a:srgbClr val="1E2C55"/>
                  </a:solidFill>
                  <a:effectLst/>
                  <a:uLnTx/>
                  <a:uFillTx/>
                  <a:latin typeface="Aptos"/>
                  <a:ea typeface="+mn-ea"/>
                  <a:cs typeface="+mn-cs"/>
                </a:rPr>
                <a:t>+</a:t>
              </a:r>
            </a:p>
          </p:txBody>
        </p:sp>
        <p:sp>
          <p:nvSpPr>
            <p:cNvPr id="18" name="Rounded Rectangle 12">
              <a:extLst>
                <a:ext uri="{FF2B5EF4-FFF2-40B4-BE49-F238E27FC236}">
                  <a16:creationId xmlns:a16="http://schemas.microsoft.com/office/drawing/2014/main" id="{3E8311A6-3614-8AB4-7EB0-63A7C08422E1}"/>
                </a:ext>
              </a:extLst>
            </p:cNvPr>
            <p:cNvSpPr/>
            <p:nvPr/>
          </p:nvSpPr>
          <p:spPr>
            <a:xfrm>
              <a:off x="821458" y="2953511"/>
              <a:ext cx="9902952" cy="530352"/>
            </a:xfrm>
            <a:prstGeom prst="roundRect">
              <a:avLst/>
            </a:prstGeom>
            <a:solidFill>
              <a:srgbClr val="FFFCF8"/>
            </a:solidFill>
            <a:ln w="9525">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 name="TextBox 18">
              <a:extLst>
                <a:ext uri="{FF2B5EF4-FFF2-40B4-BE49-F238E27FC236}">
                  <a16:creationId xmlns:a16="http://schemas.microsoft.com/office/drawing/2014/main" id="{C4FCEF71-FF8E-F55D-02F8-7CC279B60CA8}"/>
                </a:ext>
              </a:extLst>
            </p:cNvPr>
            <p:cNvSpPr txBox="1"/>
            <p:nvPr/>
          </p:nvSpPr>
          <p:spPr>
            <a:xfrm>
              <a:off x="986050" y="2972465"/>
              <a:ext cx="256032" cy="492443"/>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E1CBA8"/>
                  </a:solidFill>
                  <a:effectLst/>
                  <a:uLnTx/>
                  <a:uFillTx/>
                  <a:latin typeface="Aptos"/>
                  <a:ea typeface="+mn-ea"/>
                  <a:cs typeface="+mn-cs"/>
                </a:rPr>
                <a:t>›</a:t>
              </a:r>
            </a:p>
          </p:txBody>
        </p:sp>
        <p:sp>
          <p:nvSpPr>
            <p:cNvPr id="20" name="TextBox 19">
              <a:extLst>
                <a:ext uri="{FF2B5EF4-FFF2-40B4-BE49-F238E27FC236}">
                  <a16:creationId xmlns:a16="http://schemas.microsoft.com/office/drawing/2014/main" id="{9150C780-4749-30C0-0644-C0A4044219B2}"/>
                </a:ext>
              </a:extLst>
            </p:cNvPr>
            <p:cNvSpPr txBox="1"/>
            <p:nvPr/>
          </p:nvSpPr>
          <p:spPr>
            <a:xfrm>
              <a:off x="1324378" y="3034021"/>
              <a:ext cx="8805672" cy="3693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sz="2400" dirty="0">
                  <a:solidFill>
                    <a:srgbClr val="1E2C55"/>
                  </a:solidFill>
                  <a:latin typeface="Aptos"/>
                </a:rPr>
                <a:t>Do you sell the products you recommend</a:t>
              </a:r>
              <a:r>
                <a:rPr kumimoji="0" sz="2400" b="1" i="0" u="none" strike="noStrike" kern="1200" cap="none" spc="0" normalizeH="0" baseline="0" noProof="0" dirty="0">
                  <a:ln>
                    <a:noFill/>
                  </a:ln>
                  <a:solidFill>
                    <a:srgbClr val="1E2C55"/>
                  </a:solidFill>
                  <a:effectLst/>
                  <a:uLnTx/>
                  <a:uFillTx/>
                  <a:latin typeface="Aptos"/>
                  <a:ea typeface="+mn-ea"/>
                  <a:cs typeface="+mn-cs"/>
                </a:rPr>
                <a:t>?</a:t>
              </a:r>
            </a:p>
          </p:txBody>
        </p:sp>
        <p:sp>
          <p:nvSpPr>
            <p:cNvPr id="21" name="TextBox 20">
              <a:extLst>
                <a:ext uri="{FF2B5EF4-FFF2-40B4-BE49-F238E27FC236}">
                  <a16:creationId xmlns:a16="http://schemas.microsoft.com/office/drawing/2014/main" id="{CBF36923-83E8-3ECE-9FEC-0A8705638437}"/>
                </a:ext>
              </a:extLst>
            </p:cNvPr>
            <p:cNvSpPr txBox="1"/>
            <p:nvPr/>
          </p:nvSpPr>
          <p:spPr>
            <a:xfrm>
              <a:off x="10285498" y="3034020"/>
              <a:ext cx="256032" cy="369332"/>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dirty="0">
                  <a:ln>
                    <a:noFill/>
                  </a:ln>
                  <a:solidFill>
                    <a:srgbClr val="1E2C55"/>
                  </a:solidFill>
                  <a:effectLst/>
                  <a:uLnTx/>
                  <a:uFillTx/>
                  <a:latin typeface="Aptos"/>
                  <a:ea typeface="+mn-ea"/>
                  <a:cs typeface="+mn-cs"/>
                </a:rPr>
                <a:t>+</a:t>
              </a:r>
            </a:p>
          </p:txBody>
        </p:sp>
        <p:sp>
          <p:nvSpPr>
            <p:cNvPr id="22" name="Rounded Rectangle 16">
              <a:extLst>
                <a:ext uri="{FF2B5EF4-FFF2-40B4-BE49-F238E27FC236}">
                  <a16:creationId xmlns:a16="http://schemas.microsoft.com/office/drawing/2014/main" id="{DB25ACF7-20B2-74CE-3BC3-45E2E9A8089D}"/>
                </a:ext>
              </a:extLst>
            </p:cNvPr>
            <p:cNvSpPr/>
            <p:nvPr/>
          </p:nvSpPr>
          <p:spPr>
            <a:xfrm>
              <a:off x="821458" y="3552444"/>
              <a:ext cx="9902952" cy="530352"/>
            </a:xfrm>
            <a:prstGeom prst="roundRect">
              <a:avLst/>
            </a:prstGeom>
            <a:solidFill>
              <a:srgbClr val="FFFCF8"/>
            </a:solidFill>
            <a:ln w="9525">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3" name="TextBox 22">
              <a:extLst>
                <a:ext uri="{FF2B5EF4-FFF2-40B4-BE49-F238E27FC236}">
                  <a16:creationId xmlns:a16="http://schemas.microsoft.com/office/drawing/2014/main" id="{C6E88672-56BD-E806-2D17-64E039D34864}"/>
                </a:ext>
              </a:extLst>
            </p:cNvPr>
            <p:cNvSpPr txBox="1"/>
            <p:nvPr/>
          </p:nvSpPr>
          <p:spPr>
            <a:xfrm>
              <a:off x="986050" y="3571398"/>
              <a:ext cx="256032" cy="492443"/>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E1CBA8"/>
                  </a:solidFill>
                  <a:effectLst/>
                  <a:uLnTx/>
                  <a:uFillTx/>
                  <a:latin typeface="Aptos"/>
                  <a:ea typeface="+mn-ea"/>
                  <a:cs typeface="+mn-cs"/>
                </a:rPr>
                <a:t>›</a:t>
              </a:r>
            </a:p>
          </p:txBody>
        </p:sp>
        <p:sp>
          <p:nvSpPr>
            <p:cNvPr id="24" name="TextBox 23">
              <a:extLst>
                <a:ext uri="{FF2B5EF4-FFF2-40B4-BE49-F238E27FC236}">
                  <a16:creationId xmlns:a16="http://schemas.microsoft.com/office/drawing/2014/main" id="{325387A0-5ADA-D81C-9CAD-51378D5F9E13}"/>
                </a:ext>
              </a:extLst>
            </p:cNvPr>
            <p:cNvSpPr txBox="1"/>
            <p:nvPr/>
          </p:nvSpPr>
          <p:spPr>
            <a:xfrm>
              <a:off x="1324378" y="3632954"/>
              <a:ext cx="8805672" cy="3693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sz="2400" dirty="0">
                  <a:solidFill>
                    <a:srgbClr val="1E2C55"/>
                  </a:solidFill>
                  <a:latin typeface="Aptos"/>
                </a:rPr>
                <a:t>How</a:t>
              </a:r>
              <a:r>
                <a:rPr kumimoji="0" sz="2400" b="1" i="0" u="none" strike="noStrike" kern="1200" cap="none" spc="0" normalizeH="0" baseline="0" noProof="0" dirty="0">
                  <a:ln>
                    <a:noFill/>
                  </a:ln>
                  <a:solidFill>
                    <a:srgbClr val="1E2C55"/>
                  </a:solidFill>
                  <a:effectLst/>
                  <a:uLnTx/>
                  <a:uFillTx/>
                  <a:latin typeface="Aptos"/>
                  <a:ea typeface="+mn-ea"/>
                  <a:cs typeface="+mn-cs"/>
                </a:rPr>
                <a:t> </a:t>
              </a:r>
              <a:r>
                <a:rPr sz="2400" dirty="0">
                  <a:solidFill>
                    <a:srgbClr val="1E2C55"/>
                  </a:solidFill>
                  <a:latin typeface="Aptos"/>
                </a:rPr>
                <a:t>much does it cost?</a:t>
              </a:r>
            </a:p>
          </p:txBody>
        </p:sp>
        <p:sp>
          <p:nvSpPr>
            <p:cNvPr id="25" name="TextBox 24">
              <a:extLst>
                <a:ext uri="{FF2B5EF4-FFF2-40B4-BE49-F238E27FC236}">
                  <a16:creationId xmlns:a16="http://schemas.microsoft.com/office/drawing/2014/main" id="{568C3370-D507-52FC-9C4A-3AADD3075CD7}"/>
                </a:ext>
              </a:extLst>
            </p:cNvPr>
            <p:cNvSpPr txBox="1"/>
            <p:nvPr/>
          </p:nvSpPr>
          <p:spPr>
            <a:xfrm>
              <a:off x="10285498" y="3632953"/>
              <a:ext cx="256032" cy="369332"/>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dirty="0">
                  <a:ln>
                    <a:noFill/>
                  </a:ln>
                  <a:solidFill>
                    <a:srgbClr val="1E2C55"/>
                  </a:solidFill>
                  <a:effectLst/>
                  <a:uLnTx/>
                  <a:uFillTx/>
                  <a:latin typeface="Aptos"/>
                  <a:ea typeface="+mn-ea"/>
                  <a:cs typeface="+mn-cs"/>
                </a:rPr>
                <a:t>+</a:t>
              </a:r>
            </a:p>
          </p:txBody>
        </p:sp>
        <p:sp>
          <p:nvSpPr>
            <p:cNvPr id="26" name="Rounded Rectangle 20">
              <a:extLst>
                <a:ext uri="{FF2B5EF4-FFF2-40B4-BE49-F238E27FC236}">
                  <a16:creationId xmlns:a16="http://schemas.microsoft.com/office/drawing/2014/main" id="{BD2B1A71-55BA-C610-50BD-06BFB0D3EAE3}"/>
                </a:ext>
              </a:extLst>
            </p:cNvPr>
            <p:cNvSpPr/>
            <p:nvPr/>
          </p:nvSpPr>
          <p:spPr>
            <a:xfrm>
              <a:off x="821458" y="4151375"/>
              <a:ext cx="9902952" cy="530352"/>
            </a:xfrm>
            <a:prstGeom prst="roundRect">
              <a:avLst/>
            </a:prstGeom>
            <a:solidFill>
              <a:srgbClr val="FFFCF8"/>
            </a:solidFill>
            <a:ln w="9525">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 name="TextBox 26">
              <a:extLst>
                <a:ext uri="{FF2B5EF4-FFF2-40B4-BE49-F238E27FC236}">
                  <a16:creationId xmlns:a16="http://schemas.microsoft.com/office/drawing/2014/main" id="{C7A9B8CB-39B1-C923-CC44-4639B0882A8F}"/>
                </a:ext>
              </a:extLst>
            </p:cNvPr>
            <p:cNvSpPr txBox="1"/>
            <p:nvPr/>
          </p:nvSpPr>
          <p:spPr>
            <a:xfrm>
              <a:off x="986050" y="4293440"/>
              <a:ext cx="256032" cy="246221"/>
            </a:xfrm>
            <a:prstGeom prst="rect">
              <a:avLst/>
            </a:prstGeom>
            <a:noFill/>
          </p:spPr>
          <p:txBody>
            <a:bodyPr wrap="square" lIns="0" tIns="0" rIns="0" bIns="0" anchor="ctr">
              <a:spAutoFit/>
            </a:bodyPr>
            <a:lstStyle>
              <a:lvl1pPr marR="0" lvl="0" indent="0" algn="ctr" defTabSz="457200" fontAlgn="auto">
                <a:lnSpc>
                  <a:spcPct val="100000"/>
                </a:lnSpc>
                <a:spcBef>
                  <a:spcPts val="0"/>
                </a:spcBef>
                <a:spcAft>
                  <a:spcPts val="0"/>
                </a:spcAft>
                <a:buClrTx/>
                <a:buSzTx/>
                <a:buFontTx/>
                <a:buNone/>
                <a:tabLst/>
                <a:defRPr kumimoji="0" sz="3200" b="1" i="0" u="none" strike="noStrike" cap="none" spc="0" normalizeH="0" baseline="0">
                  <a:ln>
                    <a:noFill/>
                  </a:ln>
                  <a:solidFill>
                    <a:srgbClr val="E1CBA8"/>
                  </a:solidFill>
                  <a:effectLst/>
                  <a:uLnTx/>
                  <a:uFillTx/>
                  <a:latin typeface="Aptos"/>
                </a:defRPr>
              </a:lvl1pPr>
            </a:lstStyle>
            <a:p>
              <a:r>
                <a:rPr dirty="0"/>
                <a:t>›</a:t>
              </a:r>
            </a:p>
          </p:txBody>
        </p:sp>
        <p:sp>
          <p:nvSpPr>
            <p:cNvPr id="28" name="TextBox 27">
              <a:extLst>
                <a:ext uri="{FF2B5EF4-FFF2-40B4-BE49-F238E27FC236}">
                  <a16:creationId xmlns:a16="http://schemas.microsoft.com/office/drawing/2014/main" id="{E811BBF5-2678-2F2C-FBA4-6437789B8A7A}"/>
                </a:ext>
              </a:extLst>
            </p:cNvPr>
            <p:cNvSpPr txBox="1"/>
            <p:nvPr/>
          </p:nvSpPr>
          <p:spPr>
            <a:xfrm>
              <a:off x="1324378" y="4231885"/>
              <a:ext cx="8805672" cy="3693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sz="2400" dirty="0">
                  <a:solidFill>
                    <a:srgbClr val="1E2C55"/>
                  </a:solidFill>
                  <a:latin typeface="Aptos"/>
                </a:rPr>
                <a:t>When do I pay?</a:t>
              </a:r>
            </a:p>
          </p:txBody>
        </p:sp>
        <p:sp>
          <p:nvSpPr>
            <p:cNvPr id="29" name="TextBox 28">
              <a:extLst>
                <a:ext uri="{FF2B5EF4-FFF2-40B4-BE49-F238E27FC236}">
                  <a16:creationId xmlns:a16="http://schemas.microsoft.com/office/drawing/2014/main" id="{7381F2BB-FCAE-BD59-5D1C-256ACBC9A0A9}"/>
                </a:ext>
              </a:extLst>
            </p:cNvPr>
            <p:cNvSpPr txBox="1"/>
            <p:nvPr/>
          </p:nvSpPr>
          <p:spPr>
            <a:xfrm>
              <a:off x="10285498" y="4231884"/>
              <a:ext cx="256032" cy="369332"/>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dirty="0">
                  <a:ln>
                    <a:noFill/>
                  </a:ln>
                  <a:solidFill>
                    <a:srgbClr val="1E2C55"/>
                  </a:solidFill>
                  <a:effectLst/>
                  <a:uLnTx/>
                  <a:uFillTx/>
                  <a:latin typeface="Aptos"/>
                  <a:ea typeface="+mn-ea"/>
                  <a:cs typeface="+mn-cs"/>
                </a:rPr>
                <a:t>+</a:t>
              </a:r>
            </a:p>
          </p:txBody>
        </p:sp>
        <p:sp>
          <p:nvSpPr>
            <p:cNvPr id="30" name="Rounded Rectangle 24">
              <a:extLst>
                <a:ext uri="{FF2B5EF4-FFF2-40B4-BE49-F238E27FC236}">
                  <a16:creationId xmlns:a16="http://schemas.microsoft.com/office/drawing/2014/main" id="{6845624C-C04A-CBF7-D714-5FE0BC3FBD54}"/>
                </a:ext>
              </a:extLst>
            </p:cNvPr>
            <p:cNvSpPr/>
            <p:nvPr/>
          </p:nvSpPr>
          <p:spPr>
            <a:xfrm>
              <a:off x="821458" y="4750307"/>
              <a:ext cx="9902952" cy="530352"/>
            </a:xfrm>
            <a:prstGeom prst="roundRect">
              <a:avLst/>
            </a:prstGeom>
            <a:solidFill>
              <a:srgbClr val="FFFCF8"/>
            </a:solidFill>
            <a:ln w="9525">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1" name="TextBox 30">
              <a:extLst>
                <a:ext uri="{FF2B5EF4-FFF2-40B4-BE49-F238E27FC236}">
                  <a16:creationId xmlns:a16="http://schemas.microsoft.com/office/drawing/2014/main" id="{D2AE9A35-43A0-07D2-7982-D1D100743D37}"/>
                </a:ext>
              </a:extLst>
            </p:cNvPr>
            <p:cNvSpPr txBox="1"/>
            <p:nvPr/>
          </p:nvSpPr>
          <p:spPr>
            <a:xfrm>
              <a:off x="986050" y="4892372"/>
              <a:ext cx="256032" cy="246221"/>
            </a:xfrm>
            <a:prstGeom prst="rect">
              <a:avLst/>
            </a:prstGeom>
            <a:noFill/>
          </p:spPr>
          <p:txBody>
            <a:bodyPr wrap="square" lIns="0" tIns="0" rIns="0" bIns="0" anchor="ctr">
              <a:spAutoFit/>
            </a:bodyPr>
            <a:lstStyle>
              <a:lvl1pPr marR="0" lvl="0" indent="0" algn="ctr" defTabSz="457200" fontAlgn="auto">
                <a:lnSpc>
                  <a:spcPct val="100000"/>
                </a:lnSpc>
                <a:spcBef>
                  <a:spcPts val="0"/>
                </a:spcBef>
                <a:spcAft>
                  <a:spcPts val="0"/>
                </a:spcAft>
                <a:buClrTx/>
                <a:buSzTx/>
                <a:buFontTx/>
                <a:buNone/>
                <a:tabLst/>
                <a:defRPr kumimoji="0" sz="3200" b="1" i="0" u="none" strike="noStrike" cap="none" spc="0" normalizeH="0" baseline="0">
                  <a:ln>
                    <a:noFill/>
                  </a:ln>
                  <a:solidFill>
                    <a:srgbClr val="E1CBA8"/>
                  </a:solidFill>
                  <a:effectLst/>
                  <a:uLnTx/>
                  <a:uFillTx/>
                  <a:latin typeface="Aptos"/>
                </a:defRPr>
              </a:lvl1pPr>
            </a:lstStyle>
            <a:p>
              <a:r>
                <a:rPr dirty="0"/>
                <a:t>›</a:t>
              </a:r>
            </a:p>
          </p:txBody>
        </p:sp>
        <p:sp>
          <p:nvSpPr>
            <p:cNvPr id="32" name="TextBox 31">
              <a:extLst>
                <a:ext uri="{FF2B5EF4-FFF2-40B4-BE49-F238E27FC236}">
                  <a16:creationId xmlns:a16="http://schemas.microsoft.com/office/drawing/2014/main" id="{81D95325-42ED-46FC-62A9-AD4456658A47}"/>
                </a:ext>
              </a:extLst>
            </p:cNvPr>
            <p:cNvSpPr txBox="1"/>
            <p:nvPr/>
          </p:nvSpPr>
          <p:spPr>
            <a:xfrm>
              <a:off x="1324378" y="4830817"/>
              <a:ext cx="8805672" cy="3693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sz="2400" dirty="0">
                  <a:solidFill>
                    <a:srgbClr val="1E2C55"/>
                  </a:solidFill>
                  <a:latin typeface="Aptos"/>
                </a:rPr>
                <a:t>Do you guarantee prices or stock?</a:t>
              </a:r>
            </a:p>
          </p:txBody>
        </p:sp>
        <p:sp>
          <p:nvSpPr>
            <p:cNvPr id="33" name="TextBox 32">
              <a:extLst>
                <a:ext uri="{FF2B5EF4-FFF2-40B4-BE49-F238E27FC236}">
                  <a16:creationId xmlns:a16="http://schemas.microsoft.com/office/drawing/2014/main" id="{3375580A-80DB-7AF1-78C3-936DBB4A33A5}"/>
                </a:ext>
              </a:extLst>
            </p:cNvPr>
            <p:cNvSpPr txBox="1"/>
            <p:nvPr/>
          </p:nvSpPr>
          <p:spPr>
            <a:xfrm>
              <a:off x="10285498" y="4830816"/>
              <a:ext cx="256032" cy="369332"/>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dirty="0">
                  <a:ln>
                    <a:noFill/>
                  </a:ln>
                  <a:solidFill>
                    <a:srgbClr val="1E2C55"/>
                  </a:solidFill>
                  <a:effectLst/>
                  <a:uLnTx/>
                  <a:uFillTx/>
                  <a:latin typeface="Aptos"/>
                  <a:ea typeface="+mn-ea"/>
                  <a:cs typeface="+mn-cs"/>
                </a:rPr>
                <a:t>+</a:t>
              </a:r>
            </a:p>
          </p:txBody>
        </p:sp>
        <p:sp>
          <p:nvSpPr>
            <p:cNvPr id="34" name="Rounded Rectangle 28">
              <a:extLst>
                <a:ext uri="{FF2B5EF4-FFF2-40B4-BE49-F238E27FC236}">
                  <a16:creationId xmlns:a16="http://schemas.microsoft.com/office/drawing/2014/main" id="{5EDC2D01-702F-7DF7-3E13-B4D50C38884A}"/>
                </a:ext>
              </a:extLst>
            </p:cNvPr>
            <p:cNvSpPr/>
            <p:nvPr/>
          </p:nvSpPr>
          <p:spPr>
            <a:xfrm>
              <a:off x="821458" y="5349240"/>
              <a:ext cx="9902952" cy="530352"/>
            </a:xfrm>
            <a:prstGeom prst="roundRect">
              <a:avLst/>
            </a:prstGeom>
            <a:solidFill>
              <a:srgbClr val="FFFCF8"/>
            </a:solidFill>
            <a:ln w="9525">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5" name="TextBox 34">
              <a:extLst>
                <a:ext uri="{FF2B5EF4-FFF2-40B4-BE49-F238E27FC236}">
                  <a16:creationId xmlns:a16="http://schemas.microsoft.com/office/drawing/2014/main" id="{BFE49680-CF90-428E-934C-1CBF3DF5F7E3}"/>
                </a:ext>
              </a:extLst>
            </p:cNvPr>
            <p:cNvSpPr txBox="1"/>
            <p:nvPr/>
          </p:nvSpPr>
          <p:spPr>
            <a:xfrm>
              <a:off x="986050" y="5491305"/>
              <a:ext cx="256032" cy="246221"/>
            </a:xfrm>
            <a:prstGeom prst="rect">
              <a:avLst/>
            </a:prstGeom>
            <a:noFill/>
          </p:spPr>
          <p:txBody>
            <a:bodyPr wrap="square" lIns="0" tIns="0" rIns="0" bIns="0" anchor="ctr">
              <a:spAutoFit/>
            </a:bodyPr>
            <a:lstStyle>
              <a:lvl1pPr marR="0" lvl="0" indent="0" algn="ctr" defTabSz="457200" fontAlgn="auto">
                <a:lnSpc>
                  <a:spcPct val="100000"/>
                </a:lnSpc>
                <a:spcBef>
                  <a:spcPts val="0"/>
                </a:spcBef>
                <a:spcAft>
                  <a:spcPts val="0"/>
                </a:spcAft>
                <a:buClrTx/>
                <a:buSzTx/>
                <a:buFontTx/>
                <a:buNone/>
                <a:tabLst/>
                <a:defRPr kumimoji="0" sz="3200" b="1" i="0" u="none" strike="noStrike" cap="none" spc="0" normalizeH="0" baseline="0">
                  <a:ln>
                    <a:noFill/>
                  </a:ln>
                  <a:solidFill>
                    <a:srgbClr val="E1CBA8"/>
                  </a:solidFill>
                  <a:effectLst/>
                  <a:uLnTx/>
                  <a:uFillTx/>
                  <a:latin typeface="Aptos"/>
                </a:defRPr>
              </a:lvl1pPr>
            </a:lstStyle>
            <a:p>
              <a:r>
                <a:rPr dirty="0"/>
                <a:t>›</a:t>
              </a:r>
            </a:p>
          </p:txBody>
        </p:sp>
        <p:sp>
          <p:nvSpPr>
            <p:cNvPr id="36" name="TextBox 35">
              <a:extLst>
                <a:ext uri="{FF2B5EF4-FFF2-40B4-BE49-F238E27FC236}">
                  <a16:creationId xmlns:a16="http://schemas.microsoft.com/office/drawing/2014/main" id="{BDB31C0E-4CCE-4497-D0C5-CB38B38044E4}"/>
                </a:ext>
              </a:extLst>
            </p:cNvPr>
            <p:cNvSpPr txBox="1"/>
            <p:nvPr/>
          </p:nvSpPr>
          <p:spPr>
            <a:xfrm>
              <a:off x="1324378" y="5429750"/>
              <a:ext cx="8805672" cy="3693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sz="2400" dirty="0">
                  <a:solidFill>
                    <a:srgbClr val="1E2C55"/>
                  </a:solidFill>
                  <a:latin typeface="Aptos"/>
                </a:rPr>
                <a:t>What if I don't like the recommendations?</a:t>
              </a:r>
            </a:p>
          </p:txBody>
        </p:sp>
        <p:sp>
          <p:nvSpPr>
            <p:cNvPr id="37" name="TextBox 36">
              <a:extLst>
                <a:ext uri="{FF2B5EF4-FFF2-40B4-BE49-F238E27FC236}">
                  <a16:creationId xmlns:a16="http://schemas.microsoft.com/office/drawing/2014/main" id="{33638508-6CB3-A4E3-5E70-0D4847F1DBE4}"/>
                </a:ext>
              </a:extLst>
            </p:cNvPr>
            <p:cNvSpPr txBox="1"/>
            <p:nvPr/>
          </p:nvSpPr>
          <p:spPr>
            <a:xfrm>
              <a:off x="10285498" y="5429749"/>
              <a:ext cx="256032" cy="369332"/>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dirty="0">
                  <a:ln>
                    <a:noFill/>
                  </a:ln>
                  <a:solidFill>
                    <a:srgbClr val="1E2C55"/>
                  </a:solidFill>
                  <a:effectLst/>
                  <a:uLnTx/>
                  <a:uFillTx/>
                  <a:latin typeface="Aptos"/>
                  <a:ea typeface="+mn-ea"/>
                  <a:cs typeface="+mn-cs"/>
                </a:rPr>
                <a:t>+</a:t>
              </a:r>
            </a:p>
          </p:txBody>
        </p:sp>
        <p:sp>
          <p:nvSpPr>
            <p:cNvPr id="38" name="Rounded Rectangle 32">
              <a:extLst>
                <a:ext uri="{FF2B5EF4-FFF2-40B4-BE49-F238E27FC236}">
                  <a16:creationId xmlns:a16="http://schemas.microsoft.com/office/drawing/2014/main" id="{A8D169D9-CBD4-4A25-C4E2-090B7038C53E}"/>
                </a:ext>
              </a:extLst>
            </p:cNvPr>
            <p:cNvSpPr/>
            <p:nvPr/>
          </p:nvSpPr>
          <p:spPr>
            <a:xfrm>
              <a:off x="821458" y="5948171"/>
              <a:ext cx="9902952" cy="530352"/>
            </a:xfrm>
            <a:prstGeom prst="roundRect">
              <a:avLst/>
            </a:prstGeom>
            <a:solidFill>
              <a:srgbClr val="FFFCF8"/>
            </a:solidFill>
            <a:ln w="9525">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9" name="TextBox 38">
              <a:extLst>
                <a:ext uri="{FF2B5EF4-FFF2-40B4-BE49-F238E27FC236}">
                  <a16:creationId xmlns:a16="http://schemas.microsoft.com/office/drawing/2014/main" id="{ADBE2E14-FB5F-C932-F747-5BA56CDA7787}"/>
                </a:ext>
              </a:extLst>
            </p:cNvPr>
            <p:cNvSpPr txBox="1"/>
            <p:nvPr/>
          </p:nvSpPr>
          <p:spPr>
            <a:xfrm>
              <a:off x="986050" y="6090236"/>
              <a:ext cx="256032" cy="246221"/>
            </a:xfrm>
            <a:prstGeom prst="rect">
              <a:avLst/>
            </a:prstGeom>
            <a:noFill/>
          </p:spPr>
          <p:txBody>
            <a:bodyPr wrap="square" lIns="0" tIns="0" rIns="0" bIns="0" anchor="ctr">
              <a:spAutoFit/>
            </a:bodyPr>
            <a:lstStyle>
              <a:lvl1pPr marR="0" lvl="0" indent="0" algn="ctr" defTabSz="457200" fontAlgn="auto">
                <a:lnSpc>
                  <a:spcPct val="100000"/>
                </a:lnSpc>
                <a:spcBef>
                  <a:spcPts val="0"/>
                </a:spcBef>
                <a:spcAft>
                  <a:spcPts val="0"/>
                </a:spcAft>
                <a:buClrTx/>
                <a:buSzTx/>
                <a:buFontTx/>
                <a:buNone/>
                <a:tabLst/>
                <a:defRPr kumimoji="0" sz="3200" b="1" i="0" u="none" strike="noStrike" cap="none" spc="0" normalizeH="0" baseline="0">
                  <a:ln>
                    <a:noFill/>
                  </a:ln>
                  <a:solidFill>
                    <a:srgbClr val="E1CBA8"/>
                  </a:solidFill>
                  <a:effectLst/>
                  <a:uLnTx/>
                  <a:uFillTx/>
                  <a:latin typeface="Aptos"/>
                </a:defRPr>
              </a:lvl1pPr>
            </a:lstStyle>
            <a:p>
              <a:r>
                <a:rPr dirty="0"/>
                <a:t>›</a:t>
              </a:r>
            </a:p>
          </p:txBody>
        </p:sp>
        <p:sp>
          <p:nvSpPr>
            <p:cNvPr id="40" name="TextBox 39">
              <a:extLst>
                <a:ext uri="{FF2B5EF4-FFF2-40B4-BE49-F238E27FC236}">
                  <a16:creationId xmlns:a16="http://schemas.microsoft.com/office/drawing/2014/main" id="{98481A7D-AF99-DCF1-B9B4-3360E5F4891C}"/>
                </a:ext>
              </a:extLst>
            </p:cNvPr>
            <p:cNvSpPr txBox="1"/>
            <p:nvPr/>
          </p:nvSpPr>
          <p:spPr>
            <a:xfrm>
              <a:off x="1324378" y="6028681"/>
              <a:ext cx="8805672" cy="3693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sz="2400" dirty="0">
                  <a:solidFill>
                    <a:srgbClr val="1E2C55"/>
                  </a:solidFill>
                  <a:latin typeface="Aptos"/>
                </a:rPr>
                <a:t>Do you use AI?</a:t>
              </a:r>
            </a:p>
          </p:txBody>
        </p:sp>
        <p:sp>
          <p:nvSpPr>
            <p:cNvPr id="41" name="TextBox 40">
              <a:extLst>
                <a:ext uri="{FF2B5EF4-FFF2-40B4-BE49-F238E27FC236}">
                  <a16:creationId xmlns:a16="http://schemas.microsoft.com/office/drawing/2014/main" id="{D080D806-CBB1-EB97-6817-778699451A7B}"/>
                </a:ext>
              </a:extLst>
            </p:cNvPr>
            <p:cNvSpPr txBox="1"/>
            <p:nvPr/>
          </p:nvSpPr>
          <p:spPr>
            <a:xfrm>
              <a:off x="10285498" y="6028680"/>
              <a:ext cx="256032" cy="369332"/>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dirty="0">
                  <a:ln>
                    <a:noFill/>
                  </a:ln>
                  <a:solidFill>
                    <a:srgbClr val="1E2C55"/>
                  </a:solidFill>
                  <a:effectLst/>
                  <a:uLnTx/>
                  <a:uFillTx/>
                  <a:latin typeface="Aptos"/>
                  <a:ea typeface="+mn-ea"/>
                  <a:cs typeface="+mn-cs"/>
                </a:rPr>
                <a:t>+</a:t>
              </a:r>
            </a:p>
          </p:txBody>
        </p:sp>
        <p:sp>
          <p:nvSpPr>
            <p:cNvPr id="42" name="TextBox 41">
              <a:extLst>
                <a:ext uri="{FF2B5EF4-FFF2-40B4-BE49-F238E27FC236}">
                  <a16:creationId xmlns:a16="http://schemas.microsoft.com/office/drawing/2014/main" id="{4BB603EE-AADB-B1B9-493A-220C698C6159}"/>
                </a:ext>
              </a:extLst>
            </p:cNvPr>
            <p:cNvSpPr txBox="1"/>
            <p:nvPr/>
          </p:nvSpPr>
          <p:spPr>
            <a:xfrm>
              <a:off x="973836" y="1733454"/>
              <a:ext cx="256032" cy="492443"/>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E1CBA8"/>
                  </a:solidFill>
                  <a:effectLst/>
                  <a:uLnTx/>
                  <a:uFillTx/>
                  <a:latin typeface="Aptos"/>
                  <a:ea typeface="+mn-ea"/>
                  <a:cs typeface="+mn-cs"/>
                </a:rPr>
                <a:t>›</a:t>
              </a:r>
            </a:p>
          </p:txBody>
        </p:sp>
      </p:grpSp>
    </p:spTree>
    <p:extLst>
      <p:ext uri="{BB962C8B-B14F-4D97-AF65-F5344CB8AC3E}">
        <p14:creationId xmlns:p14="http://schemas.microsoft.com/office/powerpoint/2010/main" val="2431657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99D549A-BFE7-07FC-A7A0-78A1E4AD551E}"/>
              </a:ext>
            </a:extLst>
          </p:cNvPr>
          <p:cNvGrpSpPr/>
          <p:nvPr/>
        </p:nvGrpSpPr>
        <p:grpSpPr>
          <a:xfrm>
            <a:off x="10776" y="18565"/>
            <a:ext cx="12181224" cy="6855582"/>
            <a:chOff x="10776" y="18565"/>
            <a:chExt cx="12181224" cy="6855582"/>
          </a:xfrm>
        </p:grpSpPr>
        <p:pic>
          <p:nvPicPr>
            <p:cNvPr id="10" name="Picture 9" descr="Generated image 1">
              <a:extLst>
                <a:ext uri="{FF2B5EF4-FFF2-40B4-BE49-F238E27FC236}">
                  <a16:creationId xmlns:a16="http://schemas.microsoft.com/office/drawing/2014/main" id="{41D1E3D4-6497-A142-1360-2F61FE67AF5C}"/>
                </a:ext>
              </a:extLst>
            </p:cNvPr>
            <p:cNvPicPr>
              <a:picLocks noChangeAspect="1"/>
            </p:cNvPicPr>
            <p:nvPr/>
          </p:nvPicPr>
          <p:blipFill>
            <a:blip r:embed="rId3"/>
            <a:stretch>
              <a:fillRect/>
            </a:stretch>
          </p:blipFill>
          <p:spPr>
            <a:xfrm>
              <a:off x="10776" y="18565"/>
              <a:ext cx="12181224" cy="6855582"/>
            </a:xfrm>
            <a:prstGeom prst="rect">
              <a:avLst/>
            </a:prstGeom>
          </p:spPr>
        </p:pic>
        <p:sp>
          <p:nvSpPr>
            <p:cNvPr id="51" name="Rectangle 50">
              <a:extLst>
                <a:ext uri="{FF2B5EF4-FFF2-40B4-BE49-F238E27FC236}">
                  <a16:creationId xmlns:a16="http://schemas.microsoft.com/office/drawing/2014/main" id="{98A9C880-2A75-1255-4FC0-B12A67155A39}"/>
                </a:ext>
              </a:extLst>
            </p:cNvPr>
            <p:cNvSpPr/>
            <p:nvPr/>
          </p:nvSpPr>
          <p:spPr>
            <a:xfrm>
              <a:off x="4553628" y="5971047"/>
              <a:ext cx="22336" cy="643282"/>
            </a:xfrm>
            <a:prstGeom prst="rect">
              <a:avLst/>
            </a:prstGeom>
            <a:solidFill>
              <a:srgbClr val="E1C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8" name="Rectangle 57">
              <a:extLst>
                <a:ext uri="{FF2B5EF4-FFF2-40B4-BE49-F238E27FC236}">
                  <a16:creationId xmlns:a16="http://schemas.microsoft.com/office/drawing/2014/main" id="{FE004719-FFA7-5C90-7F4D-9CFB49F75E1C}"/>
                </a:ext>
              </a:extLst>
            </p:cNvPr>
            <p:cNvSpPr/>
            <p:nvPr/>
          </p:nvSpPr>
          <p:spPr>
            <a:xfrm>
              <a:off x="7491921" y="5971047"/>
              <a:ext cx="22336" cy="643282"/>
            </a:xfrm>
            <a:prstGeom prst="rect">
              <a:avLst/>
            </a:prstGeom>
            <a:solidFill>
              <a:srgbClr val="E1C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26" name="TextBox 225">
              <a:extLst>
                <a:ext uri="{FF2B5EF4-FFF2-40B4-BE49-F238E27FC236}">
                  <a16:creationId xmlns:a16="http://schemas.microsoft.com/office/drawing/2014/main" id="{DF5D7CE8-C04E-9AEF-EF63-F69A4DF4B482}"/>
                </a:ext>
              </a:extLst>
            </p:cNvPr>
            <p:cNvSpPr txBox="1"/>
            <p:nvPr/>
          </p:nvSpPr>
          <p:spPr>
            <a:xfrm>
              <a:off x="391802" y="635083"/>
              <a:ext cx="11543413" cy="1200329"/>
            </a:xfrm>
            <a:prstGeom prst="rect">
              <a:avLst/>
            </a:prstGeom>
            <a:noFill/>
          </p:spPr>
          <p:txBody>
            <a:bodyPr wrap="square" lIns="0" tIns="0" rIns="0" bIns="0" anchor="ctr">
              <a:spAutoFit/>
            </a:bodyPr>
            <a:lstStyle/>
            <a:p>
              <a:pPr marR="0" lvl="0" indent="0" fontAlgn="auto">
                <a:lnSpc>
                  <a:spcPct val="100000"/>
                </a:lnSpc>
                <a:spcBef>
                  <a:spcPts val="600"/>
                </a:spcBef>
                <a:buClrTx/>
                <a:buSzTx/>
                <a:buFontTx/>
                <a:buNone/>
                <a:tabLst/>
                <a:defRPr/>
              </a:pPr>
              <a:r>
                <a:rPr lang="en-US" sz="2800" dirty="0">
                  <a:solidFill>
                    <a:srgbClr val="1E2C55"/>
                  </a:solidFill>
                  <a:latin typeface="Montserrat ExtraBold" pitchFamily="2" charset="0"/>
                </a:rPr>
                <a:t>Get in touch</a:t>
              </a:r>
            </a:p>
            <a:p>
              <a:pPr lvl="0" defTabSz="457200">
                <a:spcBef>
                  <a:spcPts val="600"/>
                </a:spcBef>
                <a:defRPr/>
              </a:pPr>
              <a:r>
                <a:rPr lang="en-US" sz="2000" dirty="0">
                  <a:solidFill>
                    <a:srgbClr val="1E2C55"/>
                  </a:solidFill>
                  <a:latin typeface="Montserrat SemiBold" pitchFamily="2" charset="0"/>
                </a:rPr>
                <a:t>Have a question, a project in mind, or just </a:t>
              </a:r>
            </a:p>
            <a:p>
              <a:pPr lvl="0" defTabSz="457200">
                <a:spcBef>
                  <a:spcPts val="600"/>
                </a:spcBef>
                <a:defRPr/>
              </a:pPr>
              <a:r>
                <a:rPr lang="en-US" sz="2000" dirty="0">
                  <a:solidFill>
                    <a:srgbClr val="1E2C55"/>
                  </a:solidFill>
                  <a:latin typeface="Montserrat SemiBold" pitchFamily="2" charset="0"/>
                </a:rPr>
                <a:t>want to find out more? We’d love to hear from you</a:t>
              </a:r>
            </a:p>
          </p:txBody>
        </p:sp>
        <p:grpSp>
          <p:nvGrpSpPr>
            <p:cNvPr id="4" name="Group 3">
              <a:extLst>
                <a:ext uri="{FF2B5EF4-FFF2-40B4-BE49-F238E27FC236}">
                  <a16:creationId xmlns:a16="http://schemas.microsoft.com/office/drawing/2014/main" id="{96AC550F-5690-D7B3-2AFD-C1DCFADA1C0E}"/>
                </a:ext>
              </a:extLst>
            </p:cNvPr>
            <p:cNvGrpSpPr/>
            <p:nvPr/>
          </p:nvGrpSpPr>
          <p:grpSpPr>
            <a:xfrm>
              <a:off x="367828" y="2180401"/>
              <a:ext cx="4031595" cy="738664"/>
              <a:chOff x="367828" y="2180401"/>
              <a:chExt cx="4031595" cy="738664"/>
            </a:xfrm>
          </p:grpSpPr>
          <p:sp>
            <p:nvSpPr>
              <p:cNvPr id="215" name="TextBox 214">
                <a:extLst>
                  <a:ext uri="{FF2B5EF4-FFF2-40B4-BE49-F238E27FC236}">
                    <a16:creationId xmlns:a16="http://schemas.microsoft.com/office/drawing/2014/main" id="{715AA1C2-3D57-67DA-D68C-1BFDBD370623}"/>
                  </a:ext>
                </a:extLst>
              </p:cNvPr>
              <p:cNvSpPr txBox="1"/>
              <p:nvPr/>
            </p:nvSpPr>
            <p:spPr>
              <a:xfrm>
                <a:off x="1396742" y="2180401"/>
                <a:ext cx="3002681" cy="738664"/>
              </a:xfrm>
              <a:prstGeom prst="rect">
                <a:avLst/>
              </a:prstGeom>
              <a:noFill/>
            </p:spPr>
            <p:txBody>
              <a:bodyPr wrap="square">
                <a:spAutoFit/>
              </a:bodyPr>
              <a:lstStyle/>
              <a:p>
                <a:pPr>
                  <a:spcBef>
                    <a:spcPts val="600"/>
                  </a:spcBef>
                </a:pPr>
                <a:r>
                  <a:rPr sz="2200" b="1" dirty="0">
                    <a:solidFill>
                      <a:srgbClr val="1E2C55"/>
                    </a:solidFill>
                    <a:latin typeface="Montserrat SemiBold" pitchFamily="2" charset="0"/>
                  </a:rPr>
                  <a:t>Email</a:t>
                </a:r>
                <a:endParaRPr lang="en-US" sz="2200" b="1" dirty="0">
                  <a:solidFill>
                    <a:srgbClr val="1E2C55"/>
                  </a:solidFill>
                  <a:latin typeface="Montserrat SemiBold" pitchFamily="2" charset="0"/>
                </a:endParaRPr>
              </a:p>
              <a:p>
                <a:r>
                  <a:rPr lang="en-US" sz="2000" dirty="0">
                    <a:solidFill>
                      <a:srgbClr val="1E2C55"/>
                    </a:solidFill>
                    <a:latin typeface="Aptos" panose="020B0004020202020204" pitchFamily="34" charset="0"/>
                  </a:rPr>
                  <a:t>Jodi@WeSearchHQ.com</a:t>
                </a:r>
              </a:p>
            </p:txBody>
          </p:sp>
          <p:pic>
            <p:nvPicPr>
              <p:cNvPr id="218" name="Graphic 217" descr="Email with solid fill">
                <a:extLst>
                  <a:ext uri="{FF2B5EF4-FFF2-40B4-BE49-F238E27FC236}">
                    <a16:creationId xmlns:a16="http://schemas.microsoft.com/office/drawing/2014/main" id="{763F8FA2-9E22-E3BD-A6D0-3D5F16F8AB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7828" y="2244065"/>
                <a:ext cx="617650" cy="611336"/>
              </a:xfrm>
              <a:prstGeom prst="rect">
                <a:avLst/>
              </a:prstGeom>
            </p:spPr>
          </p:pic>
        </p:grpSp>
        <p:grpSp>
          <p:nvGrpSpPr>
            <p:cNvPr id="5" name="Group 4">
              <a:extLst>
                <a:ext uri="{FF2B5EF4-FFF2-40B4-BE49-F238E27FC236}">
                  <a16:creationId xmlns:a16="http://schemas.microsoft.com/office/drawing/2014/main" id="{59F33D36-8022-098B-3A66-AFFD945E5BBE}"/>
                </a:ext>
              </a:extLst>
            </p:cNvPr>
            <p:cNvGrpSpPr/>
            <p:nvPr/>
          </p:nvGrpSpPr>
          <p:grpSpPr>
            <a:xfrm>
              <a:off x="367828" y="3301041"/>
              <a:ext cx="3555934" cy="738664"/>
              <a:chOff x="367828" y="3405153"/>
              <a:chExt cx="3555934" cy="738664"/>
            </a:xfrm>
          </p:grpSpPr>
          <p:sp>
            <p:nvSpPr>
              <p:cNvPr id="220" name="TextBox 219">
                <a:extLst>
                  <a:ext uri="{FF2B5EF4-FFF2-40B4-BE49-F238E27FC236}">
                    <a16:creationId xmlns:a16="http://schemas.microsoft.com/office/drawing/2014/main" id="{35BCEE86-DB7B-759B-0818-DE595D10FB6E}"/>
                  </a:ext>
                </a:extLst>
              </p:cNvPr>
              <p:cNvSpPr txBox="1"/>
              <p:nvPr/>
            </p:nvSpPr>
            <p:spPr>
              <a:xfrm>
                <a:off x="1390696" y="3405153"/>
                <a:ext cx="2533066" cy="738664"/>
              </a:xfrm>
              <a:prstGeom prst="rect">
                <a:avLst/>
              </a:prstGeom>
              <a:noFill/>
            </p:spPr>
            <p:txBody>
              <a:bodyPr wrap="none">
                <a:spAutoFit/>
              </a:bodyPr>
              <a:lstStyle/>
              <a:p>
                <a:pPr>
                  <a:spcBef>
                    <a:spcPts val="600"/>
                  </a:spcBef>
                </a:pPr>
                <a:r>
                  <a:rPr lang="en-US" sz="2200" b="1" dirty="0">
                    <a:solidFill>
                      <a:srgbClr val="1E2C55"/>
                    </a:solidFill>
                    <a:latin typeface="Montserrat SemiBold" pitchFamily="2" charset="0"/>
                  </a:rPr>
                  <a:t>Call / WhatsApp</a:t>
                </a:r>
              </a:p>
              <a:p>
                <a:r>
                  <a:rPr lang="en-US" sz="2000" dirty="0">
                    <a:solidFill>
                      <a:srgbClr val="1E2C55"/>
                    </a:solidFill>
                    <a:latin typeface="Aptos" panose="020B0004020202020204" pitchFamily="34" charset="0"/>
                  </a:rPr>
                  <a:t>084 591 1829</a:t>
                </a:r>
              </a:p>
            </p:txBody>
          </p:sp>
          <p:pic>
            <p:nvPicPr>
              <p:cNvPr id="223" name="Graphic 222" descr="Speaker phone with solid fill">
                <a:extLst>
                  <a:ext uri="{FF2B5EF4-FFF2-40B4-BE49-F238E27FC236}">
                    <a16:creationId xmlns:a16="http://schemas.microsoft.com/office/drawing/2014/main" id="{DFBF1279-34C3-8D19-35C9-116A96C3BDF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7828" y="3410233"/>
                <a:ext cx="728504" cy="728504"/>
              </a:xfrm>
              <a:prstGeom prst="rect">
                <a:avLst/>
              </a:prstGeom>
            </p:spPr>
          </p:pic>
        </p:grpSp>
        <p:grpSp>
          <p:nvGrpSpPr>
            <p:cNvPr id="286" name="Group 285">
              <a:extLst>
                <a:ext uri="{FF2B5EF4-FFF2-40B4-BE49-F238E27FC236}">
                  <a16:creationId xmlns:a16="http://schemas.microsoft.com/office/drawing/2014/main" id="{CD4F9876-73DF-C8A2-4540-E5F748AABD89}"/>
                </a:ext>
              </a:extLst>
            </p:cNvPr>
            <p:cNvGrpSpPr/>
            <p:nvPr/>
          </p:nvGrpSpPr>
          <p:grpSpPr>
            <a:xfrm>
              <a:off x="1470736" y="5768643"/>
              <a:ext cx="8377240" cy="860468"/>
              <a:chOff x="1470736" y="5862454"/>
              <a:chExt cx="8377240" cy="860468"/>
            </a:xfrm>
          </p:grpSpPr>
          <p:sp>
            <p:nvSpPr>
              <p:cNvPr id="249" name="Rounded Rectangle 52">
                <a:extLst>
                  <a:ext uri="{FF2B5EF4-FFF2-40B4-BE49-F238E27FC236}">
                    <a16:creationId xmlns:a16="http://schemas.microsoft.com/office/drawing/2014/main" id="{97FECD2E-96A3-F3C6-D588-9F398343D59D}"/>
                  </a:ext>
                </a:extLst>
              </p:cNvPr>
              <p:cNvSpPr/>
              <p:nvPr/>
            </p:nvSpPr>
            <p:spPr>
              <a:xfrm>
                <a:off x="1470736" y="5862454"/>
                <a:ext cx="8377240" cy="860468"/>
              </a:xfrm>
              <a:prstGeom prst="roundRect">
                <a:avLst/>
              </a:prstGeom>
              <a:solidFill>
                <a:srgbClr val="FDF8F2"/>
              </a:solidFill>
              <a:ln w="28575">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lang="en-US" sz="2000" b="1" dirty="0">
                  <a:solidFill>
                    <a:srgbClr val="1E2C55"/>
                  </a:solidFill>
                  <a:latin typeface="Aptos" panose="020B000402020202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ZA" sz="2000" b="0" i="0" u="none" strike="noStrike" kern="1200" cap="none" spc="0" normalizeH="0" baseline="0" noProof="0" dirty="0">
                  <a:ln>
                    <a:noFill/>
                  </a:ln>
                  <a:solidFill>
                    <a:srgbClr val="1E2C55"/>
                  </a:solidFill>
                  <a:effectLst/>
                  <a:uLnTx/>
                  <a:uFillTx/>
                  <a:latin typeface="Aptos" panose="020B0004020202020204" pitchFamily="34" charset="0"/>
                  <a:ea typeface="+mn-ea"/>
                  <a:cs typeface="+mn-cs"/>
                </a:endParaRPr>
              </a:p>
            </p:txBody>
          </p:sp>
          <p:grpSp>
            <p:nvGrpSpPr>
              <p:cNvPr id="196" name="Group 195">
                <a:extLst>
                  <a:ext uri="{FF2B5EF4-FFF2-40B4-BE49-F238E27FC236}">
                    <a16:creationId xmlns:a16="http://schemas.microsoft.com/office/drawing/2014/main" id="{620AA2D2-6AE9-E6EB-D476-D74066BDA27B}"/>
                  </a:ext>
                </a:extLst>
              </p:cNvPr>
              <p:cNvGrpSpPr/>
              <p:nvPr/>
            </p:nvGrpSpPr>
            <p:grpSpPr>
              <a:xfrm>
                <a:off x="1849651" y="5971046"/>
                <a:ext cx="2423449" cy="654320"/>
                <a:chOff x="2100497" y="5871904"/>
                <a:chExt cx="2480283" cy="669665"/>
              </a:xfrm>
            </p:grpSpPr>
            <p:grpSp>
              <p:nvGrpSpPr>
                <p:cNvPr id="183" name="Group 182">
                  <a:extLst>
                    <a:ext uri="{FF2B5EF4-FFF2-40B4-BE49-F238E27FC236}">
                      <a16:creationId xmlns:a16="http://schemas.microsoft.com/office/drawing/2014/main" id="{4D06458D-4859-D8F7-CFFF-21A9D9C98981}"/>
                    </a:ext>
                  </a:extLst>
                </p:cNvPr>
                <p:cNvGrpSpPr/>
                <p:nvPr/>
              </p:nvGrpSpPr>
              <p:grpSpPr>
                <a:xfrm>
                  <a:off x="2100497" y="5871904"/>
                  <a:ext cx="658368" cy="658368"/>
                  <a:chOff x="2100497" y="5871904"/>
                  <a:chExt cx="658368" cy="658368"/>
                </a:xfrm>
              </p:grpSpPr>
              <p:sp>
                <p:nvSpPr>
                  <p:cNvPr id="59" name="Oval 58">
                    <a:extLst>
                      <a:ext uri="{FF2B5EF4-FFF2-40B4-BE49-F238E27FC236}">
                        <a16:creationId xmlns:a16="http://schemas.microsoft.com/office/drawing/2014/main" id="{ECB2237A-A0B7-BD7D-6160-4256793074BB}"/>
                      </a:ext>
                    </a:extLst>
                  </p:cNvPr>
                  <p:cNvSpPr/>
                  <p:nvPr/>
                </p:nvSpPr>
                <p:spPr>
                  <a:xfrm>
                    <a:off x="2100497" y="5871904"/>
                    <a:ext cx="658368" cy="658368"/>
                  </a:xfrm>
                  <a:prstGeom prst="ellipse">
                    <a:avLst/>
                  </a:prstGeom>
                  <a:noFill/>
                  <a:ln w="25400">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nvGrpSpPr>
                  <p:cNvPr id="182" name="Group 181">
                    <a:extLst>
                      <a:ext uri="{FF2B5EF4-FFF2-40B4-BE49-F238E27FC236}">
                        <a16:creationId xmlns:a16="http://schemas.microsoft.com/office/drawing/2014/main" id="{CD02D16D-1372-07E6-5DE1-A8E7579EED99}"/>
                      </a:ext>
                    </a:extLst>
                  </p:cNvPr>
                  <p:cNvGrpSpPr/>
                  <p:nvPr/>
                </p:nvGrpSpPr>
                <p:grpSpPr>
                  <a:xfrm>
                    <a:off x="2246801" y="6018208"/>
                    <a:ext cx="365760" cy="365760"/>
                    <a:chOff x="2246801" y="5981631"/>
                    <a:chExt cx="365760" cy="365760"/>
                  </a:xfrm>
                </p:grpSpPr>
                <p:sp>
                  <p:nvSpPr>
                    <p:cNvPr id="60" name="Rounded Rectangle 15">
                      <a:extLst>
                        <a:ext uri="{FF2B5EF4-FFF2-40B4-BE49-F238E27FC236}">
                          <a16:creationId xmlns:a16="http://schemas.microsoft.com/office/drawing/2014/main" id="{C0FECC9E-FD83-656D-3F24-5EAC8E01F033}"/>
                        </a:ext>
                      </a:extLst>
                    </p:cNvPr>
                    <p:cNvSpPr/>
                    <p:nvPr/>
                  </p:nvSpPr>
                  <p:spPr>
                    <a:xfrm>
                      <a:off x="2246801" y="5981631"/>
                      <a:ext cx="365760" cy="365760"/>
                    </a:xfrm>
                    <a:prstGeom prst="roundRect">
                      <a:avLst/>
                    </a:prstGeom>
                    <a:noFill/>
                    <a:ln w="22860">
                      <a:solidFill>
                        <a:srgbClr val="1E2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2" name="Oval 61">
                      <a:extLst>
                        <a:ext uri="{FF2B5EF4-FFF2-40B4-BE49-F238E27FC236}">
                          <a16:creationId xmlns:a16="http://schemas.microsoft.com/office/drawing/2014/main" id="{62761A2A-133E-F358-C942-EFE1E3A6FB65}"/>
                        </a:ext>
                      </a:extLst>
                    </p:cNvPr>
                    <p:cNvSpPr/>
                    <p:nvPr/>
                  </p:nvSpPr>
                  <p:spPr>
                    <a:xfrm>
                      <a:off x="2521121" y="6027352"/>
                      <a:ext cx="41148" cy="41148"/>
                    </a:xfrm>
                    <a:prstGeom prst="ellipse">
                      <a:avLst/>
                    </a:prstGeom>
                    <a:solidFill>
                      <a:srgbClr val="1E2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1" name="Oval 60">
                      <a:extLst>
                        <a:ext uri="{FF2B5EF4-FFF2-40B4-BE49-F238E27FC236}">
                          <a16:creationId xmlns:a16="http://schemas.microsoft.com/office/drawing/2014/main" id="{86F5EA0E-600A-1E2B-498B-786C78E17C86}"/>
                        </a:ext>
                      </a:extLst>
                    </p:cNvPr>
                    <p:cNvSpPr/>
                    <p:nvPr/>
                  </p:nvSpPr>
                  <p:spPr>
                    <a:xfrm>
                      <a:off x="2347384" y="6082216"/>
                      <a:ext cx="164592" cy="164592"/>
                    </a:xfrm>
                    <a:prstGeom prst="ellipse">
                      <a:avLst/>
                    </a:prstGeom>
                    <a:noFill/>
                    <a:ln w="19050">
                      <a:solidFill>
                        <a:srgbClr val="1E2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grpSp>
            <p:sp>
              <p:nvSpPr>
                <p:cNvPr id="63" name="TextBox 62">
                  <a:extLst>
                    <a:ext uri="{FF2B5EF4-FFF2-40B4-BE49-F238E27FC236}">
                      <a16:creationId xmlns:a16="http://schemas.microsoft.com/office/drawing/2014/main" id="{84ABC56B-06CE-904A-E16C-E239CC569A46}"/>
                    </a:ext>
                  </a:extLst>
                </p:cNvPr>
                <p:cNvSpPr txBox="1"/>
                <p:nvPr/>
              </p:nvSpPr>
              <p:spPr>
                <a:xfrm>
                  <a:off x="2858942" y="5911580"/>
                  <a:ext cx="1721838" cy="629989"/>
                </a:xfrm>
                <a:prstGeom prst="rect">
                  <a:avLst/>
                </a:prstGeom>
                <a:noFill/>
              </p:spPr>
              <p:txBody>
                <a:bodyPr wrap="none">
                  <a:spAutoFit/>
                </a:bodyPr>
                <a:lstStyle/>
                <a:p>
                  <a:pPr algn="l"/>
                  <a:r>
                    <a:rPr b="1" dirty="0">
                      <a:solidFill>
                        <a:srgbClr val="1E2C55"/>
                      </a:solidFill>
                      <a:latin typeface="Montserrat SemiBold" pitchFamily="2" charset="0"/>
                    </a:rPr>
                    <a:t>Instagram</a:t>
                  </a:r>
                  <a:endParaRPr lang="en-US" b="1" dirty="0">
                    <a:solidFill>
                      <a:srgbClr val="1E2C55"/>
                    </a:solidFill>
                    <a:latin typeface="Montserrat SemiBold" pitchFamily="2" charset="0"/>
                  </a:endParaRPr>
                </a:p>
                <a:p>
                  <a:r>
                    <a:rPr lang="en-ZA" sz="1600" b="1" dirty="0">
                      <a:solidFill>
                        <a:srgbClr val="1E2C55"/>
                      </a:solidFill>
                      <a:latin typeface="Aptos" panose="020B0004020202020204" pitchFamily="34" charset="0"/>
                    </a:rPr>
                    <a:t>@we_search_sa</a:t>
                  </a:r>
                </a:p>
              </p:txBody>
            </p:sp>
          </p:grpSp>
          <p:grpSp>
            <p:nvGrpSpPr>
              <p:cNvPr id="253" name="Group 252">
                <a:extLst>
                  <a:ext uri="{FF2B5EF4-FFF2-40B4-BE49-F238E27FC236}">
                    <a16:creationId xmlns:a16="http://schemas.microsoft.com/office/drawing/2014/main" id="{B03165A9-42B3-CD16-DE2D-8475FE839605}"/>
                  </a:ext>
                </a:extLst>
              </p:cNvPr>
              <p:cNvGrpSpPr/>
              <p:nvPr/>
            </p:nvGrpSpPr>
            <p:grpSpPr>
              <a:xfrm>
                <a:off x="7690636" y="5971047"/>
                <a:ext cx="2037793" cy="643282"/>
                <a:chOff x="7690636" y="5913788"/>
                <a:chExt cx="2037793" cy="643282"/>
              </a:xfrm>
            </p:grpSpPr>
            <p:grpSp>
              <p:nvGrpSpPr>
                <p:cNvPr id="109" name="Group 108">
                  <a:extLst>
                    <a:ext uri="{FF2B5EF4-FFF2-40B4-BE49-F238E27FC236}">
                      <a16:creationId xmlns:a16="http://schemas.microsoft.com/office/drawing/2014/main" id="{A36B411A-691B-7767-22C5-49DEDF852197}"/>
                    </a:ext>
                  </a:extLst>
                </p:cNvPr>
                <p:cNvGrpSpPr/>
                <p:nvPr/>
              </p:nvGrpSpPr>
              <p:grpSpPr>
                <a:xfrm>
                  <a:off x="7690636" y="5913788"/>
                  <a:ext cx="643282" cy="643282"/>
                  <a:chOff x="7452360" y="4733747"/>
                  <a:chExt cx="658368" cy="658368"/>
                </a:xfrm>
              </p:grpSpPr>
              <p:sp>
                <p:nvSpPr>
                  <p:cNvPr id="110" name="Oval 109">
                    <a:extLst>
                      <a:ext uri="{FF2B5EF4-FFF2-40B4-BE49-F238E27FC236}">
                        <a16:creationId xmlns:a16="http://schemas.microsoft.com/office/drawing/2014/main" id="{BF0E8C15-3728-FC10-8FEF-845E9A7D62D7}"/>
                      </a:ext>
                    </a:extLst>
                  </p:cNvPr>
                  <p:cNvSpPr/>
                  <p:nvPr/>
                </p:nvSpPr>
                <p:spPr>
                  <a:xfrm>
                    <a:off x="7452360" y="4733747"/>
                    <a:ext cx="658368" cy="658368"/>
                  </a:xfrm>
                  <a:prstGeom prst="ellipse">
                    <a:avLst/>
                  </a:prstGeom>
                  <a:noFill/>
                  <a:ln w="25400">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1" name="TextBox 110">
                    <a:extLst>
                      <a:ext uri="{FF2B5EF4-FFF2-40B4-BE49-F238E27FC236}">
                        <a16:creationId xmlns:a16="http://schemas.microsoft.com/office/drawing/2014/main" id="{604492D3-E44E-A1C6-6A4C-080CEDF418D5}"/>
                      </a:ext>
                    </a:extLst>
                  </p:cNvPr>
                  <p:cNvSpPr txBox="1"/>
                  <p:nvPr/>
                </p:nvSpPr>
                <p:spPr>
                  <a:xfrm>
                    <a:off x="7689177" y="4806899"/>
                    <a:ext cx="184731" cy="538609"/>
                  </a:xfrm>
                  <a:prstGeom prst="rect">
                    <a:avLst/>
                  </a:prstGeom>
                  <a:noFill/>
                </p:spPr>
                <p:txBody>
                  <a:bodyPr wrap="none">
                    <a:spAutoFit/>
                  </a:bodyPr>
                  <a:lstStyle/>
                  <a:p>
                    <a:pPr algn="ctr"/>
                    <a:endParaRPr sz="2900" b="1" dirty="0">
                      <a:solidFill>
                        <a:srgbClr val="1E2C55"/>
                      </a:solidFill>
                      <a:latin typeface="Arial"/>
                    </a:endParaRPr>
                  </a:p>
                </p:txBody>
              </p:sp>
            </p:grpSp>
            <p:sp>
              <p:nvSpPr>
                <p:cNvPr id="112" name="TextBox 111">
                  <a:extLst>
                    <a:ext uri="{FF2B5EF4-FFF2-40B4-BE49-F238E27FC236}">
                      <a16:creationId xmlns:a16="http://schemas.microsoft.com/office/drawing/2014/main" id="{0EDDE5F9-1F55-5A06-1C23-5DF7114774BB}"/>
                    </a:ext>
                  </a:extLst>
                </p:cNvPr>
                <p:cNvSpPr txBox="1"/>
                <p:nvPr/>
              </p:nvSpPr>
              <p:spPr>
                <a:xfrm>
                  <a:off x="8464135" y="5949742"/>
                  <a:ext cx="1264294" cy="601448"/>
                </a:xfrm>
                <a:prstGeom prst="rect">
                  <a:avLst/>
                </a:prstGeom>
                <a:noFill/>
              </p:spPr>
              <p:txBody>
                <a:bodyPr wrap="none">
                  <a:spAutoFit/>
                </a:bodyPr>
                <a:lstStyle/>
                <a:p>
                  <a:r>
                    <a:rPr lang="en-US" b="1" dirty="0">
                      <a:solidFill>
                        <a:srgbClr val="1E2C55"/>
                      </a:solidFill>
                      <a:latin typeface="Montserrat SemiBold" pitchFamily="2" charset="0"/>
                    </a:rPr>
                    <a:t>LinkedIn</a:t>
                  </a:r>
                </a:p>
                <a:p>
                  <a:r>
                    <a:rPr lang="en-ZA" sz="1600" b="1" dirty="0">
                      <a:solidFill>
                        <a:srgbClr val="1E2C55"/>
                      </a:solidFill>
                      <a:latin typeface="Aptos" panose="020B0004020202020204" pitchFamily="34" charset="0"/>
                    </a:rPr>
                    <a:t>Jodi Benson</a:t>
                  </a:r>
                </a:p>
              </p:txBody>
            </p:sp>
            <p:sp>
              <p:nvSpPr>
                <p:cNvPr id="121" name="TextBox 120">
                  <a:extLst>
                    <a:ext uri="{FF2B5EF4-FFF2-40B4-BE49-F238E27FC236}">
                      <a16:creationId xmlns:a16="http://schemas.microsoft.com/office/drawing/2014/main" id="{C31DE9F7-97B6-D32B-C34A-797A74F67FCC}"/>
                    </a:ext>
                  </a:extLst>
                </p:cNvPr>
                <p:cNvSpPr txBox="1"/>
                <p:nvPr/>
              </p:nvSpPr>
              <p:spPr>
                <a:xfrm>
                  <a:off x="7701804" y="6017404"/>
                  <a:ext cx="620947" cy="436050"/>
                </a:xfrm>
                <a:prstGeom prst="rect">
                  <a:avLst/>
                </a:prstGeom>
                <a:noFill/>
              </p:spPr>
              <p:txBody>
                <a:bodyPr wrap="square" lIns="0" tIns="0" rIns="0" bIns="0">
                  <a:spAutoFit/>
                </a:bodyPr>
                <a:lstStyle/>
                <a:p>
                  <a:pPr algn="ctr"/>
                  <a:r>
                    <a:rPr sz="2900" b="1" dirty="0">
                      <a:solidFill>
                        <a:srgbClr val="1E2C55"/>
                      </a:solidFill>
                      <a:latin typeface="Arial"/>
                    </a:rPr>
                    <a:t>in</a:t>
                  </a:r>
                </a:p>
              </p:txBody>
            </p:sp>
          </p:grpSp>
          <p:grpSp>
            <p:nvGrpSpPr>
              <p:cNvPr id="252" name="Group 251">
                <a:extLst>
                  <a:ext uri="{FF2B5EF4-FFF2-40B4-BE49-F238E27FC236}">
                    <a16:creationId xmlns:a16="http://schemas.microsoft.com/office/drawing/2014/main" id="{360D9E71-2D65-D9BF-46C8-DCCD3BA3E07F}"/>
                  </a:ext>
                </a:extLst>
              </p:cNvPr>
              <p:cNvGrpSpPr/>
              <p:nvPr/>
            </p:nvGrpSpPr>
            <p:grpSpPr>
              <a:xfrm>
                <a:off x="4976143" y="5971047"/>
                <a:ext cx="2076977" cy="643282"/>
                <a:chOff x="5404079" y="5913793"/>
                <a:chExt cx="2076977" cy="643282"/>
              </a:xfrm>
            </p:grpSpPr>
            <p:sp>
              <p:nvSpPr>
                <p:cNvPr id="68" name="TextBox 67">
                  <a:extLst>
                    <a:ext uri="{FF2B5EF4-FFF2-40B4-BE49-F238E27FC236}">
                      <a16:creationId xmlns:a16="http://schemas.microsoft.com/office/drawing/2014/main" id="{A4E1EC44-9175-C08B-3034-838AD394EC8E}"/>
                    </a:ext>
                  </a:extLst>
                </p:cNvPr>
                <p:cNvSpPr txBox="1"/>
                <p:nvPr/>
              </p:nvSpPr>
              <p:spPr>
                <a:xfrm>
                  <a:off x="6163509" y="5949740"/>
                  <a:ext cx="1317547" cy="601448"/>
                </a:xfrm>
                <a:prstGeom prst="rect">
                  <a:avLst/>
                </a:prstGeom>
                <a:noFill/>
              </p:spPr>
              <p:txBody>
                <a:bodyPr wrap="none">
                  <a:spAutoFit/>
                </a:bodyPr>
                <a:lstStyle/>
                <a:p>
                  <a:r>
                    <a:rPr b="1" dirty="0">
                      <a:solidFill>
                        <a:srgbClr val="1E2C55"/>
                      </a:solidFill>
                      <a:latin typeface="Montserrat SemiBold" pitchFamily="2" charset="0"/>
                    </a:rPr>
                    <a:t>Facebook</a:t>
                  </a:r>
                  <a:endParaRPr lang="en-US" b="1" dirty="0">
                    <a:solidFill>
                      <a:srgbClr val="1E2C55"/>
                    </a:solidFill>
                    <a:latin typeface="Montserrat SemiBold" pitchFamily="2" charset="0"/>
                  </a:endParaRPr>
                </a:p>
                <a:p>
                  <a:r>
                    <a:rPr lang="en-ZA" sz="1600" b="1" dirty="0">
                      <a:solidFill>
                        <a:srgbClr val="1E2C55"/>
                      </a:solidFill>
                      <a:latin typeface="Aptos" panose="020B0004020202020204" pitchFamily="34" charset="0"/>
                    </a:rPr>
                    <a:t>@WeSearch</a:t>
                  </a:r>
                </a:p>
              </p:txBody>
            </p:sp>
            <p:grpSp>
              <p:nvGrpSpPr>
                <p:cNvPr id="199" name="Group 198">
                  <a:extLst>
                    <a:ext uri="{FF2B5EF4-FFF2-40B4-BE49-F238E27FC236}">
                      <a16:creationId xmlns:a16="http://schemas.microsoft.com/office/drawing/2014/main" id="{D7A8A16B-190C-B728-C48E-756C17906450}"/>
                    </a:ext>
                  </a:extLst>
                </p:cNvPr>
                <p:cNvGrpSpPr/>
                <p:nvPr/>
              </p:nvGrpSpPr>
              <p:grpSpPr>
                <a:xfrm>
                  <a:off x="5404079" y="5913793"/>
                  <a:ext cx="643282" cy="643282"/>
                  <a:chOff x="5279559" y="5835811"/>
                  <a:chExt cx="658368" cy="658368"/>
                </a:xfrm>
              </p:grpSpPr>
              <p:grpSp>
                <p:nvGrpSpPr>
                  <p:cNvPr id="108" name="Group 107">
                    <a:extLst>
                      <a:ext uri="{FF2B5EF4-FFF2-40B4-BE49-F238E27FC236}">
                        <a16:creationId xmlns:a16="http://schemas.microsoft.com/office/drawing/2014/main" id="{BA875769-74C1-1924-1DBB-6B92FC4B16F9}"/>
                      </a:ext>
                    </a:extLst>
                  </p:cNvPr>
                  <p:cNvGrpSpPr/>
                  <p:nvPr/>
                </p:nvGrpSpPr>
                <p:grpSpPr>
                  <a:xfrm>
                    <a:off x="5279559" y="5835811"/>
                    <a:ext cx="658368" cy="658368"/>
                    <a:chOff x="7452360" y="4733747"/>
                    <a:chExt cx="658368" cy="658368"/>
                  </a:xfrm>
                </p:grpSpPr>
                <p:sp>
                  <p:nvSpPr>
                    <p:cNvPr id="66" name="Oval 65">
                      <a:extLst>
                        <a:ext uri="{FF2B5EF4-FFF2-40B4-BE49-F238E27FC236}">
                          <a16:creationId xmlns:a16="http://schemas.microsoft.com/office/drawing/2014/main" id="{C9239AE7-EC0F-CBEF-A54C-803CEF776DA5}"/>
                        </a:ext>
                      </a:extLst>
                    </p:cNvPr>
                    <p:cNvSpPr/>
                    <p:nvPr/>
                  </p:nvSpPr>
                  <p:spPr>
                    <a:xfrm>
                      <a:off x="7452360" y="4733747"/>
                      <a:ext cx="658368" cy="658368"/>
                    </a:xfrm>
                    <a:prstGeom prst="ellipse">
                      <a:avLst/>
                    </a:prstGeom>
                    <a:noFill/>
                    <a:ln w="25400">
                      <a:solidFill>
                        <a:srgbClr val="E1C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7" name="TextBox 66">
                      <a:extLst>
                        <a:ext uri="{FF2B5EF4-FFF2-40B4-BE49-F238E27FC236}">
                          <a16:creationId xmlns:a16="http://schemas.microsoft.com/office/drawing/2014/main" id="{7A7D58B8-E7F9-3282-25B9-F360A7163110}"/>
                        </a:ext>
                      </a:extLst>
                    </p:cNvPr>
                    <p:cNvSpPr txBox="1"/>
                    <p:nvPr/>
                  </p:nvSpPr>
                  <p:spPr>
                    <a:xfrm>
                      <a:off x="7641009" y="4760366"/>
                      <a:ext cx="184731" cy="538609"/>
                    </a:xfrm>
                    <a:prstGeom prst="rect">
                      <a:avLst/>
                    </a:prstGeom>
                    <a:noFill/>
                  </p:spPr>
                  <p:txBody>
                    <a:bodyPr wrap="none">
                      <a:spAutoFit/>
                    </a:bodyPr>
                    <a:lstStyle/>
                    <a:p>
                      <a:pPr algn="ctr"/>
                      <a:endParaRPr sz="2900" b="1" dirty="0">
                        <a:solidFill>
                          <a:srgbClr val="1E2C55"/>
                        </a:solidFill>
                        <a:latin typeface="Arial"/>
                      </a:endParaRPr>
                    </a:p>
                  </p:txBody>
                </p:sp>
              </p:grpSp>
              <p:sp>
                <p:nvSpPr>
                  <p:cNvPr id="191" name="TextBox 190">
                    <a:extLst>
                      <a:ext uri="{FF2B5EF4-FFF2-40B4-BE49-F238E27FC236}">
                        <a16:creationId xmlns:a16="http://schemas.microsoft.com/office/drawing/2014/main" id="{99BA0416-ACA1-1684-3352-DB9571AF9A04}"/>
                      </a:ext>
                    </a:extLst>
                  </p:cNvPr>
                  <p:cNvSpPr txBox="1"/>
                  <p:nvPr/>
                </p:nvSpPr>
                <p:spPr>
                  <a:xfrm>
                    <a:off x="5446578" y="5895691"/>
                    <a:ext cx="324330" cy="538609"/>
                  </a:xfrm>
                  <a:prstGeom prst="rect">
                    <a:avLst/>
                  </a:prstGeom>
                  <a:noFill/>
                </p:spPr>
                <p:txBody>
                  <a:bodyPr wrap="square">
                    <a:spAutoFit/>
                  </a:bodyPr>
                  <a:lstStyle/>
                  <a:p>
                    <a:pPr algn="ctr"/>
                    <a:r>
                      <a:rPr lang="en-ZA" sz="2900" b="1" dirty="0">
                        <a:solidFill>
                          <a:srgbClr val="1E2C55"/>
                        </a:solidFill>
                        <a:latin typeface="Arial"/>
                      </a:rPr>
                      <a:t>f</a:t>
                    </a:r>
                  </a:p>
                </p:txBody>
              </p:sp>
            </p:grpSp>
          </p:grpSp>
        </p:grpSp>
        <p:grpSp>
          <p:nvGrpSpPr>
            <p:cNvPr id="6" name="Group 5">
              <a:extLst>
                <a:ext uri="{FF2B5EF4-FFF2-40B4-BE49-F238E27FC236}">
                  <a16:creationId xmlns:a16="http://schemas.microsoft.com/office/drawing/2014/main" id="{1099C589-1242-1FFC-D7CD-1D451E84B9D5}"/>
                </a:ext>
              </a:extLst>
            </p:cNvPr>
            <p:cNvGrpSpPr/>
            <p:nvPr/>
          </p:nvGrpSpPr>
          <p:grpSpPr>
            <a:xfrm>
              <a:off x="367828" y="4421681"/>
              <a:ext cx="6445658" cy="1123384"/>
              <a:chOff x="427180" y="4421681"/>
              <a:chExt cx="6445658" cy="1123384"/>
            </a:xfrm>
          </p:grpSpPr>
          <p:sp>
            <p:nvSpPr>
              <p:cNvPr id="246" name="TextBox 245">
                <a:extLst>
                  <a:ext uri="{FF2B5EF4-FFF2-40B4-BE49-F238E27FC236}">
                    <a16:creationId xmlns:a16="http://schemas.microsoft.com/office/drawing/2014/main" id="{8449CFB9-1D98-4C74-CFA0-B74C61123AAD}"/>
                  </a:ext>
                </a:extLst>
              </p:cNvPr>
              <p:cNvSpPr txBox="1"/>
              <p:nvPr/>
            </p:nvSpPr>
            <p:spPr>
              <a:xfrm>
                <a:off x="1390696" y="4421681"/>
                <a:ext cx="5482142" cy="1123384"/>
              </a:xfrm>
              <a:prstGeom prst="rect">
                <a:avLst/>
              </a:prstGeom>
              <a:noFill/>
            </p:spPr>
            <p:txBody>
              <a:bodyPr wrap="none">
                <a:spAutoFit/>
              </a:bodyPr>
              <a:lstStyle/>
              <a:p>
                <a:pPr>
                  <a:spcBef>
                    <a:spcPts val="600"/>
                  </a:spcBef>
                  <a:defRPr/>
                </a:pPr>
                <a:r>
                  <a:rPr lang="en-US" sz="2200" b="1" dirty="0">
                    <a:solidFill>
                      <a:srgbClr val="1E2C55"/>
                    </a:solidFill>
                    <a:latin typeface="Montserrat SemiBold" pitchFamily="2" charset="0"/>
                  </a:rPr>
                  <a:t>Let’s Get Started</a:t>
                </a:r>
              </a:p>
              <a:p>
                <a:pPr lvl="0">
                  <a:spcBef>
                    <a:spcPts val="600"/>
                  </a:spcBef>
                  <a:defRPr/>
                </a:pPr>
                <a:r>
                  <a:rPr lang="en-ZA" sz="2000" dirty="0">
                    <a:solidFill>
                      <a:srgbClr val="1E2C55"/>
                    </a:solidFill>
                    <a:latin typeface="Aptos" panose="020B0004020202020204" pitchFamily="34" charset="0"/>
                  </a:rPr>
                  <a:t>Ready to get started? Tell us what you're looking </a:t>
                </a:r>
              </a:p>
              <a:p>
                <a:pPr lvl="0">
                  <a:defRPr/>
                </a:pPr>
                <a:r>
                  <a:rPr lang="en-ZA" sz="2000" dirty="0">
                    <a:solidFill>
                      <a:srgbClr val="1E2C55"/>
                    </a:solidFill>
                    <a:latin typeface="Aptos" panose="020B0004020202020204" pitchFamily="34" charset="0"/>
                  </a:rPr>
                  <a:t>for and how we can help</a:t>
                </a:r>
              </a:p>
            </p:txBody>
          </p:sp>
          <p:pic>
            <p:nvPicPr>
              <p:cNvPr id="7" name="Graphic 6" descr="Play with solid fill">
                <a:extLst>
                  <a:ext uri="{FF2B5EF4-FFF2-40B4-BE49-F238E27FC236}">
                    <a16:creationId xmlns:a16="http://schemas.microsoft.com/office/drawing/2014/main" id="{E5EA58D1-3F54-C286-C500-A3890FB522F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27180" y="4548219"/>
                <a:ext cx="793365" cy="793365"/>
              </a:xfrm>
              <a:prstGeom prst="rect">
                <a:avLst/>
              </a:prstGeom>
            </p:spPr>
          </p:pic>
        </p:grpSp>
      </p:grpSp>
    </p:spTree>
    <p:extLst>
      <p:ext uri="{BB962C8B-B14F-4D97-AF65-F5344CB8AC3E}">
        <p14:creationId xmlns:p14="http://schemas.microsoft.com/office/powerpoint/2010/main" val="5620540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5865B1A04A8DB42A2C43D86C20EF6BD" ma:contentTypeVersion="1" ma:contentTypeDescription="Create a new document." ma:contentTypeScope="" ma:versionID="d58d131f757285e12e5e4cdebaa15eda">
  <xsd:schema xmlns:xsd="http://www.w3.org/2001/XMLSchema" xmlns:xs="http://www.w3.org/2001/XMLSchema" xmlns:p="http://schemas.microsoft.com/office/2006/metadata/properties" xmlns:ns3="0a9867d1-edf9-4faa-bdd0-a7897331c984" targetNamespace="http://schemas.microsoft.com/office/2006/metadata/properties" ma:root="true" ma:fieldsID="8fc25ff94bea8ff0e9c0c9eb14bfca55" ns3:_="">
    <xsd:import namespace="0a9867d1-edf9-4faa-bdd0-a7897331c984"/>
    <xsd:element name="properties">
      <xsd:complexType>
        <xsd:sequence>
          <xsd:element name="documentManagement">
            <xsd:complexType>
              <xsd:all>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9867d1-edf9-4faa-bdd0-a7897331c98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876D0F6-4D8D-4214-8D4A-30E78631A1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9867d1-edf9-4faa-bdd0-a7897331c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8CA3491-2410-4D13-B3EF-0C89E11F9E45}">
  <ds:schemaRefs>
    <ds:schemaRef ds:uri="http://schemas.microsoft.com/sharepoint/v3/contenttype/forms"/>
  </ds:schemaRefs>
</ds:datastoreItem>
</file>

<file path=customXml/itemProps3.xml><?xml version="1.0" encoding="utf-8"?>
<ds:datastoreItem xmlns:ds="http://schemas.openxmlformats.org/officeDocument/2006/customXml" ds:itemID="{498FC69C-6FDD-43CB-968F-E5E506F71A2F}">
  <ds:schemaRefs>
    <ds:schemaRef ds:uri="http://schemas.microsoft.com/office/2006/documentManagement/types"/>
    <ds:schemaRef ds:uri="http://schemas.openxmlformats.org/package/2006/metadata/core-properties"/>
    <ds:schemaRef ds:uri="http://purl.org/dc/elements/1.1/"/>
    <ds:schemaRef ds:uri="http://purl.org/dc/terms/"/>
    <ds:schemaRef ds:uri="http://schemas.microsoft.com/office/infopath/2007/PartnerControls"/>
    <ds:schemaRef ds:uri="http://purl.org/dc/dcmitype/"/>
    <ds:schemaRef ds:uri="0a9867d1-edf9-4faa-bdd0-a7897331c984"/>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2245</TotalTime>
  <Words>979</Words>
  <Application>Microsoft Office PowerPoint</Application>
  <PresentationFormat>Widescreen</PresentationFormat>
  <Paragraphs>174</Paragraphs>
  <Slides>8</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Arial</vt:lpstr>
      <vt:lpstr>Calibri</vt:lpstr>
      <vt:lpstr>Montserrat</vt:lpstr>
      <vt:lpstr>Montserrat ExtraBold</vt:lpstr>
      <vt:lpstr>Montserrat SemiBold</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WeSearch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WeSearch Homepage Mockup</dc:title>
  <dc:subject>WeSearch homepage editable mockup</dc:subject>
  <dc:creator>OpenAI</dc:creator>
  <cp:lastModifiedBy>t58420</cp:lastModifiedBy>
  <cp:revision>80</cp:revision>
  <dcterms:created xsi:type="dcterms:W3CDTF">2026-09-17T12:03:43Z</dcterms:created>
  <dcterms:modified xsi:type="dcterms:W3CDTF">2026-09-25T14:53:08Z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0x010100D5865B1A04A8DB42A2C43D86C20EF6BD</vt:lpwstr>
  </property>
</Properties>
</file>